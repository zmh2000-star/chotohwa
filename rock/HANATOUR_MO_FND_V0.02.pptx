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2" r:id="rId1"/>
  </p:sldMasterIdLst>
  <p:notesMasterIdLst>
    <p:notesMasterId r:id="rId18"/>
  </p:notesMasterIdLst>
  <p:handoutMasterIdLst>
    <p:handoutMasterId r:id="rId19"/>
  </p:handoutMasterIdLst>
  <p:sldIdLst>
    <p:sldId id="518" r:id="rId2"/>
    <p:sldId id="989" r:id="rId3"/>
    <p:sldId id="990" r:id="rId4"/>
    <p:sldId id="991" r:id="rId5"/>
    <p:sldId id="992" r:id="rId6"/>
    <p:sldId id="987" r:id="rId7"/>
    <p:sldId id="985" r:id="rId8"/>
    <p:sldId id="986" r:id="rId9"/>
    <p:sldId id="994" r:id="rId10"/>
    <p:sldId id="995" r:id="rId11"/>
    <p:sldId id="988" r:id="rId12"/>
    <p:sldId id="982" r:id="rId13"/>
    <p:sldId id="996" r:id="rId14"/>
    <p:sldId id="997" r:id="rId15"/>
    <p:sldId id="984" r:id="rId16"/>
    <p:sldId id="998" r:id="rId17"/>
  </p:sldIdLst>
  <p:sldSz cx="12192000" cy="6858000"/>
  <p:notesSz cx="6858000" cy="9144000"/>
  <p:embeddedFontLst>
    <p:embeddedFont>
      <p:font typeface="나눔고딕" panose="020D0604000000000000" pitchFamily="50" charset="-127"/>
      <p:regular r:id="rId20"/>
      <p:bold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1E2EA39-61AA-499B-9F54-8F03A348514A}">
          <p14:sldIdLst>
            <p14:sldId id="518"/>
          </p14:sldIdLst>
        </p14:section>
        <p14:section name="FND 메인" id="{0B9685A8-65F3-46ED-A0EF-71DEF340E47D}">
          <p14:sldIdLst>
            <p14:sldId id="989"/>
          </p14:sldIdLst>
        </p14:section>
        <p14:section name="FND 검색" id="{13465F25-3CC4-4F04-B34F-1D12A07FCB19}">
          <p14:sldIdLst>
            <p14:sldId id="990"/>
            <p14:sldId id="991"/>
            <p14:sldId id="992"/>
          </p14:sldIdLst>
        </p14:section>
        <p14:section name="FND 목록(리스트)" id="{2120ED1C-3A3F-4747-A753-BD912B28DC87}">
          <p14:sldIdLst>
            <p14:sldId id="987"/>
          </p14:sldIdLst>
        </p14:section>
        <p14:section name="FND 상품상세 - 티켓타입(디폴트)" id="{84FABCD4-C001-4026-8DD0-B49331601F75}">
          <p14:sldIdLst>
            <p14:sldId id="985"/>
            <p14:sldId id="986"/>
            <p14:sldId id="994"/>
            <p14:sldId id="995"/>
            <p14:sldId id="988"/>
          </p14:sldIdLst>
        </p14:section>
        <p14:section name="FND 상품상세 - 투어타입" id="{31D5CD7F-F184-420E-AF6A-ECAB98035384}">
          <p14:sldIdLst>
            <p14:sldId id="982"/>
            <p14:sldId id="996"/>
            <p14:sldId id="997"/>
            <p14:sldId id="984"/>
            <p14:sldId id="9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orient="horz" pos="255" userDrawn="1">
          <p15:clr>
            <a:srgbClr val="A4A3A4"/>
          </p15:clr>
        </p15:guide>
        <p15:guide id="3" orient="horz" pos="4110" userDrawn="1">
          <p15:clr>
            <a:srgbClr val="A4A3A4"/>
          </p15:clr>
        </p15:guide>
        <p15:guide id="4" orient="horz" pos="890" userDrawn="1">
          <p15:clr>
            <a:srgbClr val="A4A3A4"/>
          </p15:clr>
        </p15:guide>
        <p15:guide id="5" orient="horz" pos="300" userDrawn="1">
          <p15:clr>
            <a:srgbClr val="A4A3A4"/>
          </p15:clr>
        </p15:guide>
        <p15:guide id="6" pos="1663" userDrawn="1">
          <p15:clr>
            <a:srgbClr val="A4A3A4"/>
          </p15:clr>
        </p15:guide>
        <p15:guide id="7" pos="302" userDrawn="1">
          <p15:clr>
            <a:srgbClr val="A4A3A4"/>
          </p15:clr>
        </p15:guide>
        <p15:guide id="9" pos="1118" userDrawn="1">
          <p15:clr>
            <a:srgbClr val="A4A3A4"/>
          </p15:clr>
        </p15:guide>
        <p15:guide id="10" pos="5459" userDrawn="1">
          <p15:clr>
            <a:srgbClr val="A4A3A4"/>
          </p15:clr>
        </p15:guide>
        <p15:guide id="11" pos="2615" userDrawn="1">
          <p15:clr>
            <a:srgbClr val="A4A3A4"/>
          </p15:clr>
        </p15:guide>
        <p15:guide id="12" pos="2661" userDrawn="1">
          <p15:clr>
            <a:srgbClr val="A4A3A4"/>
          </p15:clr>
        </p15:guide>
        <p15:guide id="13" pos="347" userDrawn="1">
          <p15:clr>
            <a:srgbClr val="A4A3A4"/>
          </p15:clr>
        </p15:guide>
        <p15:guide id="14" pos="2570" userDrawn="1">
          <p15:clr>
            <a:srgbClr val="A4A3A4"/>
          </p15:clr>
        </p15:guide>
        <p15:guide id="15" orient="horz" pos="2432" userDrawn="1">
          <p15:clr>
            <a:srgbClr val="A4A3A4"/>
          </p15:clr>
        </p15:guide>
        <p15:guide id="16" orient="horz" pos="2795" userDrawn="1">
          <p15:clr>
            <a:srgbClr val="A4A3A4"/>
          </p15:clr>
        </p15:guide>
        <p15:guide id="17" pos="393" userDrawn="1">
          <p15:clr>
            <a:srgbClr val="A4A3A4"/>
          </p15:clr>
        </p15:guide>
        <p15:guide id="18" orient="horz" pos="3974" userDrawn="1">
          <p15:clr>
            <a:srgbClr val="A4A3A4"/>
          </p15:clr>
        </p15:guide>
        <p15:guide id="19" orient="horz" pos="12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유선미" initials="유" lastIdx="1" clrIdx="0">
    <p:extLst>
      <p:ext uri="{19B8F6BF-5375-455C-9EA6-DF929625EA0E}">
        <p15:presenceInfo xmlns:p15="http://schemas.microsoft.com/office/powerpoint/2012/main" userId="유선미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7588"/>
    <a:srgbClr val="E4E8F4"/>
    <a:srgbClr val="FFEDF3"/>
    <a:srgbClr val="E85581"/>
    <a:srgbClr val="BF0562"/>
    <a:srgbClr val="C10563"/>
    <a:srgbClr val="C1196D"/>
    <a:srgbClr val="CC00CC"/>
    <a:srgbClr val="C0000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60"/>
  </p:normalViewPr>
  <p:slideViewPr>
    <p:cSldViewPr snapToObjects="1">
      <p:cViewPr varScale="1">
        <p:scale>
          <a:sx n="114" d="100"/>
          <a:sy n="114" d="100"/>
        </p:scale>
        <p:origin x="414" y="108"/>
      </p:cViewPr>
      <p:guideLst>
        <p:guide orient="horz" pos="2115"/>
        <p:guide orient="horz" pos="255"/>
        <p:guide orient="horz" pos="4110"/>
        <p:guide orient="horz" pos="890"/>
        <p:guide orient="horz" pos="300"/>
        <p:guide pos="1663"/>
        <p:guide pos="302"/>
        <p:guide pos="1118"/>
        <p:guide pos="5459"/>
        <p:guide pos="2615"/>
        <p:guide pos="2661"/>
        <p:guide pos="347"/>
        <p:guide pos="2570"/>
        <p:guide orient="horz" pos="2432"/>
        <p:guide orient="horz" pos="2795"/>
        <p:guide pos="393"/>
        <p:guide orient="horz" pos="3974"/>
        <p:guide orient="horz" pos="120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16002"/>
    </p:cViewPr>
  </p:sorterViewPr>
  <p:notesViewPr>
    <p:cSldViewPr snapToObjects="1">
      <p:cViewPr varScale="1">
        <p:scale>
          <a:sx n="87" d="100"/>
          <a:sy n="87" d="100"/>
        </p:scale>
        <p:origin x="3840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702F5-B09B-4559-9D66-B7D44DB04129}" type="datetimeFigureOut">
              <a:rPr lang="ko-KR" altLang="en-US" smtClean="0"/>
              <a:t>2019-09-24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6979B-05A1-4A5C-BC11-F44A87FF02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4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811255A-B6CA-400A-8EFE-CC1DE32ED305}" type="datetimeFigureOut">
              <a:rPr lang="ko-KR" altLang="en-US" smtClean="0"/>
              <a:pPr>
                <a:defRPr/>
              </a:pPr>
              <a:t>2019-09-24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B94F21A-69F6-4BBB-AB70-E9F7DC7FB2D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86337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1268763"/>
            <a:ext cx="11586505" cy="1897765"/>
          </a:xfrm>
          <a:prstGeom prst="rect">
            <a:avLst/>
          </a:prstGeom>
        </p:spPr>
      </p:pic>
      <p:pic>
        <p:nvPicPr>
          <p:cNvPr id="1026" name="그림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23" y="440671"/>
            <a:ext cx="2553676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64452" y="5949280"/>
            <a:ext cx="149542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311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4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2"/>
          <p:cNvCxnSpPr>
            <a:cxnSpLocks noChangeShapeType="1"/>
          </p:cNvCxnSpPr>
          <p:nvPr userDrawn="1"/>
        </p:nvCxnSpPr>
        <p:spPr bwMode="auto">
          <a:xfrm>
            <a:off x="0" y="476672"/>
            <a:ext cx="12193477" cy="0"/>
          </a:xfrm>
          <a:prstGeom prst="line">
            <a:avLst/>
          </a:prstGeom>
          <a:ln w="12700">
            <a:solidFill>
              <a:srgbClr val="B70050"/>
            </a:solidFill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19336" y="5085"/>
            <a:ext cx="11953328" cy="471587"/>
          </a:xfrm>
          <a:prstGeom prst="rect">
            <a:avLst/>
          </a:prstGeom>
        </p:spPr>
        <p:txBody>
          <a:bodyPr anchor="ctr"/>
          <a:lstStyle>
            <a:lvl1pPr algn="l">
              <a:defRPr sz="14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29380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433998"/>
            <a:ext cx="9480376" cy="6091347"/>
          </a:xfrm>
          <a:prstGeom prst="rect">
            <a:avLst/>
          </a:prstGeom>
          <a:noFill/>
          <a:ln w="19050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/>
          <a:lstStyle/>
          <a:p>
            <a:pPr marL="228600" indent="-228600" algn="ctr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kumimoji="0"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4540049" y="17940"/>
            <a:ext cx="673582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75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AREA</a:t>
            </a:r>
            <a:endParaRPr lang="ko-KR" altLang="en-US" sz="75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92748329"/>
              </p:ext>
            </p:extLst>
          </p:nvPr>
        </p:nvGraphicFramePr>
        <p:xfrm>
          <a:off x="8625" y="12963"/>
          <a:ext cx="12202769" cy="425452"/>
        </p:xfrm>
        <a:graphic>
          <a:graphicData uri="http://schemas.openxmlformats.org/drawingml/2006/table">
            <a:tbl>
              <a:tblPr/>
              <a:tblGrid>
                <a:gridCol w="1348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746">
                  <a:extLst>
                    <a:ext uri="{9D8B030D-6E8A-4147-A177-3AD203B41FA5}">
                      <a16:colId xmlns:a16="http://schemas.microsoft.com/office/drawing/2014/main" val="116818763"/>
                    </a:ext>
                  </a:extLst>
                </a:gridCol>
                <a:gridCol w="961623">
                  <a:extLst>
                    <a:ext uri="{9D8B030D-6E8A-4147-A177-3AD203B41FA5}">
                      <a16:colId xmlns:a16="http://schemas.microsoft.com/office/drawing/2014/main" val="1253900670"/>
                    </a:ext>
                  </a:extLst>
                </a:gridCol>
                <a:gridCol w="1297965">
                  <a:extLst>
                    <a:ext uri="{9D8B030D-6E8A-4147-A177-3AD203B41FA5}">
                      <a16:colId xmlns:a16="http://schemas.microsoft.com/office/drawing/2014/main" val="174127622"/>
                    </a:ext>
                  </a:extLst>
                </a:gridCol>
                <a:gridCol w="721442">
                  <a:extLst>
                    <a:ext uri="{9D8B030D-6E8A-4147-A177-3AD203B41FA5}">
                      <a16:colId xmlns:a16="http://schemas.microsoft.com/office/drawing/2014/main" val="3644854493"/>
                    </a:ext>
                  </a:extLst>
                </a:gridCol>
                <a:gridCol w="1297512">
                  <a:extLst>
                    <a:ext uri="{9D8B030D-6E8A-4147-A177-3AD203B41FA5}">
                      <a16:colId xmlns:a16="http://schemas.microsoft.com/office/drawing/2014/main" val="3775573039"/>
                    </a:ext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1984" marR="51984" marT="36013" marB="360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51931" marR="51931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Location</a:t>
                      </a: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1984" marR="51984" marT="36013" marB="360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1931" marR="51931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352098" y="37310"/>
            <a:ext cx="2088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1352098" y="250036"/>
            <a:ext cx="5544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4520450" y="32717"/>
            <a:ext cx="3420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7953254" y="243970"/>
            <a:ext cx="4248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 baseline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8882438" y="37310"/>
            <a:ext cx="1296000" cy="18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/>
          </p:nvPr>
        </p:nvSpPr>
        <p:spPr>
          <a:xfrm>
            <a:off x="10929162" y="37310"/>
            <a:ext cx="1260000" cy="18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092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화면설계 - 화면구성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433998"/>
            <a:ext cx="12189162" cy="6091347"/>
          </a:xfrm>
          <a:prstGeom prst="rect">
            <a:avLst/>
          </a:prstGeom>
          <a:noFill/>
          <a:ln w="19050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/>
          <a:lstStyle/>
          <a:p>
            <a:pPr marL="228600" indent="-228600" algn="ctr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kumimoji="0"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4540049" y="17940"/>
            <a:ext cx="673582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75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AREA</a:t>
            </a:r>
            <a:endParaRPr lang="ko-KR" altLang="en-US" sz="75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 userDrawn="1"/>
        </p:nvGraphicFramePr>
        <p:xfrm>
          <a:off x="8625" y="12963"/>
          <a:ext cx="12202769" cy="425452"/>
        </p:xfrm>
        <a:graphic>
          <a:graphicData uri="http://schemas.openxmlformats.org/drawingml/2006/table">
            <a:tbl>
              <a:tblPr/>
              <a:tblGrid>
                <a:gridCol w="1348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746">
                  <a:extLst>
                    <a:ext uri="{9D8B030D-6E8A-4147-A177-3AD203B41FA5}">
                      <a16:colId xmlns:a16="http://schemas.microsoft.com/office/drawing/2014/main" val="116818763"/>
                    </a:ext>
                  </a:extLst>
                </a:gridCol>
                <a:gridCol w="961623">
                  <a:extLst>
                    <a:ext uri="{9D8B030D-6E8A-4147-A177-3AD203B41FA5}">
                      <a16:colId xmlns:a16="http://schemas.microsoft.com/office/drawing/2014/main" val="1253900670"/>
                    </a:ext>
                  </a:extLst>
                </a:gridCol>
                <a:gridCol w="1297965">
                  <a:extLst>
                    <a:ext uri="{9D8B030D-6E8A-4147-A177-3AD203B41FA5}">
                      <a16:colId xmlns:a16="http://schemas.microsoft.com/office/drawing/2014/main" val="174127622"/>
                    </a:ext>
                  </a:extLst>
                </a:gridCol>
                <a:gridCol w="721442">
                  <a:extLst>
                    <a:ext uri="{9D8B030D-6E8A-4147-A177-3AD203B41FA5}">
                      <a16:colId xmlns:a16="http://schemas.microsoft.com/office/drawing/2014/main" val="3644854493"/>
                    </a:ext>
                  </a:extLst>
                </a:gridCol>
                <a:gridCol w="1297512">
                  <a:extLst>
                    <a:ext uri="{9D8B030D-6E8A-4147-A177-3AD203B41FA5}">
                      <a16:colId xmlns:a16="http://schemas.microsoft.com/office/drawing/2014/main" val="3775573039"/>
                    </a:ext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1984" marR="51984" marT="36013" marB="360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51931" marR="51931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Location</a:t>
                      </a: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1984" marR="51984" marT="36013" marB="360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1931" marR="51931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352098" y="37310"/>
            <a:ext cx="2088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1352098" y="250036"/>
            <a:ext cx="5544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4520450" y="32717"/>
            <a:ext cx="3420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7953254" y="243970"/>
            <a:ext cx="4248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 baseline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8882438" y="37310"/>
            <a:ext cx="1296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/>
          </p:nvPr>
        </p:nvSpPr>
        <p:spPr>
          <a:xfrm>
            <a:off x="10929162" y="37310"/>
            <a:ext cx="1260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530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다음 페이지 연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433998"/>
            <a:ext cx="8904312" cy="6091347"/>
          </a:xfrm>
          <a:prstGeom prst="rect">
            <a:avLst/>
          </a:prstGeom>
          <a:noFill/>
          <a:ln w="19050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/>
          <a:lstStyle/>
          <a:p>
            <a:pPr marL="228600" indent="-228600" algn="ctr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kumimoji="0"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-19050" y="6344369"/>
            <a:ext cx="8928000" cy="180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bg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dirty="0">
                <a:solidFill>
                  <a:prstClr val="white"/>
                </a:solidFill>
              </a:rPr>
              <a:t>다음 페이지에 계속</a:t>
            </a:r>
          </a:p>
        </p:txBody>
      </p:sp>
      <p:sp>
        <p:nvSpPr>
          <p:cNvPr id="8" name="TextBox 7"/>
          <p:cNvSpPr txBox="1">
            <a:spLocks noChangeArrowheads="1"/>
          </p:cNvSpPr>
          <p:nvPr userDrawn="1"/>
        </p:nvSpPr>
        <p:spPr bwMode="auto">
          <a:xfrm>
            <a:off x="4540049" y="17940"/>
            <a:ext cx="673582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75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AREA</a:t>
            </a:r>
            <a:endParaRPr lang="ko-KR" altLang="en-US" sz="75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33434162"/>
              </p:ext>
            </p:extLst>
          </p:nvPr>
        </p:nvGraphicFramePr>
        <p:xfrm>
          <a:off x="8625" y="12963"/>
          <a:ext cx="12202769" cy="425452"/>
        </p:xfrm>
        <a:graphic>
          <a:graphicData uri="http://schemas.openxmlformats.org/drawingml/2006/table">
            <a:tbl>
              <a:tblPr/>
              <a:tblGrid>
                <a:gridCol w="1348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746">
                  <a:extLst>
                    <a:ext uri="{9D8B030D-6E8A-4147-A177-3AD203B41FA5}">
                      <a16:colId xmlns:a16="http://schemas.microsoft.com/office/drawing/2014/main" val="116818763"/>
                    </a:ext>
                  </a:extLst>
                </a:gridCol>
                <a:gridCol w="961623">
                  <a:extLst>
                    <a:ext uri="{9D8B030D-6E8A-4147-A177-3AD203B41FA5}">
                      <a16:colId xmlns:a16="http://schemas.microsoft.com/office/drawing/2014/main" val="1253900670"/>
                    </a:ext>
                  </a:extLst>
                </a:gridCol>
                <a:gridCol w="1297965">
                  <a:extLst>
                    <a:ext uri="{9D8B030D-6E8A-4147-A177-3AD203B41FA5}">
                      <a16:colId xmlns:a16="http://schemas.microsoft.com/office/drawing/2014/main" val="174127622"/>
                    </a:ext>
                  </a:extLst>
                </a:gridCol>
                <a:gridCol w="721442">
                  <a:extLst>
                    <a:ext uri="{9D8B030D-6E8A-4147-A177-3AD203B41FA5}">
                      <a16:colId xmlns:a16="http://schemas.microsoft.com/office/drawing/2014/main" val="3644854493"/>
                    </a:ext>
                  </a:extLst>
                </a:gridCol>
                <a:gridCol w="1297512">
                  <a:extLst>
                    <a:ext uri="{9D8B030D-6E8A-4147-A177-3AD203B41FA5}">
                      <a16:colId xmlns:a16="http://schemas.microsoft.com/office/drawing/2014/main" val="3775573039"/>
                    </a:ext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1984" marR="51984" marT="36013" marB="360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51931" marR="51931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Location</a:t>
                      </a: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1984" marR="51984" marT="36013" marB="360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1931" marR="51931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352098" y="37310"/>
            <a:ext cx="2088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1352098" y="250036"/>
            <a:ext cx="5544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4520450" y="32717"/>
            <a:ext cx="3420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7953254" y="243970"/>
            <a:ext cx="4248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 baseline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8882438" y="37310"/>
            <a:ext cx="1296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5"/>
          </p:nvPr>
        </p:nvSpPr>
        <p:spPr>
          <a:xfrm>
            <a:off x="10929162" y="37310"/>
            <a:ext cx="1260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5268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전 페이지 연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433998"/>
            <a:ext cx="8904312" cy="6091347"/>
          </a:xfrm>
          <a:prstGeom prst="rect">
            <a:avLst/>
          </a:prstGeom>
          <a:noFill/>
          <a:ln w="19050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/>
          <a:lstStyle/>
          <a:p>
            <a:pPr marL="228600" indent="-228600" algn="ctr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kumimoji="0" lang="ko-KR" altLang="en-US" dirty="0">
              <a:solidFill>
                <a:prstClr val="black"/>
              </a:solidFill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0424" y="437267"/>
            <a:ext cx="8892000" cy="180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bg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dirty="0">
                <a:solidFill>
                  <a:prstClr val="white"/>
                </a:solidFill>
              </a:rPr>
              <a:t>이전</a:t>
            </a:r>
            <a:r>
              <a:rPr kumimoji="0" lang="en-US" altLang="ko-KR" sz="700" b="1" baseline="0" dirty="0">
                <a:solidFill>
                  <a:prstClr val="white"/>
                </a:solidFill>
              </a:rPr>
              <a:t> </a:t>
            </a:r>
            <a:r>
              <a:rPr kumimoji="0" lang="ko-KR" altLang="en-US" sz="700" b="1" dirty="0">
                <a:solidFill>
                  <a:prstClr val="white"/>
                </a:solidFill>
              </a:rPr>
              <a:t>페이지에 계속</a:t>
            </a: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4540049" y="17940"/>
            <a:ext cx="673582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75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AREA</a:t>
            </a:r>
            <a:endParaRPr lang="ko-KR" altLang="en-US" sz="75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33434162"/>
              </p:ext>
            </p:extLst>
          </p:nvPr>
        </p:nvGraphicFramePr>
        <p:xfrm>
          <a:off x="8625" y="12963"/>
          <a:ext cx="12202769" cy="425452"/>
        </p:xfrm>
        <a:graphic>
          <a:graphicData uri="http://schemas.openxmlformats.org/drawingml/2006/table">
            <a:tbl>
              <a:tblPr/>
              <a:tblGrid>
                <a:gridCol w="1348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746">
                  <a:extLst>
                    <a:ext uri="{9D8B030D-6E8A-4147-A177-3AD203B41FA5}">
                      <a16:colId xmlns:a16="http://schemas.microsoft.com/office/drawing/2014/main" val="116818763"/>
                    </a:ext>
                  </a:extLst>
                </a:gridCol>
                <a:gridCol w="961623">
                  <a:extLst>
                    <a:ext uri="{9D8B030D-6E8A-4147-A177-3AD203B41FA5}">
                      <a16:colId xmlns:a16="http://schemas.microsoft.com/office/drawing/2014/main" val="1253900670"/>
                    </a:ext>
                  </a:extLst>
                </a:gridCol>
                <a:gridCol w="1297965">
                  <a:extLst>
                    <a:ext uri="{9D8B030D-6E8A-4147-A177-3AD203B41FA5}">
                      <a16:colId xmlns:a16="http://schemas.microsoft.com/office/drawing/2014/main" val="174127622"/>
                    </a:ext>
                  </a:extLst>
                </a:gridCol>
                <a:gridCol w="721442">
                  <a:extLst>
                    <a:ext uri="{9D8B030D-6E8A-4147-A177-3AD203B41FA5}">
                      <a16:colId xmlns:a16="http://schemas.microsoft.com/office/drawing/2014/main" val="3644854493"/>
                    </a:ext>
                  </a:extLst>
                </a:gridCol>
                <a:gridCol w="1297512">
                  <a:extLst>
                    <a:ext uri="{9D8B030D-6E8A-4147-A177-3AD203B41FA5}">
                      <a16:colId xmlns:a16="http://schemas.microsoft.com/office/drawing/2014/main" val="3775573039"/>
                    </a:ext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1984" marR="51984" marT="36013" marB="360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51931" marR="51931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Location</a:t>
                      </a: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1984" marR="51984" marT="36013" marB="360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1931" marR="51931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352098" y="37310"/>
            <a:ext cx="2088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1352098" y="250036"/>
            <a:ext cx="5544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4520450" y="32717"/>
            <a:ext cx="3420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7953254" y="243970"/>
            <a:ext cx="4248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 baseline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8882438" y="37310"/>
            <a:ext cx="1296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5"/>
          </p:nvPr>
        </p:nvSpPr>
        <p:spPr>
          <a:xfrm>
            <a:off x="10929162" y="37310"/>
            <a:ext cx="1260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16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전/다음 페이지 연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433998"/>
            <a:ext cx="8904312" cy="6091347"/>
          </a:xfrm>
          <a:prstGeom prst="rect">
            <a:avLst/>
          </a:prstGeom>
          <a:noFill/>
          <a:ln w="19050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/>
          <a:lstStyle/>
          <a:p>
            <a:pPr marL="228600" indent="-228600" algn="ctr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kumimoji="0"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-19050" y="6344369"/>
            <a:ext cx="8928000" cy="180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bg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dirty="0">
                <a:solidFill>
                  <a:prstClr val="white"/>
                </a:solidFill>
              </a:rPr>
              <a:t>다음 페이지에 계속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-10424" y="437267"/>
            <a:ext cx="8892000" cy="180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solidFill>
              <a:schemeClr val="bg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dirty="0">
                <a:solidFill>
                  <a:prstClr val="white"/>
                </a:solidFill>
              </a:rPr>
              <a:t>이전</a:t>
            </a:r>
            <a:r>
              <a:rPr kumimoji="0" lang="en-US" altLang="ko-KR" sz="700" b="1" baseline="0" dirty="0">
                <a:solidFill>
                  <a:prstClr val="white"/>
                </a:solidFill>
              </a:rPr>
              <a:t> </a:t>
            </a:r>
            <a:r>
              <a:rPr kumimoji="0" lang="ko-KR" altLang="en-US" sz="700" b="1" dirty="0">
                <a:solidFill>
                  <a:prstClr val="white"/>
                </a:solidFill>
              </a:rPr>
              <a:t>페이지에 계속</a:t>
            </a: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4540049" y="17940"/>
            <a:ext cx="673582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75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AREA</a:t>
            </a:r>
            <a:endParaRPr lang="ko-KR" altLang="en-US" sz="75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33434162"/>
              </p:ext>
            </p:extLst>
          </p:nvPr>
        </p:nvGraphicFramePr>
        <p:xfrm>
          <a:off x="8625" y="12963"/>
          <a:ext cx="12202769" cy="425452"/>
        </p:xfrm>
        <a:graphic>
          <a:graphicData uri="http://schemas.openxmlformats.org/drawingml/2006/table">
            <a:tbl>
              <a:tblPr/>
              <a:tblGrid>
                <a:gridCol w="1348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746">
                  <a:extLst>
                    <a:ext uri="{9D8B030D-6E8A-4147-A177-3AD203B41FA5}">
                      <a16:colId xmlns:a16="http://schemas.microsoft.com/office/drawing/2014/main" val="116818763"/>
                    </a:ext>
                  </a:extLst>
                </a:gridCol>
                <a:gridCol w="961623">
                  <a:extLst>
                    <a:ext uri="{9D8B030D-6E8A-4147-A177-3AD203B41FA5}">
                      <a16:colId xmlns:a16="http://schemas.microsoft.com/office/drawing/2014/main" val="1253900670"/>
                    </a:ext>
                  </a:extLst>
                </a:gridCol>
                <a:gridCol w="1297965">
                  <a:extLst>
                    <a:ext uri="{9D8B030D-6E8A-4147-A177-3AD203B41FA5}">
                      <a16:colId xmlns:a16="http://schemas.microsoft.com/office/drawing/2014/main" val="174127622"/>
                    </a:ext>
                  </a:extLst>
                </a:gridCol>
                <a:gridCol w="721442">
                  <a:extLst>
                    <a:ext uri="{9D8B030D-6E8A-4147-A177-3AD203B41FA5}">
                      <a16:colId xmlns:a16="http://schemas.microsoft.com/office/drawing/2014/main" val="3644854493"/>
                    </a:ext>
                  </a:extLst>
                </a:gridCol>
                <a:gridCol w="1297512">
                  <a:extLst>
                    <a:ext uri="{9D8B030D-6E8A-4147-A177-3AD203B41FA5}">
                      <a16:colId xmlns:a16="http://schemas.microsoft.com/office/drawing/2014/main" val="3775573039"/>
                    </a:ext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1984" marR="51984" marT="36013" marB="360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51931" marR="51931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Location</a:t>
                      </a: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1984" marR="51984" marT="36013" marB="3601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1931" marR="51931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382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2511" marR="112511" marT="45403" marB="45403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352098" y="37310"/>
            <a:ext cx="2088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1352098" y="250036"/>
            <a:ext cx="5544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3"/>
          <p:cNvSpPr>
            <a:spLocks noGrp="1"/>
          </p:cNvSpPr>
          <p:nvPr>
            <p:ph type="body" sz="quarter" idx="12"/>
          </p:nvPr>
        </p:nvSpPr>
        <p:spPr>
          <a:xfrm>
            <a:off x="4520450" y="32717"/>
            <a:ext cx="3420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7953254" y="243970"/>
            <a:ext cx="4248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 baseline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8882438" y="37310"/>
            <a:ext cx="1296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6" name="텍스트 개체 틀 3"/>
          <p:cNvSpPr>
            <a:spLocks noGrp="1"/>
          </p:cNvSpPr>
          <p:nvPr>
            <p:ph type="body" sz="quarter" idx="15"/>
          </p:nvPr>
        </p:nvSpPr>
        <p:spPr>
          <a:xfrm>
            <a:off x="10929162" y="37310"/>
            <a:ext cx="12600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9144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3716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1828800" indent="0">
              <a:buNone/>
              <a:defRPr sz="10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544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개인 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407728" y="476672"/>
            <a:ext cx="3240000" cy="2657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TOP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5" name="직사각형 14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6" name="직사각형 15"/>
          <p:cNvSpPr>
            <a:spLocks/>
          </p:cNvSpPr>
          <p:nvPr userDrawn="1"/>
        </p:nvSpPr>
        <p:spPr>
          <a:xfrm>
            <a:off x="4080136" y="476672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9" name="물결 18"/>
          <p:cNvSpPr/>
          <p:nvPr userDrawn="1"/>
        </p:nvSpPr>
        <p:spPr>
          <a:xfrm>
            <a:off x="4152136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  <p:sp>
        <p:nvSpPr>
          <p:cNvPr id="20" name="물결 19"/>
          <p:cNvSpPr/>
          <p:nvPr userDrawn="1"/>
        </p:nvSpPr>
        <p:spPr>
          <a:xfrm>
            <a:off x="479728" y="6092933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아래에 계속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407728" y="692696"/>
            <a:ext cx="3240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&lt;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4079776" y="6043597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194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2개인 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407728" y="476672"/>
            <a:ext cx="3240000" cy="2657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TOP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5" name="직사각형 14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/>
          <p:cNvSpPr>
            <a:spLocks/>
          </p:cNvSpPr>
          <p:nvPr userDrawn="1"/>
        </p:nvSpPr>
        <p:spPr>
          <a:xfrm>
            <a:off x="4080136" y="476672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407728" y="692696"/>
            <a:ext cx="3240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&lt;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0" name="물결 9"/>
          <p:cNvSpPr/>
          <p:nvPr userDrawn="1"/>
        </p:nvSpPr>
        <p:spPr>
          <a:xfrm>
            <a:off x="4135076" y="6092933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아래에 계속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다음페이지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2" name="물결 11"/>
          <p:cNvSpPr/>
          <p:nvPr userDrawn="1"/>
        </p:nvSpPr>
        <p:spPr>
          <a:xfrm>
            <a:off x="479728" y="6092933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아래에 계속</a:t>
            </a:r>
          </a:p>
        </p:txBody>
      </p:sp>
      <p:sp>
        <p:nvSpPr>
          <p:cNvPr id="13" name="물결 12"/>
          <p:cNvSpPr/>
          <p:nvPr userDrawn="1"/>
        </p:nvSpPr>
        <p:spPr>
          <a:xfrm>
            <a:off x="4152136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</p:spTree>
    <p:extLst>
      <p:ext uri="{BB962C8B-B14F-4D97-AF65-F5344CB8AC3E}">
        <p14:creationId xmlns:p14="http://schemas.microsoft.com/office/powerpoint/2010/main" val="425545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57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2개인 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/>
          <p:cNvSpPr>
            <a:spLocks/>
          </p:cNvSpPr>
          <p:nvPr userDrawn="1"/>
        </p:nvSpPr>
        <p:spPr>
          <a:xfrm>
            <a:off x="4080136" y="476672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물결 3"/>
          <p:cNvSpPr/>
          <p:nvPr userDrawn="1"/>
        </p:nvSpPr>
        <p:spPr>
          <a:xfrm>
            <a:off x="479728" y="6092933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아래에 계속</a:t>
            </a:r>
          </a:p>
        </p:txBody>
      </p:sp>
      <p:sp>
        <p:nvSpPr>
          <p:cNvPr id="5" name="물결 4"/>
          <p:cNvSpPr/>
          <p:nvPr userDrawn="1"/>
        </p:nvSpPr>
        <p:spPr>
          <a:xfrm>
            <a:off x="4152136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</p:spTree>
    <p:extLst>
      <p:ext uri="{BB962C8B-B14F-4D97-AF65-F5344CB8AC3E}">
        <p14:creationId xmlns:p14="http://schemas.microsoft.com/office/powerpoint/2010/main" val="3610568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상태 2개인 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/>
          <p:cNvSpPr>
            <a:spLocks/>
          </p:cNvSpPr>
          <p:nvPr userDrawn="1"/>
        </p:nvSpPr>
        <p:spPr>
          <a:xfrm>
            <a:off x="4080136" y="476672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928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상태 2개인 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201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공통기능 TOP 2개인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/>
          <p:cNvSpPr>
            <a:spLocks/>
          </p:cNvSpPr>
          <p:nvPr userDrawn="1"/>
        </p:nvSpPr>
        <p:spPr>
          <a:xfrm>
            <a:off x="4080136" y="476672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407728" y="476672"/>
            <a:ext cx="3240000" cy="2657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TOP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4080136" y="487664"/>
            <a:ext cx="3240000" cy="2657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TOP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200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2개인 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407728" y="476672"/>
            <a:ext cx="3240000" cy="2657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TOP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407728" y="692696"/>
            <a:ext cx="3240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물결 5"/>
          <p:cNvSpPr/>
          <p:nvPr userDrawn="1"/>
        </p:nvSpPr>
        <p:spPr>
          <a:xfrm>
            <a:off x="479728" y="6092933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아래에 계속</a:t>
            </a:r>
          </a:p>
        </p:txBody>
      </p:sp>
    </p:spTree>
    <p:extLst>
      <p:ext uri="{BB962C8B-B14F-4D97-AF65-F5344CB8AC3E}">
        <p14:creationId xmlns:p14="http://schemas.microsoft.com/office/powerpoint/2010/main" val="1972793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2개인 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407728" y="476672"/>
            <a:ext cx="3240000" cy="26572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TOP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9389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개 위에서 아래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물결 5"/>
          <p:cNvSpPr/>
          <p:nvPr userDrawn="1"/>
        </p:nvSpPr>
        <p:spPr>
          <a:xfrm>
            <a:off x="479728" y="6092933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아래에 계속</a:t>
            </a:r>
          </a:p>
        </p:txBody>
      </p:sp>
      <p:sp>
        <p:nvSpPr>
          <p:cNvPr id="7" name="물결 6"/>
          <p:cNvSpPr/>
          <p:nvPr userDrawn="1"/>
        </p:nvSpPr>
        <p:spPr>
          <a:xfrm>
            <a:off x="479728" y="54813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</p:spTree>
    <p:extLst>
      <p:ext uri="{BB962C8B-B14F-4D97-AF65-F5344CB8AC3E}">
        <p14:creationId xmlns:p14="http://schemas.microsoft.com/office/powerpoint/2010/main" val="3681256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2개인 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407728" y="476672"/>
            <a:ext cx="3240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&lt;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6466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2개인 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407728" y="476672"/>
            <a:ext cx="3240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&lt;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4080136" y="480971"/>
            <a:ext cx="3249862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&lt;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6" name="직사각형 5"/>
          <p:cNvSpPr>
            <a:spLocks/>
          </p:cNvSpPr>
          <p:nvPr userDrawn="1"/>
        </p:nvSpPr>
        <p:spPr>
          <a:xfrm>
            <a:off x="4080136" y="476672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3945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2개인 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1662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메인_2개인 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" name="물결 7"/>
          <p:cNvSpPr/>
          <p:nvPr userDrawn="1"/>
        </p:nvSpPr>
        <p:spPr>
          <a:xfrm>
            <a:off x="479728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</p:spTree>
    <p:extLst>
      <p:ext uri="{BB962C8B-B14F-4D97-AF65-F5344CB8AC3E}">
        <p14:creationId xmlns:p14="http://schemas.microsoft.com/office/powerpoint/2010/main" val="10489695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개인 경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/>
          </p:cNvSpPr>
          <p:nvPr userDrawn="1"/>
        </p:nvSpPr>
        <p:spPr>
          <a:xfrm>
            <a:off x="407728" y="477320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" name="직사각형 7"/>
          <p:cNvSpPr>
            <a:spLocks/>
          </p:cNvSpPr>
          <p:nvPr userDrawn="1"/>
        </p:nvSpPr>
        <p:spPr>
          <a:xfrm>
            <a:off x="4080136" y="476672"/>
            <a:ext cx="3240000" cy="5832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407728" y="476672"/>
            <a:ext cx="32400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&lt;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5" name="물결 14"/>
          <p:cNvSpPr/>
          <p:nvPr userDrawn="1"/>
        </p:nvSpPr>
        <p:spPr>
          <a:xfrm>
            <a:off x="479728" y="6092933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아래에 계속</a:t>
            </a:r>
          </a:p>
        </p:txBody>
      </p:sp>
      <p:sp>
        <p:nvSpPr>
          <p:cNvPr id="16" name="물결 15"/>
          <p:cNvSpPr/>
          <p:nvPr userDrawn="1"/>
        </p:nvSpPr>
        <p:spPr>
          <a:xfrm>
            <a:off x="4152136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</p:spTree>
    <p:extLst>
      <p:ext uri="{BB962C8B-B14F-4D97-AF65-F5344CB8AC3E}">
        <p14:creationId xmlns:p14="http://schemas.microsoft.com/office/powerpoint/2010/main" val="1245266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1"/>
          <p:cNvPicPr>
            <a:picLocks noChangeAspect="1" noChangeArrowheads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08" y="6597650"/>
            <a:ext cx="1117600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12"/>
          <p:cNvCxnSpPr>
            <a:cxnSpLocks noChangeShapeType="1"/>
          </p:cNvCxnSpPr>
          <p:nvPr userDrawn="1"/>
        </p:nvCxnSpPr>
        <p:spPr bwMode="auto">
          <a:xfrm>
            <a:off x="0" y="6525344"/>
            <a:ext cx="12193477" cy="0"/>
          </a:xfrm>
          <a:prstGeom prst="line">
            <a:avLst/>
          </a:prstGeom>
          <a:ln w="12700">
            <a:solidFill>
              <a:srgbClr val="B70050"/>
            </a:solidFill>
            <a:headEnd/>
            <a:tailE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1316580" y="6540821"/>
            <a:ext cx="791037" cy="297269"/>
          </a:xfrm>
          <a:prstGeom prst="rect">
            <a:avLst/>
          </a:prstGeom>
        </p:spPr>
      </p:pic>
      <p:sp>
        <p:nvSpPr>
          <p:cNvPr id="8" name="Text Box 2"/>
          <p:cNvSpPr txBox="1">
            <a:spLocks noChangeArrowheads="1"/>
          </p:cNvSpPr>
          <p:nvPr userDrawn="1"/>
        </p:nvSpPr>
        <p:spPr bwMode="auto">
          <a:xfrm>
            <a:off x="5754079" y="6553202"/>
            <a:ext cx="50206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defRPr/>
            </a:pPr>
            <a:fld id="{D678CD6E-328D-4666-A011-D3170EAB402A}" type="slidenum">
              <a:rPr lang="en-US" altLang="ko-KR" sz="100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 eaLnBrk="1" latinLnBrk="1" hangingPunct="1">
                <a:defRPr/>
              </a:pPr>
              <a:t>‹#›</a:t>
            </a:fld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36" r:id="rId1"/>
    <p:sldLayoutId id="2147484427" r:id="rId2"/>
    <p:sldLayoutId id="2147484403" r:id="rId3"/>
    <p:sldLayoutId id="2147484441" r:id="rId4"/>
    <p:sldLayoutId id="2147484439" r:id="rId5"/>
    <p:sldLayoutId id="2147484440" r:id="rId6"/>
    <p:sldLayoutId id="2147484437" r:id="rId7"/>
    <p:sldLayoutId id="2147484493" r:id="rId8"/>
    <p:sldLayoutId id="2147484500" r:id="rId9"/>
    <p:sldLayoutId id="2147484501" r:id="rId10"/>
    <p:sldLayoutId id="2147484506" r:id="rId11"/>
    <p:sldLayoutId id="2147484507" r:id="rId12"/>
    <p:sldLayoutId id="2147484505" r:id="rId13"/>
    <p:sldLayoutId id="2147484502" r:id="rId14"/>
    <p:sldLayoutId id="2147484504" r:id="rId15"/>
    <p:sldLayoutId id="2147484503" r:id="rId16"/>
    <p:sldLayoutId id="2147484496" r:id="rId17"/>
    <p:sldLayoutId id="2147484508" r:id="rId18"/>
    <p:sldLayoutId id="2147484497" r:id="rId19"/>
    <p:sldLayoutId id="2147484509" r:id="rId20"/>
    <p:sldLayoutId id="2147484510" r:id="rId2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22041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44083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66124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88165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16531" indent="-316531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.xml"/><Relationship Id="rId7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16.xml"/><Relationship Id="rId4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14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hyperlink" Target="http://m.hanatour.com/competitiv/index.hnt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24.xml"/><Relationship Id="rId7" Type="http://schemas.openxmlformats.org/officeDocument/2006/relationships/slideLayout" Target="../slideLayouts/slideLayout10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hyperlink" Target="http://m.hanatour.com/competitiv/index.hnt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hyperlink" Target="http://m.hanatour.com/competitiv/index.h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/>
          <p:cNvSpPr>
            <a:spLocks noGrp="1"/>
          </p:cNvSpPr>
          <p:nvPr/>
        </p:nvSpPr>
        <p:spPr>
          <a:xfrm>
            <a:off x="5015880" y="1628802"/>
            <a:ext cx="5843638" cy="11631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2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차세대 플랫폼 구축 </a:t>
            </a:r>
            <a:r>
              <a:rPr lang="en-US" altLang="ko-KR" sz="2800" b="1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– </a:t>
            </a:r>
            <a:r>
              <a:rPr lang="ko-KR" altLang="en-US" sz="2800" b="1" dirty="0" err="1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채널통합</a:t>
            </a:r>
            <a:endParaRPr lang="en-US" altLang="ko-KR" sz="2800" b="1" dirty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  <a:p>
            <a:pPr algn="r"/>
            <a:r>
              <a:rPr lang="ko-KR" altLang="en-US" sz="4000" dirty="0" err="1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화면정의서</a:t>
            </a:r>
            <a:endParaRPr lang="ko-KR" altLang="en-US" sz="2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Placeholder"/>
          <p:cNvGrpSpPr>
            <a:grpSpLocks/>
          </p:cNvGrpSpPr>
          <p:nvPr/>
        </p:nvGrpSpPr>
        <p:grpSpPr bwMode="auto">
          <a:xfrm>
            <a:off x="409652" y="1762050"/>
            <a:ext cx="3230215" cy="2479430"/>
            <a:chOff x="508000" y="1397000"/>
            <a:chExt cx="1008112" cy="1008112"/>
          </a:xfrm>
          <a:solidFill>
            <a:srgbClr val="000000">
              <a:alpha val="30196"/>
            </a:srgbClr>
          </a:solidFill>
        </p:grpSpPr>
        <p:sp>
          <p:nvSpPr>
            <p:cNvPr id="156" name="Border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57" name="Line 2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58" name="Line 1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51" name="Placeholder">
            <a:extLst>
              <a:ext uri="{FF2B5EF4-FFF2-40B4-BE49-F238E27FC236}">
                <a16:creationId xmlns:a16="http://schemas.microsoft.com/office/drawing/2014/main" id="{DFD8BAA8-3B9C-4A66-8075-5BF07551AA22}"/>
              </a:ext>
            </a:extLst>
          </p:cNvPr>
          <p:cNvGrpSpPr>
            <a:grpSpLocks/>
          </p:cNvGrpSpPr>
          <p:nvPr/>
        </p:nvGrpSpPr>
        <p:grpSpPr bwMode="auto">
          <a:xfrm>
            <a:off x="6906868" y="4107291"/>
            <a:ext cx="1209257" cy="915609"/>
            <a:chOff x="508000" y="1397000"/>
            <a:chExt cx="1008112" cy="1008112"/>
          </a:xfrm>
          <a:solidFill>
            <a:srgbClr val="FFFFFF"/>
          </a:solidFill>
        </p:grpSpPr>
        <p:sp>
          <p:nvSpPr>
            <p:cNvPr id="152" name="Border">
              <a:extLst>
                <a:ext uri="{FF2B5EF4-FFF2-40B4-BE49-F238E27FC236}">
                  <a16:creationId xmlns:a16="http://schemas.microsoft.com/office/drawing/2014/main" id="{2F02686A-8563-4620-9E9A-B11442FC0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3" name="Line 2">
              <a:extLst>
                <a:ext uri="{FF2B5EF4-FFF2-40B4-BE49-F238E27FC236}">
                  <a16:creationId xmlns:a16="http://schemas.microsoft.com/office/drawing/2014/main" id="{314FBD14-B28D-448F-995D-B4FE61E68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4" name="Line 1">
              <a:extLst>
                <a:ext uri="{FF2B5EF4-FFF2-40B4-BE49-F238E27FC236}">
                  <a16:creationId xmlns:a16="http://schemas.microsoft.com/office/drawing/2014/main" id="{EFB0870A-11C9-469E-9A98-90CB82882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39" name="Placeholder">
            <a:extLst>
              <a:ext uri="{FF2B5EF4-FFF2-40B4-BE49-F238E27FC236}">
                <a16:creationId xmlns:a16="http://schemas.microsoft.com/office/drawing/2014/main" id="{DFD8BAA8-3B9C-4A66-8075-5BF07551AA22}"/>
              </a:ext>
            </a:extLst>
          </p:cNvPr>
          <p:cNvGrpSpPr>
            <a:grpSpLocks/>
          </p:cNvGrpSpPr>
          <p:nvPr/>
        </p:nvGrpSpPr>
        <p:grpSpPr bwMode="auto">
          <a:xfrm>
            <a:off x="6915507" y="854851"/>
            <a:ext cx="1209257" cy="915609"/>
            <a:chOff x="508000" y="1397000"/>
            <a:chExt cx="1008112" cy="1008112"/>
          </a:xfrm>
          <a:solidFill>
            <a:srgbClr val="FFFFFF"/>
          </a:solidFill>
        </p:grpSpPr>
        <p:sp>
          <p:nvSpPr>
            <p:cNvPr id="140" name="Border">
              <a:extLst>
                <a:ext uri="{FF2B5EF4-FFF2-40B4-BE49-F238E27FC236}">
                  <a16:creationId xmlns:a16="http://schemas.microsoft.com/office/drawing/2014/main" id="{2F02686A-8563-4620-9E9A-B11442FC0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1" name="Line 2">
              <a:extLst>
                <a:ext uri="{FF2B5EF4-FFF2-40B4-BE49-F238E27FC236}">
                  <a16:creationId xmlns:a16="http://schemas.microsoft.com/office/drawing/2014/main" id="{314FBD14-B28D-448F-995D-B4FE61E68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2" name="Line 1">
              <a:extLst>
                <a:ext uri="{FF2B5EF4-FFF2-40B4-BE49-F238E27FC236}">
                  <a16:creationId xmlns:a16="http://schemas.microsoft.com/office/drawing/2014/main" id="{EFB0870A-11C9-469E-9A98-90CB82882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6" name="Placeholder">
            <a:extLst>
              <a:ext uri="{FF2B5EF4-FFF2-40B4-BE49-F238E27FC236}">
                <a16:creationId xmlns:a16="http://schemas.microsoft.com/office/drawing/2014/main" id="{DFD8BAA8-3B9C-4A66-8075-5BF07551AA22}"/>
              </a:ext>
            </a:extLst>
          </p:cNvPr>
          <p:cNvGrpSpPr>
            <a:grpSpLocks/>
          </p:cNvGrpSpPr>
          <p:nvPr/>
        </p:nvGrpSpPr>
        <p:grpSpPr bwMode="auto">
          <a:xfrm>
            <a:off x="4153891" y="854851"/>
            <a:ext cx="1212139" cy="919865"/>
            <a:chOff x="508000" y="1397000"/>
            <a:chExt cx="1008112" cy="1008112"/>
          </a:xfrm>
          <a:solidFill>
            <a:srgbClr val="FFFFFF"/>
          </a:solidFill>
        </p:grpSpPr>
        <p:sp>
          <p:nvSpPr>
            <p:cNvPr id="122" name="Border">
              <a:extLst>
                <a:ext uri="{FF2B5EF4-FFF2-40B4-BE49-F238E27FC236}">
                  <a16:creationId xmlns:a16="http://schemas.microsoft.com/office/drawing/2014/main" id="{2F02686A-8563-4620-9E9A-B11442FC0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3" name="Line 2">
              <a:extLst>
                <a:ext uri="{FF2B5EF4-FFF2-40B4-BE49-F238E27FC236}">
                  <a16:creationId xmlns:a16="http://schemas.microsoft.com/office/drawing/2014/main" id="{314FBD14-B28D-448F-995D-B4FE61E68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4" name="Line 1">
              <a:extLst>
                <a:ext uri="{FF2B5EF4-FFF2-40B4-BE49-F238E27FC236}">
                  <a16:creationId xmlns:a16="http://schemas.microsoft.com/office/drawing/2014/main" id="{EFB0870A-11C9-469E-9A98-90CB82882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6956204" y="5077511"/>
            <a:ext cx="612000" cy="180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90300" latinLnBrk="0">
              <a:defRPr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국내 최저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99890" y="5262389"/>
            <a:ext cx="12305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다낭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바나힐투어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+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골든브릿지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오전출발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en-US" altLang="ko-KR" sz="1000" dirty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13% 44,600</a:t>
            </a:r>
            <a:r>
              <a:rPr lang="ko-KR" altLang="en-US" sz="1000" dirty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원</a:t>
            </a:r>
            <a:endParaRPr lang="ko-KR" altLang="en-US" sz="1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4135430" y="4097544"/>
            <a:ext cx="3998140" cy="1780398"/>
            <a:chOff x="4292776" y="997538"/>
            <a:chExt cx="3998140" cy="1780398"/>
          </a:xfrm>
        </p:grpSpPr>
        <p:sp>
          <p:nvSpPr>
            <p:cNvPr id="95" name="직사각형 94"/>
            <p:cNvSpPr/>
            <p:nvPr/>
          </p:nvSpPr>
          <p:spPr>
            <a:xfrm>
              <a:off x="4292776" y="1002602"/>
              <a:ext cx="1230600" cy="924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image</a:t>
              </a:r>
              <a:endParaRPr kumimoji="0" lang="ko-KR" alt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4296063" y="997538"/>
              <a:ext cx="1232140" cy="178039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5675776" y="1002602"/>
              <a:ext cx="1230600" cy="924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image</a:t>
              </a:r>
              <a:endParaRPr kumimoji="0" lang="ko-KR" alt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5677316" y="997538"/>
              <a:ext cx="1232140" cy="178039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7058776" y="1001726"/>
              <a:ext cx="1232140" cy="177621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71" name="직사각형 70"/>
          <p:cNvSpPr/>
          <p:nvPr/>
        </p:nvSpPr>
        <p:spPr>
          <a:xfrm>
            <a:off x="7325911" y="3911383"/>
            <a:ext cx="988666" cy="1996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6958579" y="1825410"/>
            <a:ext cx="612000" cy="180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90300" latinLnBrk="0">
              <a:defRPr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만원의 행복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088485" y="6038706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BOTTOM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06657" y="490943"/>
            <a:ext cx="3240000" cy="3404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TOP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626" y="1062863"/>
            <a:ext cx="149838" cy="14983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60306" y="992553"/>
            <a:ext cx="2952000" cy="2880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국가∙도시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∙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랜드마크∙상품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등으로 검색 가능합니다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77DBAB-4511-46F5-B8D5-FA7468EFE7C6}"/>
              </a:ext>
            </a:extLst>
          </p:cNvPr>
          <p:cNvSpPr/>
          <p:nvPr/>
        </p:nvSpPr>
        <p:spPr>
          <a:xfrm>
            <a:off x="415366" y="1746233"/>
            <a:ext cx="3229200" cy="24952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유니버설 스튜디오 재팬</a:t>
            </a:r>
            <a:endParaRPr kumimoji="0" lang="en-US" altLang="ko-KR" sz="1200" b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이용 </a:t>
            </a:r>
            <a:r>
              <a:rPr kumimoji="0" lang="ko-KR" alt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꿀팁</a:t>
            </a:r>
            <a:r>
              <a:rPr kumimoji="0"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!!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77DBAB-4511-46F5-B8D5-FA7468EFE7C6}"/>
              </a:ext>
            </a:extLst>
          </p:cNvPr>
          <p:cNvSpPr/>
          <p:nvPr/>
        </p:nvSpPr>
        <p:spPr>
          <a:xfrm>
            <a:off x="420077" y="4492844"/>
            <a:ext cx="3229200" cy="122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미국 여행의 시작</a:t>
            </a:r>
            <a:endParaRPr kumimoji="0" lang="en-US" altLang="ko-KR" sz="800" b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USA</a:t>
            </a:r>
            <a:r>
              <a:rPr kumimoji="0"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여행의 모든 준비물</a:t>
            </a:r>
            <a:endParaRPr kumimoji="0"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b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#</a:t>
            </a:r>
            <a:r>
              <a:rPr kumimoji="0" lang="ko-KR" altLang="en-US" sz="800" b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미서부</a:t>
            </a:r>
            <a:r>
              <a:rPr kumimoji="0" lang="ko-KR" altLang="en-US" sz="800" b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kumimoji="0" lang="en-US" altLang="ko-KR" sz="800" b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#</a:t>
            </a:r>
            <a:r>
              <a:rPr kumimoji="0" lang="ko-KR" altLang="en-US" sz="800" b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뉴욕 </a:t>
            </a:r>
            <a:r>
              <a:rPr kumimoji="0" lang="en-US" altLang="ko-KR" sz="800" b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#</a:t>
            </a:r>
            <a:r>
              <a:rPr kumimoji="0" lang="ko-KR" altLang="en-US" sz="800" b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나이아가라</a:t>
            </a:r>
            <a:endParaRPr kumimoji="0" lang="en-US" altLang="ko-KR" sz="800" b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1822842" y="3912947"/>
            <a:ext cx="72000" cy="72000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975242" y="3911444"/>
            <a:ext cx="72000" cy="72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2127642" y="3909937"/>
            <a:ext cx="72000" cy="72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2272784" y="3909937"/>
            <a:ext cx="72000" cy="72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1670442" y="3912947"/>
            <a:ext cx="72000" cy="72000"/>
          </a:xfrm>
          <a:prstGeom prst="ellipse">
            <a:avLst/>
          </a:prstGeom>
          <a:solidFill>
            <a:srgbClr val="BB0560"/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716039"/>
              </p:ext>
            </p:extLst>
          </p:nvPr>
        </p:nvGraphicFramePr>
        <p:xfrm>
          <a:off x="9552384" y="8546"/>
          <a:ext cx="2635809" cy="7112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CHP-MO-FND-9999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FND_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메인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메인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현지투어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패스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입장권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Sub Main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페이지 정의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 창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 시 검색 페이지 팝업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(CHP-MO-FND-9998)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인기상품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기준정의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필요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어떤 기준으로 상품을 노출하나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?)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총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6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개의 인기상품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해당 텍스트 클릭 시 해당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상품의 상세 페이지로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좌우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스와이프로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상품 확인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6562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이벤트 배너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배너 최대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우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스와이프를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통해 이벤트 확인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- 3a)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배너 영역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해당 이벤트 상세 화면으로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- 3b)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배너의 순서 확인 및 클릭을 통해 배너 전환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9728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여행 국가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도시 안내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배너 영역 터치 시 해당 국가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도시의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현지투어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∙패스∙입장권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상품 리스트 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(CHP-MO-FND-9995)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-4a)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해당 국가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도시의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현지투어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∙패스∙입장권의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상품 개수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6529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여행 국가의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현지투어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∙패스∙입장권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리스트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리스트 최대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14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개 노출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기준 정의 필요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많은 상품 중 어떤 상품을 노출 시키는 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?)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좌우로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스와이프하여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콘텐츠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해당 상품 영역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이미지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~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가격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터치시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해당 상품상세 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(CHP-MO-FMD-9994 or CHP-MO-FND-9993)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- 5a)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상품의 대표 이미지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- 5b)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상품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라벨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- 5c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상품명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(3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줄 이상일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2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줄에서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…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처리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- 5d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할인율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할인하지 않을 시 표시하지 않음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- 5e)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금액 노출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기준일자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기준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- 5f)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상품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더보기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버튼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노출된 리스트 이외의 다른 상품리스트를 보고 싶을 경우 클릭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클릭 시 해당 국가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도시의 상품 리스트페이지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(CHP-MO-FMD-9995)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로 이동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상품리스트의 맨 오른쪽에 위치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74579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번과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번을 하나의 세트로 취급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총 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개의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국가및도시와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관련된 정보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어떤 국가와 도시를 노출할 것인지 정의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37549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676012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3667485" y="5586514"/>
            <a:ext cx="420999" cy="650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0" name="물결 19">
            <a:extLst>
              <a:ext uri="{FF2B5EF4-FFF2-40B4-BE49-F238E27FC236}">
                <a16:creationId xmlns:a16="http://schemas.microsoft.com/office/drawing/2014/main" id="{A877E3DC-9823-4C9B-B3C6-78850DE4C0D8}"/>
              </a:ext>
            </a:extLst>
          </p:cNvPr>
          <p:cNvSpPr/>
          <p:nvPr/>
        </p:nvSpPr>
        <p:spPr>
          <a:xfrm>
            <a:off x="416388" y="6084439"/>
            <a:ext cx="3251097" cy="219990"/>
          </a:xfrm>
          <a:prstGeom prst="wav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dirty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아래에서 계속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328485" y="850202"/>
            <a:ext cx="420999" cy="650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143663" y="845138"/>
            <a:ext cx="1232140" cy="17803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40392" y="2021359"/>
            <a:ext cx="12305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캘리포니아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디즈니랜드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일권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특가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en-US" altLang="ko-KR" sz="1000" dirty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13% </a:t>
            </a:r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100,410</a:t>
            </a:r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원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5523376" y="850202"/>
            <a:ext cx="1230600" cy="9245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image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524916" y="845138"/>
            <a:ext cx="1232140" cy="17803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529684" y="2025883"/>
            <a:ext cx="12305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캘리포니아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디즈니랜드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일권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특가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en-US" altLang="ko-KR" sz="1000" dirty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13% </a:t>
            </a:r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100,410</a:t>
            </a:r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원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6906376" y="849326"/>
            <a:ext cx="1232140" cy="1776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96205" y="2020171"/>
            <a:ext cx="12305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[LA]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유니버설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스튜디오 할리우드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일반권</a:t>
            </a:r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  <a:p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en-US" altLang="ko-KR" sz="1000" dirty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14% </a:t>
            </a:r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96,400</a:t>
            </a:r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원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7330873" y="723357"/>
            <a:ext cx="988666" cy="1996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1" name="물결 20">
            <a:extLst>
              <a:ext uri="{FF2B5EF4-FFF2-40B4-BE49-F238E27FC236}">
                <a16:creationId xmlns:a16="http://schemas.microsoft.com/office/drawing/2014/main" id="{A877E3DC-9823-4C9B-B3C6-78850DE4C0D8}"/>
              </a:ext>
            </a:extLst>
          </p:cNvPr>
          <p:cNvSpPr/>
          <p:nvPr/>
        </p:nvSpPr>
        <p:spPr>
          <a:xfrm>
            <a:off x="4088485" y="602794"/>
            <a:ext cx="3251097" cy="219990"/>
          </a:xfrm>
          <a:prstGeom prst="wav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dirty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위에서 계속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7389471" y="4114283"/>
            <a:ext cx="420999" cy="650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143663" y="5278737"/>
            <a:ext cx="12305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다낭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코코베이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시티투어 버스 ★무료증정★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en-US" altLang="ko-KR" sz="1000" dirty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100% </a:t>
            </a:r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0</a:t>
            </a:r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26472" y="5262389"/>
            <a:ext cx="12305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다낭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공항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단독픽업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다낭호텔로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이동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14,000</a:t>
            </a:r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원</a:t>
            </a:r>
          </a:p>
        </p:txBody>
      </p:sp>
      <p:sp>
        <p:nvSpPr>
          <p:cNvPr id="74" name="모서리가 둥근 직사각형 73"/>
          <p:cNvSpPr/>
          <p:nvPr/>
        </p:nvSpPr>
        <p:spPr>
          <a:xfrm>
            <a:off x="985173" y="5405896"/>
            <a:ext cx="1980138" cy="195565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u="sng" dirty="0">
                <a:latin typeface="나눔고딕" panose="020B0600000101010101" charset="-127"/>
                <a:ea typeface="나눔고딕" panose="020B0600000101010101" charset="-127"/>
              </a:rPr>
              <a:t>200</a:t>
            </a:r>
            <a:r>
              <a:rPr lang="ko-KR" altLang="en-US" sz="800" u="sng" dirty="0">
                <a:latin typeface="나눔고딕" panose="020B0600000101010101" charset="-127"/>
                <a:ea typeface="나눔고딕" panose="020B0600000101010101" charset="-127"/>
              </a:rPr>
              <a:t>개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의</a:t>
            </a:r>
            <a:r>
              <a:rPr lang="ko-KR" altLang="en-US" sz="800" u="sng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현지투어∙패스∙입장권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D77DBAB-4511-46F5-B8D5-FA7468EFE7C6}"/>
              </a:ext>
            </a:extLst>
          </p:cNvPr>
          <p:cNvSpPr/>
          <p:nvPr/>
        </p:nvSpPr>
        <p:spPr>
          <a:xfrm>
            <a:off x="4097535" y="2724610"/>
            <a:ext cx="3220908" cy="122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지금 가장 </a:t>
            </a:r>
            <a:r>
              <a:rPr kumimoji="0"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핫한</a:t>
            </a:r>
            <a:r>
              <a:rPr kumimoji="0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여행지</a:t>
            </a:r>
            <a:endParaRPr kumimoji="0" lang="en-US" altLang="ko-KR" sz="800" b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다낭</a:t>
            </a:r>
            <a:r>
              <a:rPr kumimoji="0"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kumimoji="0"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하노이 베트남 전 지역</a:t>
            </a:r>
            <a:endParaRPr kumimoji="0"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00" b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휴양과 </a:t>
            </a:r>
            <a:r>
              <a:rPr kumimoji="0"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즐길거리</a:t>
            </a:r>
            <a:r>
              <a:rPr kumimoji="0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kumimoji="0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도시의 낭만</a:t>
            </a:r>
            <a:r>
              <a:rPr kumimoji="0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kumimoji="0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역사적 감흥까지</a:t>
            </a:r>
            <a:endParaRPr kumimoji="0"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4667711" y="3637662"/>
            <a:ext cx="1980138" cy="195565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u="sng" dirty="0">
                <a:latin typeface="나눔고딕" panose="020B0600000101010101" charset="-127"/>
                <a:ea typeface="나눔고딕" panose="020B0600000101010101" charset="-127"/>
              </a:rPr>
              <a:t>140</a:t>
            </a:r>
            <a:r>
              <a:rPr lang="ko-KR" altLang="en-US" sz="800" u="sng" dirty="0">
                <a:latin typeface="나눔고딕" panose="020B0600000101010101" charset="-127"/>
                <a:ea typeface="나눔고딕" panose="020B0600000101010101" charset="-127"/>
              </a:rPr>
              <a:t>개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의</a:t>
            </a:r>
            <a:r>
              <a:rPr lang="ko-KR" altLang="en-US" sz="800" u="sng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현지투어∙패스∙입장권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452306" y="185418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9" name="타원 78"/>
          <p:cNvSpPr/>
          <p:nvPr/>
        </p:nvSpPr>
        <p:spPr>
          <a:xfrm>
            <a:off x="947440" y="250996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3a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1418804" y="382254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3b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544192" y="457594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4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2" name="타원 81"/>
          <p:cNvSpPr/>
          <p:nvPr/>
        </p:nvSpPr>
        <p:spPr>
          <a:xfrm>
            <a:off x="1055440" y="533760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4a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3949170" y="70657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5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4012392" y="2037389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5c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5" name="오른쪽 대괄호 84"/>
          <p:cNvSpPr/>
          <p:nvPr/>
        </p:nvSpPr>
        <p:spPr>
          <a:xfrm flipH="1">
            <a:off x="3943421" y="2757782"/>
            <a:ext cx="133254" cy="3087900"/>
          </a:xfrm>
          <a:prstGeom prst="righ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3841170" y="402406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6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1706442" y="3199613"/>
            <a:ext cx="625008" cy="224234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18000" rIns="36000" bIns="18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자세히보기</a:t>
            </a:r>
          </a:p>
        </p:txBody>
      </p:sp>
      <p:grpSp>
        <p:nvGrpSpPr>
          <p:cNvPr id="91" name="그룹 90"/>
          <p:cNvGrpSpPr/>
          <p:nvPr/>
        </p:nvGrpSpPr>
        <p:grpSpPr>
          <a:xfrm>
            <a:off x="8516393" y="1354969"/>
            <a:ext cx="747959" cy="666390"/>
            <a:chOff x="7446264" y="1016704"/>
            <a:chExt cx="747959" cy="666390"/>
          </a:xfrm>
        </p:grpSpPr>
        <p:sp>
          <p:nvSpPr>
            <p:cNvPr id="89" name="타원 88"/>
            <p:cNvSpPr/>
            <p:nvPr/>
          </p:nvSpPr>
          <p:spPr>
            <a:xfrm>
              <a:off x="7712244" y="1016704"/>
              <a:ext cx="216000" cy="216000"/>
            </a:xfrm>
            <a:prstGeom prst="ellipse">
              <a:avLst/>
            </a:prstGeom>
            <a:solidFill>
              <a:srgbClr val="BB05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latin typeface="나눔고딕" panose="020B0600000101010101" charset="-127"/>
                  <a:ea typeface="나눔고딕" panose="020B0600000101010101" charset="-127"/>
                </a:rPr>
                <a:t>+</a:t>
              </a:r>
              <a:endParaRPr lang="ko-KR" altLang="en-US" sz="1000" b="1" dirty="0"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446264" y="1267596"/>
              <a:ext cx="74795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BB0560"/>
                  </a:solidFill>
                  <a:latin typeface="나눔고딕" panose="020B0600000101010101" charset="-127"/>
                  <a:ea typeface="나눔고딕" panose="020B0600000101010101" charset="-127"/>
                </a:rPr>
                <a:t>상품</a:t>
              </a:r>
              <a:endParaRPr lang="en-US" altLang="ko-KR" sz="105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  <a:p>
              <a:pPr algn="ctr"/>
              <a:r>
                <a:rPr lang="ko-KR" altLang="en-US" sz="1050" dirty="0" err="1">
                  <a:solidFill>
                    <a:srgbClr val="BB0560"/>
                  </a:solidFill>
                  <a:latin typeface="나눔고딕" panose="020B0600000101010101" charset="-127"/>
                  <a:ea typeface="나눔고딕" panose="020B0600000101010101" charset="-127"/>
                </a:rPr>
                <a:t>더보기</a:t>
              </a:r>
              <a:endParaRPr lang="ko-KR" altLang="en-US" sz="105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92" name="타원 91"/>
          <p:cNvSpPr/>
          <p:nvPr/>
        </p:nvSpPr>
        <p:spPr>
          <a:xfrm>
            <a:off x="4642730" y="121049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5a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4193825" y="1825410"/>
            <a:ext cx="612000" cy="180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90300" latinLnBrk="0">
              <a:defRPr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특가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5570296" y="1831529"/>
            <a:ext cx="612000" cy="180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90300" latinLnBrk="0">
              <a:defRPr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브랜드 출범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4191450" y="5077511"/>
            <a:ext cx="612000" cy="180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90300" latinLnBrk="0">
              <a:defRPr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무료증정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5567921" y="5083630"/>
            <a:ext cx="612000" cy="180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90300" latinLnBrk="0">
              <a:defRPr/>
            </a:pP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단독픽업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413064" y="91494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4071618" y="173561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5b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6" name="타원 105"/>
          <p:cNvSpPr/>
          <p:nvPr/>
        </p:nvSpPr>
        <p:spPr>
          <a:xfrm>
            <a:off x="4016860" y="244213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5d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4508788" y="254178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5e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8" name="타원 107"/>
          <p:cNvSpPr/>
          <p:nvPr/>
        </p:nvSpPr>
        <p:spPr>
          <a:xfrm>
            <a:off x="8786253" y="61535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5f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 flipH="1">
            <a:off x="7036184" y="919328"/>
            <a:ext cx="841453" cy="252000"/>
            <a:chOff x="7515052" y="1199748"/>
            <a:chExt cx="841453" cy="252000"/>
          </a:xfrm>
        </p:grpSpPr>
        <p:sp>
          <p:nvSpPr>
            <p:cNvPr id="109" name="타원 108"/>
            <p:cNvSpPr/>
            <p:nvPr/>
          </p:nvSpPr>
          <p:spPr>
            <a:xfrm>
              <a:off x="8104505" y="1199748"/>
              <a:ext cx="252000" cy="252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10" name="오른쪽 화살표 109"/>
            <p:cNvSpPr/>
            <p:nvPr/>
          </p:nvSpPr>
          <p:spPr>
            <a:xfrm>
              <a:off x="7515052" y="1219917"/>
              <a:ext cx="545434" cy="21600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111" name="물결 110">
            <a:extLst>
              <a:ext uri="{FF2B5EF4-FFF2-40B4-BE49-F238E27FC236}">
                <a16:creationId xmlns:a16="http://schemas.microsoft.com/office/drawing/2014/main" id="{A877E3DC-9823-4C9B-B3C6-78850DE4C0D8}"/>
              </a:ext>
            </a:extLst>
          </p:cNvPr>
          <p:cNvSpPr/>
          <p:nvPr/>
        </p:nvSpPr>
        <p:spPr>
          <a:xfrm>
            <a:off x="4088484" y="5896860"/>
            <a:ext cx="3251097" cy="219990"/>
          </a:xfrm>
          <a:prstGeom prst="wav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noProof="0" dirty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생략</a:t>
            </a:r>
            <a:endParaRPr kumimoji="0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2" name="Text Box 28"/>
          <p:cNvSpPr txBox="1">
            <a:spLocks noChangeArrowheads="1"/>
          </p:cNvSpPr>
          <p:nvPr/>
        </p:nvSpPr>
        <p:spPr bwMode="auto">
          <a:xfrm>
            <a:off x="7483950" y="1051603"/>
            <a:ext cx="654566" cy="45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 anchor="ctr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……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4" name="Text Box 28"/>
          <p:cNvSpPr txBox="1">
            <a:spLocks noChangeArrowheads="1"/>
          </p:cNvSpPr>
          <p:nvPr/>
        </p:nvSpPr>
        <p:spPr bwMode="auto">
          <a:xfrm>
            <a:off x="7540303" y="4333125"/>
            <a:ext cx="654566" cy="45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 anchor="ctr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……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8541284" y="849326"/>
            <a:ext cx="660083" cy="17803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8512167" y="4600952"/>
            <a:ext cx="747959" cy="666390"/>
            <a:chOff x="7446264" y="1016704"/>
            <a:chExt cx="747959" cy="666390"/>
          </a:xfrm>
        </p:grpSpPr>
        <p:sp>
          <p:nvSpPr>
            <p:cNvPr id="118" name="타원 117"/>
            <p:cNvSpPr/>
            <p:nvPr/>
          </p:nvSpPr>
          <p:spPr>
            <a:xfrm>
              <a:off x="7712244" y="1016704"/>
              <a:ext cx="216000" cy="216000"/>
            </a:xfrm>
            <a:prstGeom prst="ellipse">
              <a:avLst/>
            </a:prstGeom>
            <a:solidFill>
              <a:srgbClr val="BB05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b="1" dirty="0">
                  <a:latin typeface="나눔고딕" panose="020B0600000101010101" charset="-127"/>
                  <a:ea typeface="나눔고딕" panose="020B0600000101010101" charset="-127"/>
                </a:rPr>
                <a:t>+</a:t>
              </a:r>
              <a:endParaRPr lang="ko-KR" altLang="en-US" sz="1000" b="1" dirty="0"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446264" y="1267596"/>
              <a:ext cx="74795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BB0560"/>
                  </a:solidFill>
                  <a:latin typeface="나눔고딕" panose="020B0600000101010101" charset="-127"/>
                  <a:ea typeface="나눔고딕" panose="020B0600000101010101" charset="-127"/>
                </a:rPr>
                <a:t>상품</a:t>
              </a:r>
              <a:endParaRPr lang="en-US" altLang="ko-KR" sz="105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  <a:p>
              <a:pPr algn="ctr"/>
              <a:r>
                <a:rPr lang="ko-KR" altLang="en-US" sz="1050" dirty="0" err="1">
                  <a:solidFill>
                    <a:srgbClr val="BB0560"/>
                  </a:solidFill>
                  <a:latin typeface="나눔고딕" panose="020B0600000101010101" charset="-127"/>
                  <a:ea typeface="나눔고딕" panose="020B0600000101010101" charset="-127"/>
                </a:rPr>
                <a:t>더보기</a:t>
              </a:r>
              <a:endParaRPr lang="ko-KR" altLang="en-US" sz="105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120" name="직사각형 119"/>
          <p:cNvSpPr/>
          <p:nvPr/>
        </p:nvSpPr>
        <p:spPr>
          <a:xfrm>
            <a:off x="8537058" y="4095309"/>
            <a:ext cx="660083" cy="17803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1999" y="1312854"/>
            <a:ext cx="35801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미주공항픽업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천원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’  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공짜티켓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-’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싱가폴편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’ 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바티칸반일투어 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그뤠잇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!  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보라</a:t>
            </a:r>
          </a:p>
        </p:txBody>
      </p:sp>
      <p:sp>
        <p:nvSpPr>
          <p:cNvPr id="121" name="직사각형 120"/>
          <p:cNvSpPr/>
          <p:nvPr/>
        </p:nvSpPr>
        <p:spPr>
          <a:xfrm>
            <a:off x="3660727" y="1145874"/>
            <a:ext cx="320941" cy="805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25" name="타원 124"/>
          <p:cNvSpPr/>
          <p:nvPr/>
        </p:nvSpPr>
        <p:spPr>
          <a:xfrm>
            <a:off x="217027" y="132951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127" name="그룹 126"/>
          <p:cNvGrpSpPr/>
          <p:nvPr/>
        </p:nvGrpSpPr>
        <p:grpSpPr>
          <a:xfrm flipH="1">
            <a:off x="7043930" y="4153620"/>
            <a:ext cx="841453" cy="252000"/>
            <a:chOff x="7515052" y="1199748"/>
            <a:chExt cx="841453" cy="252000"/>
          </a:xfrm>
        </p:grpSpPr>
        <p:sp>
          <p:nvSpPr>
            <p:cNvPr id="128" name="타원 127"/>
            <p:cNvSpPr/>
            <p:nvPr/>
          </p:nvSpPr>
          <p:spPr>
            <a:xfrm>
              <a:off x="8104505" y="1199748"/>
              <a:ext cx="252000" cy="252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29" name="오른쪽 화살표 128"/>
            <p:cNvSpPr/>
            <p:nvPr/>
          </p:nvSpPr>
          <p:spPr>
            <a:xfrm>
              <a:off x="7515052" y="1219917"/>
              <a:ext cx="545434" cy="21600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 flipH="1">
            <a:off x="92734" y="3003374"/>
            <a:ext cx="841453" cy="252000"/>
            <a:chOff x="7515052" y="1199748"/>
            <a:chExt cx="841453" cy="252000"/>
          </a:xfrm>
        </p:grpSpPr>
        <p:sp>
          <p:nvSpPr>
            <p:cNvPr id="134" name="타원 133"/>
            <p:cNvSpPr/>
            <p:nvPr/>
          </p:nvSpPr>
          <p:spPr>
            <a:xfrm>
              <a:off x="8104505" y="1199748"/>
              <a:ext cx="252000" cy="252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35" name="오른쪽 화살표 134"/>
            <p:cNvSpPr/>
            <p:nvPr/>
          </p:nvSpPr>
          <p:spPr>
            <a:xfrm>
              <a:off x="7515052" y="1219917"/>
              <a:ext cx="545434" cy="21600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970097" y="3002191"/>
            <a:ext cx="841453" cy="252000"/>
            <a:chOff x="7515052" y="1199748"/>
            <a:chExt cx="841453" cy="252000"/>
          </a:xfrm>
        </p:grpSpPr>
        <p:sp>
          <p:nvSpPr>
            <p:cNvPr id="137" name="타원 136"/>
            <p:cNvSpPr/>
            <p:nvPr/>
          </p:nvSpPr>
          <p:spPr>
            <a:xfrm>
              <a:off x="8104505" y="1199748"/>
              <a:ext cx="252000" cy="252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38" name="오른쪽 화살표 137"/>
            <p:cNvSpPr/>
            <p:nvPr/>
          </p:nvSpPr>
          <p:spPr>
            <a:xfrm>
              <a:off x="7515052" y="1219917"/>
              <a:ext cx="545434" cy="21600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grpSp>
        <p:nvGrpSpPr>
          <p:cNvPr id="126" name="Placeholder">
            <a:extLst>
              <a:ext uri="{FF2B5EF4-FFF2-40B4-BE49-F238E27FC236}">
                <a16:creationId xmlns:a16="http://schemas.microsoft.com/office/drawing/2014/main" id="{DFD8BAA8-3B9C-4A66-8075-5BF07551AA22}"/>
              </a:ext>
            </a:extLst>
          </p:cNvPr>
          <p:cNvGrpSpPr>
            <a:grpSpLocks/>
          </p:cNvGrpSpPr>
          <p:nvPr/>
        </p:nvGrpSpPr>
        <p:grpSpPr bwMode="auto">
          <a:xfrm>
            <a:off x="5537798" y="854851"/>
            <a:ext cx="1209257" cy="915609"/>
            <a:chOff x="508000" y="1397000"/>
            <a:chExt cx="1008112" cy="1008112"/>
          </a:xfrm>
          <a:solidFill>
            <a:srgbClr val="FFFFFF"/>
          </a:solidFill>
        </p:grpSpPr>
        <p:sp>
          <p:nvSpPr>
            <p:cNvPr id="130" name="Border">
              <a:extLst>
                <a:ext uri="{FF2B5EF4-FFF2-40B4-BE49-F238E27FC236}">
                  <a16:creationId xmlns:a16="http://schemas.microsoft.com/office/drawing/2014/main" id="{2F02686A-8563-4620-9E9A-B11442FC0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31" name="Line 2">
              <a:extLst>
                <a:ext uri="{FF2B5EF4-FFF2-40B4-BE49-F238E27FC236}">
                  <a16:creationId xmlns:a16="http://schemas.microsoft.com/office/drawing/2014/main" id="{314FBD14-B28D-448F-995D-B4FE61E68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32" name="Line 1">
              <a:extLst>
                <a:ext uri="{FF2B5EF4-FFF2-40B4-BE49-F238E27FC236}">
                  <a16:creationId xmlns:a16="http://schemas.microsoft.com/office/drawing/2014/main" id="{EFB0870A-11C9-469E-9A98-90CB82882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43" name="Placeholder">
            <a:extLst>
              <a:ext uri="{FF2B5EF4-FFF2-40B4-BE49-F238E27FC236}">
                <a16:creationId xmlns:a16="http://schemas.microsoft.com/office/drawing/2014/main" id="{DFD8BAA8-3B9C-4A66-8075-5BF07551AA22}"/>
              </a:ext>
            </a:extLst>
          </p:cNvPr>
          <p:cNvGrpSpPr>
            <a:grpSpLocks/>
          </p:cNvGrpSpPr>
          <p:nvPr/>
        </p:nvGrpSpPr>
        <p:grpSpPr bwMode="auto">
          <a:xfrm>
            <a:off x="4146101" y="4106622"/>
            <a:ext cx="1209257" cy="915609"/>
            <a:chOff x="508000" y="1397000"/>
            <a:chExt cx="1008112" cy="1008112"/>
          </a:xfrm>
          <a:solidFill>
            <a:srgbClr val="FFFFFF"/>
          </a:solidFill>
        </p:grpSpPr>
        <p:sp>
          <p:nvSpPr>
            <p:cNvPr id="144" name="Border">
              <a:extLst>
                <a:ext uri="{FF2B5EF4-FFF2-40B4-BE49-F238E27FC236}">
                  <a16:creationId xmlns:a16="http://schemas.microsoft.com/office/drawing/2014/main" id="{2F02686A-8563-4620-9E9A-B11442FC0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5" name="Line 2">
              <a:extLst>
                <a:ext uri="{FF2B5EF4-FFF2-40B4-BE49-F238E27FC236}">
                  <a16:creationId xmlns:a16="http://schemas.microsoft.com/office/drawing/2014/main" id="{314FBD14-B28D-448F-995D-B4FE61E68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6" name="Line 1">
              <a:extLst>
                <a:ext uri="{FF2B5EF4-FFF2-40B4-BE49-F238E27FC236}">
                  <a16:creationId xmlns:a16="http://schemas.microsoft.com/office/drawing/2014/main" id="{EFB0870A-11C9-469E-9A98-90CB82882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47" name="Placeholder">
            <a:extLst>
              <a:ext uri="{FF2B5EF4-FFF2-40B4-BE49-F238E27FC236}">
                <a16:creationId xmlns:a16="http://schemas.microsoft.com/office/drawing/2014/main" id="{DFD8BAA8-3B9C-4A66-8075-5BF07551AA22}"/>
              </a:ext>
            </a:extLst>
          </p:cNvPr>
          <p:cNvGrpSpPr>
            <a:grpSpLocks/>
          </p:cNvGrpSpPr>
          <p:nvPr/>
        </p:nvGrpSpPr>
        <p:grpSpPr bwMode="auto">
          <a:xfrm>
            <a:off x="5526472" y="4111513"/>
            <a:ext cx="1209257" cy="915609"/>
            <a:chOff x="508000" y="1397000"/>
            <a:chExt cx="1008112" cy="1008112"/>
          </a:xfrm>
          <a:solidFill>
            <a:srgbClr val="FFFFFF"/>
          </a:solidFill>
        </p:grpSpPr>
        <p:sp>
          <p:nvSpPr>
            <p:cNvPr id="148" name="Border">
              <a:extLst>
                <a:ext uri="{FF2B5EF4-FFF2-40B4-BE49-F238E27FC236}">
                  <a16:creationId xmlns:a16="http://schemas.microsoft.com/office/drawing/2014/main" id="{2F02686A-8563-4620-9E9A-B11442FC0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9" name="Line 2">
              <a:extLst>
                <a:ext uri="{FF2B5EF4-FFF2-40B4-BE49-F238E27FC236}">
                  <a16:creationId xmlns:a16="http://schemas.microsoft.com/office/drawing/2014/main" id="{314FBD14-B28D-448F-995D-B4FE61E68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0" name="Line 1">
              <a:extLst>
                <a:ext uri="{FF2B5EF4-FFF2-40B4-BE49-F238E27FC236}">
                  <a16:creationId xmlns:a16="http://schemas.microsoft.com/office/drawing/2014/main" id="{EFB0870A-11C9-469E-9A98-90CB82882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2543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표 66"/>
          <p:cNvGraphicFramePr>
            <a:graphicFrameLocks noGrp="1"/>
          </p:cNvGraphicFramePr>
          <p:nvPr/>
        </p:nvGraphicFramePr>
        <p:xfrm>
          <a:off x="485122" y="1276381"/>
          <a:ext cx="3082686" cy="2610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2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47499"/>
                  </a:ext>
                </a:extLst>
              </a:tr>
            </a:tbl>
          </a:graphicData>
        </a:graphic>
      </p:graphicFrame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418186"/>
              </p:ext>
            </p:extLst>
          </p:nvPr>
        </p:nvGraphicFramePr>
        <p:xfrm>
          <a:off x="9552384" y="-18429"/>
          <a:ext cx="2635809" cy="550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CHP-MO-FND-9998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FND_</a:t>
                      </a:r>
                      <a:r>
                        <a:rPr lang="ko-KR" altLang="en-US" sz="8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</a:t>
                      </a:r>
                      <a:r>
                        <a:rPr lang="en-US" altLang="ko-KR" sz="8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</a:t>
                      </a:r>
                      <a:r>
                        <a:rPr lang="ko-KR" altLang="en-US" sz="8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최근 </a:t>
                      </a:r>
                      <a:r>
                        <a:rPr lang="ko-KR" altLang="en-US" sz="800" b="1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검색어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현지투어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패스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입장권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_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최근 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 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입력필드를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터치하여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키패드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입력필드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문구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사리지고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커서 생김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뒤로가기버튼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 시 현지투어패스입장권 서브메인페이지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(CHP-MO-FND-9999)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탭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최근검색어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(default)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주요도시검색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탭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주요도시검색 탭으로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9728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최근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리스트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최신순으로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최대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20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 노출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 기준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년까지 노출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그 이후 자동 삭제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)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-3a)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최근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검색어가 없는 경우 문구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- 3b)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리스트의 좌측에 국가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도시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상품의 라벨 출력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- 3c)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국가와 도시의 경우 국가명과 도시명 출력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상품의 경우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상품명과 상품명 하단에 상품사용지역 출력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상품명이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3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줄 이상일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2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줄에서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…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처리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국가 및 도시 클릭 시 국가 및 도시의 상품 리스트 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(CHP-MO-FND-9995)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로 이동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클릭시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상품의 상세페이지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(CHP-MO-FND-9994 or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CHP-MO-FND-9993)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로 이동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-3d)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삭제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: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해당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삭제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-3e)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스크롤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영역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스크롤 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키패드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사라짐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-3f)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전체삭제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: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최근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전체 삭제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-3g)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취소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이전 화면으로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6529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키패드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키패드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히든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입력필드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키패드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745797"/>
                  </a:ext>
                </a:extLst>
              </a:tr>
              <a:tr h="171094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31153"/>
                  </a:ext>
                </a:extLst>
              </a:tr>
            </a:tbl>
          </a:graphicData>
        </a:graphic>
      </p:graphicFrame>
      <p:sp>
        <p:nvSpPr>
          <p:cNvPr id="15" name="Search"/>
          <p:cNvSpPr>
            <a:spLocks noChangeAspect="1" noEditPoints="1"/>
          </p:cNvSpPr>
          <p:nvPr/>
        </p:nvSpPr>
        <p:spPr bwMode="auto">
          <a:xfrm>
            <a:off x="3133044" y="956825"/>
            <a:ext cx="118788" cy="131610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5881" y="531262"/>
            <a:ext cx="2952000" cy="253164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국가∙도시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∙</a:t>
            </a:r>
            <a:r>
              <a:rPr lang="ko-KR" altLang="en-US" sz="800" dirty="0" err="1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랜드마크∙상품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등을 검색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36" y="590545"/>
            <a:ext cx="149838" cy="149838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3251832" y="531262"/>
            <a:ext cx="323594" cy="253164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368" y="199673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최근 검색어가 없을 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9776" y="199672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최근 검색어가 있을 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079776" y="476672"/>
            <a:ext cx="3240360" cy="3600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308889" y="541840"/>
            <a:ext cx="2952000" cy="253164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국가∙도시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∙</a:t>
            </a:r>
            <a:r>
              <a:rPr lang="ko-KR" altLang="en-US" sz="800" dirty="0" err="1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랜드마크∙상품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등을 검색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844" y="601123"/>
            <a:ext cx="149838" cy="149838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6944840" y="541840"/>
            <a:ext cx="323594" cy="253164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49816" y="498539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&lt;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47" name="Search"/>
          <p:cNvSpPr>
            <a:spLocks noChangeAspect="1" noEditPoints="1"/>
          </p:cNvSpPr>
          <p:nvPr/>
        </p:nvSpPr>
        <p:spPr bwMode="auto">
          <a:xfrm>
            <a:off x="6811248" y="949292"/>
            <a:ext cx="118788" cy="131610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/>
        </p:nvGraphicFramePr>
        <p:xfrm>
          <a:off x="411238" y="895327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최근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주요도시검색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" name="직사각형 54"/>
          <p:cNvSpPr/>
          <p:nvPr/>
        </p:nvSpPr>
        <p:spPr>
          <a:xfrm>
            <a:off x="411238" y="1163907"/>
            <a:ext cx="162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4090488" y="902643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최근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주요도시검색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" name="직사각형 56"/>
          <p:cNvSpPr/>
          <p:nvPr/>
        </p:nvSpPr>
        <p:spPr>
          <a:xfrm>
            <a:off x="4090488" y="1171223"/>
            <a:ext cx="162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85122" y="1635216"/>
            <a:ext cx="30827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최근 </a:t>
            </a:r>
            <a:r>
              <a:rPr lang="ko-KR" altLang="en-US" sz="1000" dirty="0" err="1">
                <a:latin typeface="나눔고딕" panose="020B0600000101010101" charset="-127"/>
                <a:ea typeface="나눔고딕" panose="020B0600000101010101" charset="-127"/>
              </a:rPr>
              <a:t>검색어</a:t>
            </a:r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내역이 없습니다</a:t>
            </a:r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59" name="그림 5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80"/>
          <a:stretch/>
        </p:blipFill>
        <p:spPr>
          <a:xfrm>
            <a:off x="415053" y="4265210"/>
            <a:ext cx="3240000" cy="2051599"/>
          </a:xfrm>
          <a:prstGeom prst="rect">
            <a:avLst/>
          </a:prstGeom>
        </p:spPr>
      </p:pic>
      <p:sp>
        <p:nvSpPr>
          <p:cNvPr id="60" name="직사각형 59"/>
          <p:cNvSpPr/>
          <p:nvPr/>
        </p:nvSpPr>
        <p:spPr>
          <a:xfrm>
            <a:off x="411238" y="3941210"/>
            <a:ext cx="3240000" cy="3240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취소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608" y="3995488"/>
            <a:ext cx="11521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595959"/>
                </a:solidFill>
                <a:latin typeface="나눔고딕" panose="020B0600000101010101" charset="-127"/>
                <a:ea typeface="나눔고딕" panose="020B0600000101010101" charset="-127"/>
              </a:rPr>
              <a:t>전체 삭제</a:t>
            </a: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80"/>
          <a:stretch/>
        </p:blipFill>
        <p:spPr>
          <a:xfrm>
            <a:off x="4087256" y="4265210"/>
            <a:ext cx="3240000" cy="2051599"/>
          </a:xfrm>
          <a:prstGeom prst="rect">
            <a:avLst/>
          </a:prstGeom>
        </p:spPr>
      </p:pic>
      <p:sp>
        <p:nvSpPr>
          <p:cNvPr id="64" name="직사각형 63"/>
          <p:cNvSpPr/>
          <p:nvPr/>
        </p:nvSpPr>
        <p:spPr>
          <a:xfrm>
            <a:off x="4083441" y="3941210"/>
            <a:ext cx="3240000" cy="3240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취소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5811" y="3995488"/>
            <a:ext cx="11521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595959"/>
                </a:solidFill>
                <a:latin typeface="나눔고딕" panose="020B0600000101010101" charset="-127"/>
                <a:ea typeface="나눔고딕" panose="020B0600000101010101" charset="-127"/>
              </a:rPr>
              <a:t>전체 삭제</a:t>
            </a: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4164944" y="1283719"/>
          <a:ext cx="3082686" cy="2577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2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일본</a:t>
                      </a:r>
                    </a:p>
                  </a:txBody>
                  <a:tcPr marL="84406" marR="84406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뉴캐슬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353"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괌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콤보팩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남부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반바퀴투어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드림크루즈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괌</a:t>
                      </a:r>
                    </a:p>
                  </a:txBody>
                  <a:tcPr marL="84406" marR="84406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13644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단독투어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가이드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차량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홍콩</a:t>
                      </a:r>
                    </a:p>
                  </a:txBody>
                  <a:tcPr marL="84406" marR="84406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3042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로컬홀릭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홍콩섬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남부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일투어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홍콩</a:t>
                      </a:r>
                    </a:p>
                  </a:txBody>
                  <a:tcPr marL="84406" marR="84406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유럽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 12GB 30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유심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오스트리아</a:t>
                      </a:r>
                    </a:p>
                  </a:txBody>
                  <a:tcPr marL="84406" marR="84406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49434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바티칸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&amp;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로마시내 전일 투어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latinLnBrk="1">
                        <a:lnSpc>
                          <a:spcPct val="110000"/>
                        </a:lnSpc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이탈리아</a:t>
                      </a:r>
                    </a:p>
                  </a:txBody>
                  <a:tcPr marL="84406" marR="84406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754440"/>
                  </a:ext>
                </a:extLst>
              </a:tr>
            </a:tbl>
          </a:graphicData>
        </a:graphic>
      </p:graphicFrame>
      <p:sp>
        <p:nvSpPr>
          <p:cNvPr id="69" name="타원 68"/>
          <p:cNvSpPr/>
          <p:nvPr/>
        </p:nvSpPr>
        <p:spPr>
          <a:xfrm>
            <a:off x="7019397" y="1350581"/>
            <a:ext cx="1440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latin typeface="나눔고딕" panose="020B0600000101010101" charset="-127"/>
                <a:ea typeface="나눔고딕" panose="020B0600000101010101" charset="-127"/>
              </a:rPr>
              <a:t>X</a:t>
            </a:r>
            <a:endParaRPr lang="ko-KR" altLang="en-US" sz="8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7019397" y="1646981"/>
            <a:ext cx="1440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latin typeface="나눔고딕" panose="020B0600000101010101" charset="-127"/>
                <a:ea typeface="나눔고딕" panose="020B0600000101010101" charset="-127"/>
              </a:rPr>
              <a:t>X</a:t>
            </a:r>
            <a:endParaRPr lang="ko-KR" altLang="en-US" sz="8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7019397" y="1999937"/>
            <a:ext cx="1440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latin typeface="나눔고딕" panose="020B0600000101010101" charset="-127"/>
                <a:ea typeface="나눔고딕" panose="020B0600000101010101" charset="-127"/>
              </a:rPr>
              <a:t>X</a:t>
            </a:r>
            <a:endParaRPr lang="ko-KR" altLang="en-US" sz="8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7019397" y="2416697"/>
            <a:ext cx="1440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latin typeface="나눔고딕" panose="020B0600000101010101" charset="-127"/>
                <a:ea typeface="나눔고딕" panose="020B0600000101010101" charset="-127"/>
              </a:rPr>
              <a:t>X</a:t>
            </a:r>
            <a:endParaRPr lang="ko-KR" altLang="en-US" sz="8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7019397" y="2865050"/>
            <a:ext cx="1440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latin typeface="나눔고딕" panose="020B0600000101010101" charset="-127"/>
                <a:ea typeface="나눔고딕" panose="020B0600000101010101" charset="-127"/>
              </a:rPr>
              <a:t>X</a:t>
            </a:r>
            <a:endParaRPr lang="ko-KR" altLang="en-US" sz="8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7019397" y="3252514"/>
            <a:ext cx="1440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latin typeface="나눔고딕" panose="020B0600000101010101" charset="-127"/>
                <a:ea typeface="나눔고딕" panose="020B0600000101010101" charset="-127"/>
              </a:rPr>
              <a:t>X</a:t>
            </a:r>
            <a:endParaRPr lang="ko-KR" altLang="en-US" sz="8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7019397" y="3626794"/>
            <a:ext cx="1440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latin typeface="나눔고딕" panose="020B0600000101010101" charset="-127"/>
                <a:ea typeface="나눔고딕" panose="020B0600000101010101" charset="-127"/>
              </a:rPr>
              <a:t>X</a:t>
            </a:r>
            <a:endParaRPr lang="ko-KR" altLang="en-US" sz="8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240964" y="48254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236820" y="92630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572182" y="1353171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9" name="타원 78"/>
          <p:cNvSpPr/>
          <p:nvPr/>
        </p:nvSpPr>
        <p:spPr>
          <a:xfrm>
            <a:off x="998371" y="163132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3a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2" name="타원 81"/>
          <p:cNvSpPr/>
          <p:nvPr/>
        </p:nvSpPr>
        <p:spPr>
          <a:xfrm>
            <a:off x="373307" y="3855839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3f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3188559" y="390536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3g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7277722" y="1199653"/>
            <a:ext cx="45719" cy="267417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7279295" y="1196071"/>
            <a:ext cx="50147" cy="72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6811248" y="127258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3d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7" name="타원 86"/>
          <p:cNvSpPr/>
          <p:nvPr/>
        </p:nvSpPr>
        <p:spPr>
          <a:xfrm>
            <a:off x="7300581" y="190082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3e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240964" y="430105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4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89" name="그룹 88"/>
          <p:cNvGrpSpPr/>
          <p:nvPr/>
        </p:nvGrpSpPr>
        <p:grpSpPr>
          <a:xfrm rot="16200000">
            <a:off x="6372522" y="3252886"/>
            <a:ext cx="841453" cy="252000"/>
            <a:chOff x="3535932" y="3056524"/>
            <a:chExt cx="841453" cy="252000"/>
          </a:xfrm>
        </p:grpSpPr>
        <p:sp>
          <p:nvSpPr>
            <p:cNvPr id="90" name="타원 89"/>
            <p:cNvSpPr/>
            <p:nvPr/>
          </p:nvSpPr>
          <p:spPr>
            <a:xfrm>
              <a:off x="4125385" y="3056524"/>
              <a:ext cx="252000" cy="252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91" name="오른쪽 화살표 90"/>
            <p:cNvSpPr/>
            <p:nvPr/>
          </p:nvSpPr>
          <p:spPr>
            <a:xfrm>
              <a:off x="3535932" y="3074524"/>
              <a:ext cx="545434" cy="21600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92" name="모서리가 둥근 직사각형 91"/>
          <p:cNvSpPr/>
          <p:nvPr/>
        </p:nvSpPr>
        <p:spPr>
          <a:xfrm>
            <a:off x="4249638" y="1334381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국가</a:t>
            </a:r>
          </a:p>
        </p:txBody>
      </p:sp>
      <p:sp>
        <p:nvSpPr>
          <p:cNvPr id="93" name="모서리가 둥근 직사각형 92"/>
          <p:cNvSpPr/>
          <p:nvPr/>
        </p:nvSpPr>
        <p:spPr>
          <a:xfrm>
            <a:off x="4249638" y="1614581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도시</a:t>
            </a:r>
          </a:p>
        </p:txBody>
      </p:sp>
      <p:sp>
        <p:nvSpPr>
          <p:cNvPr id="94" name="모서리가 둥근 직사각형 93"/>
          <p:cNvSpPr/>
          <p:nvPr/>
        </p:nvSpPr>
        <p:spPr>
          <a:xfrm>
            <a:off x="4249638" y="1999117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sp>
        <p:nvSpPr>
          <p:cNvPr id="95" name="모서리가 둥근 직사각형 94"/>
          <p:cNvSpPr/>
          <p:nvPr/>
        </p:nvSpPr>
        <p:spPr>
          <a:xfrm>
            <a:off x="4243709" y="2408753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BB0560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4249638" y="2832650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BB0560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4249638" y="3230717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BB0560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4249638" y="3602810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BB0560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8449865" y="5252646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국가</a:t>
            </a: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8456985" y="5543391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도시</a:t>
            </a:r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8449789" y="5847591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8179805" y="5045529"/>
            <a:ext cx="1152128" cy="1170358"/>
          </a:xfrm>
          <a:prstGeom prst="rect">
            <a:avLst/>
          </a:prstGeom>
          <a:noFill/>
          <a:ln w="6350"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134618" y="4797152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라벨 종류</a:t>
            </a:r>
          </a:p>
        </p:txBody>
      </p:sp>
      <p:cxnSp>
        <p:nvCxnSpPr>
          <p:cNvPr id="109" name="직선 화살표 연결선 108"/>
          <p:cNvCxnSpPr/>
          <p:nvPr/>
        </p:nvCxnSpPr>
        <p:spPr>
          <a:xfrm>
            <a:off x="8983091" y="6327954"/>
            <a:ext cx="3644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9347558" y="6193698"/>
            <a:ext cx="12961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‘</a:t>
            </a:r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공통</a:t>
            </a:r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’ </a:t>
            </a:r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에 추가 필요</a:t>
            </a:r>
          </a:p>
        </p:txBody>
      </p:sp>
      <p:sp>
        <p:nvSpPr>
          <p:cNvPr id="80" name="타원 79"/>
          <p:cNvSpPr/>
          <p:nvPr/>
        </p:nvSpPr>
        <p:spPr>
          <a:xfrm>
            <a:off x="4113489" y="1216951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3b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1" name="타원 110"/>
          <p:cNvSpPr/>
          <p:nvPr/>
        </p:nvSpPr>
        <p:spPr>
          <a:xfrm>
            <a:off x="5102084" y="124857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3c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3628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316068"/>
              </p:ext>
            </p:extLst>
          </p:nvPr>
        </p:nvGraphicFramePr>
        <p:xfrm>
          <a:off x="9552384" y="8546"/>
          <a:ext cx="2635809" cy="428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CHP-MO-FND-9997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FND_</a:t>
                      </a:r>
                      <a:r>
                        <a:rPr lang="ko-KR" altLang="en-US" sz="8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</a:t>
                      </a:r>
                      <a:r>
                        <a:rPr lang="en-US" altLang="ko-KR" sz="8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</a:t>
                      </a:r>
                      <a:r>
                        <a:rPr lang="ko-KR" altLang="en-US" sz="8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주요도시 검색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현지투어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패스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입장권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_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주요도시검색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 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입력필드를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터치하여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키패드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입력필드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문구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사리지고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커서 생김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뒤로가기버튼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 시 현지투어패스입장권 서브메인페이지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(CHP-MO-FND-9999)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탭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최근검색어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(default)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최근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검색어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탭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최근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탭으로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9728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주요도시검색 리스트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- 3a) 1depth 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일본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중국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동남아시아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남태평양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미주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유럽 총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6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가지의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depth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로 나누며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활성화된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depth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는 적색 글씨로 표시하며 활성화 되지 않은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depth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는 배경색을 회색으로 표시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- 3b) 2depth : 1depth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의 세부 국가 및 도시를 표시하며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스크롤을 통해 리스트를 확인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원하는 국가 및 도시를 클릭하여 상품 리스트 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(CHP-MO-FND-9995)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로 이동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- 3c)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스크롤 영역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6529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취소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이전 화면으로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74579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31153"/>
                  </a:ext>
                </a:extLst>
              </a:tr>
            </a:tbl>
          </a:graphicData>
        </a:graphic>
      </p:graphicFrame>
      <p:sp>
        <p:nvSpPr>
          <p:cNvPr id="15" name="Search"/>
          <p:cNvSpPr>
            <a:spLocks noChangeAspect="1" noEditPoints="1"/>
          </p:cNvSpPr>
          <p:nvPr/>
        </p:nvSpPr>
        <p:spPr bwMode="auto">
          <a:xfrm>
            <a:off x="3133044" y="956825"/>
            <a:ext cx="118788" cy="131610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5881" y="531262"/>
            <a:ext cx="2952000" cy="253164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국가∙도시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∙</a:t>
            </a:r>
            <a:r>
              <a:rPr lang="ko-KR" altLang="en-US" sz="800" dirty="0" err="1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랜드마크∙상품</a:t>
            </a:r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등을 검색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36" y="590545"/>
            <a:ext cx="149838" cy="149838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3251832" y="531262"/>
            <a:ext cx="323594" cy="253164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368" y="199673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주요도시검색</a:t>
            </a:r>
          </a:p>
        </p:txBody>
      </p:sp>
      <p:graphicFrame>
        <p:nvGraphicFramePr>
          <p:cNvPr id="54" name="표 53"/>
          <p:cNvGraphicFramePr>
            <a:graphicFrameLocks noGrp="1"/>
          </p:cNvGraphicFramePr>
          <p:nvPr/>
        </p:nvGraphicFramePr>
        <p:xfrm>
          <a:off x="411238" y="895327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최근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검색어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주요도시검색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" name="직사각형 54"/>
          <p:cNvSpPr/>
          <p:nvPr/>
        </p:nvSpPr>
        <p:spPr>
          <a:xfrm>
            <a:off x="2026465" y="1156388"/>
            <a:ext cx="162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240964" y="48254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236820" y="91463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52820" y="6046241"/>
            <a:ext cx="3122606" cy="1910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11238" y="5978687"/>
            <a:ext cx="3240000" cy="3240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취소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435963" y="1335499"/>
          <a:ext cx="3210501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493">
                  <a:extLst>
                    <a:ext uri="{9D8B030D-6E8A-4147-A177-3AD203B41FA5}">
                      <a16:colId xmlns:a16="http://schemas.microsoft.com/office/drawing/2014/main" val="150990281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920022056"/>
                    </a:ext>
                  </a:extLst>
                </a:gridCol>
                <a:gridCol w="2230984">
                  <a:extLst>
                    <a:ext uri="{9D8B030D-6E8A-4147-A177-3AD203B41FA5}">
                      <a16:colId xmlns:a16="http://schemas.microsoft.com/office/drawing/2014/main" val="94053977"/>
                    </a:ext>
                  </a:extLst>
                </a:gridCol>
              </a:tblGrid>
              <a:tr h="2076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rgbClr val="BB0560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일본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가고시마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017785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중국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가나자와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304098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동남아시아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고마츠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050735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남태평양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고베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942487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미주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고쿠라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2392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유럽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교토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256777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구로베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913933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구마모토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449534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기타큐슈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924997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나가노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704341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나가사키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50964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나고야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541449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나라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416921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나리타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952063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노보리벳츠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187031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니가타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364717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닛코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16854"/>
                  </a:ext>
                </a:extLst>
              </a:tr>
              <a:tr h="207682"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다자이후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03766"/>
                  </a:ext>
                </a:extLst>
              </a:tr>
            </a:tbl>
          </a:graphicData>
        </a:graphic>
      </p:graphicFrame>
      <p:sp>
        <p:nvSpPr>
          <p:cNvPr id="84" name="직사각형 83"/>
          <p:cNvSpPr/>
          <p:nvPr/>
        </p:nvSpPr>
        <p:spPr>
          <a:xfrm>
            <a:off x="3588914" y="1192591"/>
            <a:ext cx="61161" cy="479069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3588045" y="3140968"/>
            <a:ext cx="62029" cy="28386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4007768" y="332656"/>
            <a:ext cx="3384376" cy="6120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2" name="타원 101"/>
          <p:cNvSpPr/>
          <p:nvPr/>
        </p:nvSpPr>
        <p:spPr>
          <a:xfrm>
            <a:off x="245062" y="124753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3" name="타원 102"/>
          <p:cNvSpPr/>
          <p:nvPr/>
        </p:nvSpPr>
        <p:spPr>
          <a:xfrm>
            <a:off x="910343" y="1227499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3a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2098463" y="122729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3b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3165118" y="598150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4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3592196" y="212526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3c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109" name="그룹 108"/>
          <p:cNvGrpSpPr/>
          <p:nvPr/>
        </p:nvGrpSpPr>
        <p:grpSpPr>
          <a:xfrm rot="16200000">
            <a:off x="2897711" y="5249956"/>
            <a:ext cx="841453" cy="252000"/>
            <a:chOff x="3535932" y="3056524"/>
            <a:chExt cx="841453" cy="252000"/>
          </a:xfrm>
        </p:grpSpPr>
        <p:sp>
          <p:nvSpPr>
            <p:cNvPr id="110" name="타원 109"/>
            <p:cNvSpPr/>
            <p:nvPr/>
          </p:nvSpPr>
          <p:spPr>
            <a:xfrm>
              <a:off x="4125385" y="3056524"/>
              <a:ext cx="252000" cy="252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11" name="오른쪽 화살표 110"/>
            <p:cNvSpPr/>
            <p:nvPr/>
          </p:nvSpPr>
          <p:spPr>
            <a:xfrm>
              <a:off x="3535932" y="3074524"/>
              <a:ext cx="545434" cy="21600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2273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93"/>
          <p:cNvSpPr txBox="1"/>
          <p:nvPr/>
        </p:nvSpPr>
        <p:spPr>
          <a:xfrm>
            <a:off x="1009597" y="1617330"/>
            <a:ext cx="2527531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국내항공수령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중국본토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&amp; </a:t>
            </a:r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&amp;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마카오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4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박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5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유심칩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(SIM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카드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중국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68707" y="5987840"/>
            <a:ext cx="3168058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660569"/>
              </p:ext>
            </p:extLst>
          </p:nvPr>
        </p:nvGraphicFramePr>
        <p:xfrm>
          <a:off x="9552384" y="8546"/>
          <a:ext cx="2635809" cy="4651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CHP-MO-FND-9996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FND_</a:t>
                      </a:r>
                      <a:r>
                        <a:rPr lang="ko-KR" altLang="en-US" sz="8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</a:t>
                      </a:r>
                      <a:r>
                        <a:rPr lang="en-US" altLang="ko-KR" sz="8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_</a:t>
                      </a:r>
                      <a:r>
                        <a:rPr lang="ko-KR" altLang="en-US" sz="8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 결과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검색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현지투어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패스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입장권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_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 결과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입력필드에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검색한 문구 출력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뒤로가기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버튼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현지투어패스입장권 서브 메인 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CHP-MO-FND-9999)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로 이동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 X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버튼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입력필드의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삭제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 결과 출력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국가 도시 상품 순으로 출력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검색어와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동일한 글자는 적색으로 표시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- 2a)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리스트의 좌측에 국가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도시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상품의 라벨 출력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- 2b)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국가와 도시의 경우 국가명과 도시명 출력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</a:b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상품의 경우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상품명과 상품명 하단에 상품사용지역 출력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상품명이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3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줄 이상일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2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줄에서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…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처리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)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-2c)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페이지 이동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국가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도시의 경우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해당 국가 및 도시의 상품 리스트 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(CHP-MO-FND-9995)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로 이동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/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상품일 경우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상품의 상세 페이지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(CHP-MO-FMD-9994 or CHP-MO-FND-9993)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로 이동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-2d)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스크롤 영역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9728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취소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터치시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이전 화면으로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6529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 결과가 없을 시 출력되는 문구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74579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검색 결과와 관련된 정책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‘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통합검색결과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‘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참고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31153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615881" y="531262"/>
            <a:ext cx="2952000" cy="253164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36" y="590545"/>
            <a:ext cx="149838" cy="149838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3251832" y="531262"/>
            <a:ext cx="323594" cy="253164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7368" y="199673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검색 결과</a:t>
            </a:r>
          </a:p>
        </p:txBody>
      </p:sp>
      <p:sp>
        <p:nvSpPr>
          <p:cNvPr id="76" name="타원 75"/>
          <p:cNvSpPr/>
          <p:nvPr/>
        </p:nvSpPr>
        <p:spPr>
          <a:xfrm>
            <a:off x="243879" y="50882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499179" y="914545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국가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9288" y="888914"/>
            <a:ext cx="19803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410799" y="5983290"/>
            <a:ext cx="3240000" cy="3240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취소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417203" y="1196752"/>
            <a:ext cx="3233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61"/>
          <p:cNvSpPr/>
          <p:nvPr/>
        </p:nvSpPr>
        <p:spPr>
          <a:xfrm>
            <a:off x="499179" y="1309654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도시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9288" y="1290832"/>
            <a:ext cx="19803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</a:p>
        </p:txBody>
      </p:sp>
      <p:cxnSp>
        <p:nvCxnSpPr>
          <p:cNvPr id="84" name="직선 연결선 83"/>
          <p:cNvCxnSpPr/>
          <p:nvPr/>
        </p:nvCxnSpPr>
        <p:spPr>
          <a:xfrm>
            <a:off x="417203" y="1591861"/>
            <a:ext cx="3233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모서리가 둥근 직사각형 92"/>
          <p:cNvSpPr/>
          <p:nvPr/>
        </p:nvSpPr>
        <p:spPr>
          <a:xfrm>
            <a:off x="499111" y="1740432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cxnSp>
        <p:nvCxnSpPr>
          <p:cNvPr id="95" name="직선 연결선 94"/>
          <p:cNvCxnSpPr/>
          <p:nvPr/>
        </p:nvCxnSpPr>
        <p:spPr>
          <a:xfrm>
            <a:off x="417135" y="2120670"/>
            <a:ext cx="3233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1009597" y="2138088"/>
            <a:ext cx="252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마담투소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입장권 ★한국인전용단독특가★</a:t>
            </a:r>
            <a:endParaRPr lang="en-US" altLang="ko-KR" sz="10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</a:p>
        </p:txBody>
      </p:sp>
      <p:sp>
        <p:nvSpPr>
          <p:cNvPr id="98" name="모서리가 둥근 직사각형 97"/>
          <p:cNvSpPr/>
          <p:nvPr/>
        </p:nvSpPr>
        <p:spPr>
          <a:xfrm>
            <a:off x="499111" y="2206534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cxnSp>
        <p:nvCxnSpPr>
          <p:cNvPr id="99" name="직선 연결선 98"/>
          <p:cNvCxnSpPr/>
          <p:nvPr/>
        </p:nvCxnSpPr>
        <p:spPr>
          <a:xfrm>
            <a:off x="417135" y="2526950"/>
            <a:ext cx="3233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999830" y="2552267"/>
            <a:ext cx="252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로컬홀릭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+</a:t>
            </a:r>
            <a:r>
              <a:rPr lang="ko-KR" altLang="en-US" sz="800" dirty="0" err="1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남부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일 투어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</a:p>
        </p:txBody>
      </p:sp>
      <p:sp>
        <p:nvSpPr>
          <p:cNvPr id="102" name="모서리가 둥근 직사각형 101"/>
          <p:cNvSpPr/>
          <p:nvPr/>
        </p:nvSpPr>
        <p:spPr>
          <a:xfrm>
            <a:off x="496964" y="2620713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cxnSp>
        <p:nvCxnSpPr>
          <p:cNvPr id="103" name="직선 연결선 102"/>
          <p:cNvCxnSpPr/>
          <p:nvPr/>
        </p:nvCxnSpPr>
        <p:spPr>
          <a:xfrm>
            <a:off x="414988" y="2941129"/>
            <a:ext cx="3233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005527" y="2959267"/>
            <a:ext cx="252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단독투어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가이드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+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차량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495041" y="3027713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cxnSp>
        <p:nvCxnSpPr>
          <p:cNvPr id="107" name="직선 연결선 106"/>
          <p:cNvCxnSpPr/>
          <p:nvPr/>
        </p:nvCxnSpPr>
        <p:spPr>
          <a:xfrm>
            <a:off x="413065" y="3348129"/>
            <a:ext cx="3233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01119" y="3364542"/>
            <a:ext cx="252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랜드마크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오션파크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입장권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490633" y="3432988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cxnSp>
        <p:nvCxnSpPr>
          <p:cNvPr id="111" name="직선 연결선 110"/>
          <p:cNvCxnSpPr/>
          <p:nvPr/>
        </p:nvCxnSpPr>
        <p:spPr>
          <a:xfrm>
            <a:off x="408657" y="3753404"/>
            <a:ext cx="3233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998563" y="3784106"/>
            <a:ext cx="252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오션파크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+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밀쿠폰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콤보입장권</a:t>
            </a:r>
            <a:endParaRPr lang="en-US" altLang="ko-KR" sz="10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488077" y="3852552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cxnSp>
        <p:nvCxnSpPr>
          <p:cNvPr id="115" name="직선 연결선 114"/>
          <p:cNvCxnSpPr/>
          <p:nvPr/>
        </p:nvCxnSpPr>
        <p:spPr>
          <a:xfrm>
            <a:off x="406101" y="4172968"/>
            <a:ext cx="3233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117"/>
          <p:cNvSpPr/>
          <p:nvPr/>
        </p:nvSpPr>
        <p:spPr>
          <a:xfrm>
            <a:off x="488077" y="4278989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cxnSp>
        <p:nvCxnSpPr>
          <p:cNvPr id="119" name="직선 연결선 118"/>
          <p:cNvCxnSpPr/>
          <p:nvPr/>
        </p:nvCxnSpPr>
        <p:spPr>
          <a:xfrm>
            <a:off x="406101" y="4599405"/>
            <a:ext cx="3233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998563" y="4622468"/>
            <a:ext cx="252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디즈니랜드픽업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 err="1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–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디즈니랜드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en-US" altLang="ko-KR" sz="10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488077" y="4690914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cxnSp>
        <p:nvCxnSpPr>
          <p:cNvPr id="123" name="직선 연결선 122"/>
          <p:cNvCxnSpPr/>
          <p:nvPr/>
        </p:nvCxnSpPr>
        <p:spPr>
          <a:xfrm>
            <a:off x="406101" y="5011330"/>
            <a:ext cx="3233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005527" y="5019714"/>
            <a:ext cx="2527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오션파크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+KOL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호주어드벤처 콤보 입장권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기간한정특가프로모션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495041" y="5158716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cxnSp>
        <p:nvCxnSpPr>
          <p:cNvPr id="127" name="직선 연결선 126"/>
          <p:cNvCxnSpPr/>
          <p:nvPr/>
        </p:nvCxnSpPr>
        <p:spPr>
          <a:xfrm>
            <a:off x="413065" y="5461916"/>
            <a:ext cx="3233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998563" y="5469742"/>
            <a:ext cx="2527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앤트맨과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함께하는 디즈니랜드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일권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+</a:t>
            </a:r>
          </a:p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SHOP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기프티콘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15HKD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제공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콤보특가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</a:p>
        </p:txBody>
      </p:sp>
      <p:sp>
        <p:nvSpPr>
          <p:cNvPr id="130" name="모서리가 둥근 직사각형 129"/>
          <p:cNvSpPr/>
          <p:nvPr/>
        </p:nvSpPr>
        <p:spPr>
          <a:xfrm>
            <a:off x="488077" y="5592277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cxnSp>
        <p:nvCxnSpPr>
          <p:cNvPr id="131" name="직선 연결선 130"/>
          <p:cNvCxnSpPr/>
          <p:nvPr/>
        </p:nvCxnSpPr>
        <p:spPr>
          <a:xfrm>
            <a:off x="403169" y="5931407"/>
            <a:ext cx="323359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998563" y="4210543"/>
            <a:ext cx="252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디즈니랜드픽업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구룡섬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–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디즈니랜드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홍콩</a:t>
            </a:r>
          </a:p>
        </p:txBody>
      </p:sp>
      <p:sp>
        <p:nvSpPr>
          <p:cNvPr id="132" name="직사각형 131"/>
          <p:cNvSpPr/>
          <p:nvPr/>
        </p:nvSpPr>
        <p:spPr>
          <a:xfrm>
            <a:off x="3596534" y="847046"/>
            <a:ext cx="61161" cy="51362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3595666" y="1741190"/>
            <a:ext cx="55066" cy="42384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34" name="타원 133"/>
          <p:cNvSpPr/>
          <p:nvPr/>
        </p:nvSpPr>
        <p:spPr>
          <a:xfrm>
            <a:off x="243879" y="86986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35" name="타원 134"/>
          <p:cNvSpPr/>
          <p:nvPr/>
        </p:nvSpPr>
        <p:spPr>
          <a:xfrm>
            <a:off x="3217625" y="84781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2c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37" name="타원 136"/>
          <p:cNvSpPr/>
          <p:nvPr/>
        </p:nvSpPr>
        <p:spPr>
          <a:xfrm>
            <a:off x="3165118" y="598150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38" name="타원 137"/>
          <p:cNvSpPr/>
          <p:nvPr/>
        </p:nvSpPr>
        <p:spPr>
          <a:xfrm>
            <a:off x="3606267" y="155006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2d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139" name="그룹 138"/>
          <p:cNvGrpSpPr/>
          <p:nvPr/>
        </p:nvGrpSpPr>
        <p:grpSpPr>
          <a:xfrm rot="16200000">
            <a:off x="2897784" y="5260138"/>
            <a:ext cx="841453" cy="252000"/>
            <a:chOff x="3535932" y="3056524"/>
            <a:chExt cx="841453" cy="252000"/>
          </a:xfrm>
        </p:grpSpPr>
        <p:sp>
          <p:nvSpPr>
            <p:cNvPr id="140" name="타원 139"/>
            <p:cNvSpPr/>
            <p:nvPr/>
          </p:nvSpPr>
          <p:spPr>
            <a:xfrm>
              <a:off x="4125385" y="3056524"/>
              <a:ext cx="252000" cy="252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41" name="오른쪽 화살표 140"/>
            <p:cNvSpPr/>
            <p:nvPr/>
          </p:nvSpPr>
          <p:spPr>
            <a:xfrm>
              <a:off x="3535932" y="3074524"/>
              <a:ext cx="545434" cy="21600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142" name="직사각형 141"/>
          <p:cNvSpPr/>
          <p:nvPr/>
        </p:nvSpPr>
        <p:spPr>
          <a:xfrm>
            <a:off x="4079776" y="476672"/>
            <a:ext cx="3240360" cy="3600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4308889" y="541840"/>
            <a:ext cx="2952000" cy="253164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몽골</a:t>
            </a:r>
          </a:p>
        </p:txBody>
      </p:sp>
      <p:pic>
        <p:nvPicPr>
          <p:cNvPr id="144" name="그림 1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844" y="601123"/>
            <a:ext cx="149838" cy="149838"/>
          </a:xfrm>
          <a:prstGeom prst="rect">
            <a:avLst/>
          </a:prstGeom>
        </p:spPr>
      </p:pic>
      <p:sp>
        <p:nvSpPr>
          <p:cNvPr id="145" name="직사각형 144"/>
          <p:cNvSpPr/>
          <p:nvPr/>
        </p:nvSpPr>
        <p:spPr>
          <a:xfrm>
            <a:off x="6944840" y="541840"/>
            <a:ext cx="323594" cy="253164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9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4049816" y="498539"/>
            <a:ext cx="36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&lt;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47" name="Search"/>
          <p:cNvSpPr>
            <a:spLocks noChangeAspect="1" noEditPoints="1"/>
          </p:cNvSpPr>
          <p:nvPr/>
        </p:nvSpPr>
        <p:spPr bwMode="auto">
          <a:xfrm>
            <a:off x="6811248" y="949292"/>
            <a:ext cx="118788" cy="131610"/>
          </a:xfrm>
          <a:custGeom>
            <a:avLst/>
            <a:gdLst>
              <a:gd name="T0" fmla="*/ 227 w 572"/>
              <a:gd name="T1" fmla="*/ 0 h 585"/>
              <a:gd name="T2" fmla="*/ 0 w 572"/>
              <a:gd name="T3" fmla="*/ 227 h 585"/>
              <a:gd name="T4" fmla="*/ 227 w 572"/>
              <a:gd name="T5" fmla="*/ 453 h 585"/>
              <a:gd name="T6" fmla="*/ 359 w 572"/>
              <a:gd name="T7" fmla="*/ 410 h 585"/>
              <a:gd name="T8" fmla="*/ 535 w 572"/>
              <a:gd name="T9" fmla="*/ 585 h 585"/>
              <a:gd name="T10" fmla="*/ 572 w 572"/>
              <a:gd name="T11" fmla="*/ 548 h 585"/>
              <a:gd name="T12" fmla="*/ 399 w 572"/>
              <a:gd name="T13" fmla="*/ 374 h 585"/>
              <a:gd name="T14" fmla="*/ 454 w 572"/>
              <a:gd name="T15" fmla="*/ 227 h 585"/>
              <a:gd name="T16" fmla="*/ 227 w 572"/>
              <a:gd name="T17" fmla="*/ 0 h 585"/>
              <a:gd name="T18" fmla="*/ 227 w 572"/>
              <a:gd name="T19" fmla="*/ 27 h 585"/>
              <a:gd name="T20" fmla="*/ 427 w 572"/>
              <a:gd name="T21" fmla="*/ 227 h 585"/>
              <a:gd name="T22" fmla="*/ 227 w 572"/>
              <a:gd name="T23" fmla="*/ 427 h 585"/>
              <a:gd name="T24" fmla="*/ 27 w 572"/>
              <a:gd name="T25" fmla="*/ 227 h 585"/>
              <a:gd name="T26" fmla="*/ 227 w 572"/>
              <a:gd name="T27" fmla="*/ 2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72" h="585">
                <a:moveTo>
                  <a:pt x="227" y="0"/>
                </a:moveTo>
                <a:cubicBezTo>
                  <a:pt x="102" y="0"/>
                  <a:pt x="0" y="102"/>
                  <a:pt x="0" y="227"/>
                </a:cubicBezTo>
                <a:cubicBezTo>
                  <a:pt x="0" y="352"/>
                  <a:pt x="102" y="453"/>
                  <a:pt x="227" y="453"/>
                </a:cubicBezTo>
                <a:cubicBezTo>
                  <a:pt x="276" y="453"/>
                  <a:pt x="322" y="437"/>
                  <a:pt x="359" y="410"/>
                </a:cubicBezTo>
                <a:lnTo>
                  <a:pt x="535" y="585"/>
                </a:lnTo>
                <a:lnTo>
                  <a:pt x="572" y="548"/>
                </a:lnTo>
                <a:lnTo>
                  <a:pt x="399" y="374"/>
                </a:lnTo>
                <a:cubicBezTo>
                  <a:pt x="433" y="335"/>
                  <a:pt x="454" y="283"/>
                  <a:pt x="454" y="227"/>
                </a:cubicBezTo>
                <a:cubicBezTo>
                  <a:pt x="454" y="102"/>
                  <a:pt x="352" y="0"/>
                  <a:pt x="227" y="0"/>
                </a:cubicBezTo>
                <a:close/>
                <a:moveTo>
                  <a:pt x="227" y="27"/>
                </a:moveTo>
                <a:cubicBezTo>
                  <a:pt x="338" y="27"/>
                  <a:pt x="427" y="116"/>
                  <a:pt x="427" y="227"/>
                </a:cubicBezTo>
                <a:cubicBezTo>
                  <a:pt x="427" y="337"/>
                  <a:pt x="338" y="427"/>
                  <a:pt x="227" y="427"/>
                </a:cubicBezTo>
                <a:cubicBezTo>
                  <a:pt x="116" y="427"/>
                  <a:pt x="27" y="337"/>
                  <a:pt x="27" y="227"/>
                </a:cubicBezTo>
                <a:cubicBezTo>
                  <a:pt x="27" y="116"/>
                  <a:pt x="116" y="27"/>
                  <a:pt x="227" y="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4081779" y="5977540"/>
            <a:ext cx="3240000" cy="3240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취소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069585" y="198035"/>
            <a:ext cx="259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검색 결과가</a:t>
            </a:r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없을 시</a:t>
            </a:r>
          </a:p>
        </p:txBody>
      </p:sp>
      <p:sp>
        <p:nvSpPr>
          <p:cNvPr id="173" name="타원 172"/>
          <p:cNvSpPr/>
          <p:nvPr/>
        </p:nvSpPr>
        <p:spPr>
          <a:xfrm>
            <a:off x="3070729" y="595764"/>
            <a:ext cx="1440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latin typeface="나눔고딕" panose="020B0600000101010101" charset="-127"/>
                <a:ea typeface="나눔고딕" panose="020B0600000101010101" charset="-127"/>
              </a:rPr>
              <a:t>X</a:t>
            </a:r>
            <a:endParaRPr lang="ko-KR" altLang="en-US" sz="8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74" name="타원 173"/>
          <p:cNvSpPr/>
          <p:nvPr/>
        </p:nvSpPr>
        <p:spPr>
          <a:xfrm>
            <a:off x="6724181" y="590545"/>
            <a:ext cx="1440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latin typeface="나눔고딕" panose="020B0600000101010101" charset="-127"/>
                <a:ea typeface="나눔고딕" panose="020B0600000101010101" charset="-127"/>
              </a:rPr>
              <a:t>X</a:t>
            </a:r>
            <a:endParaRPr lang="ko-KR" altLang="en-US" sz="8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5375920" y="1490016"/>
            <a:ext cx="648072" cy="648072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!</a:t>
            </a:r>
            <a:endParaRPr lang="ko-KR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4161217" y="2352212"/>
            <a:ext cx="3082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검색조건에 해당하는 상품이 없습니다</a:t>
            </a:r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algn="ctr"/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다른 조건으로 검색해 주세요</a:t>
            </a:r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76" name="타원 175"/>
          <p:cNvSpPr/>
          <p:nvPr/>
        </p:nvSpPr>
        <p:spPr>
          <a:xfrm>
            <a:off x="5160206" y="126734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4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77" name="모서리가 둥근 직사각형 176"/>
          <p:cNvSpPr/>
          <p:nvPr/>
        </p:nvSpPr>
        <p:spPr>
          <a:xfrm>
            <a:off x="8449865" y="5252646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국가</a:t>
            </a:r>
          </a:p>
        </p:txBody>
      </p:sp>
      <p:sp>
        <p:nvSpPr>
          <p:cNvPr id="178" name="모서리가 둥근 직사각형 177"/>
          <p:cNvSpPr/>
          <p:nvPr/>
        </p:nvSpPr>
        <p:spPr>
          <a:xfrm>
            <a:off x="8456985" y="5543391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도시</a:t>
            </a:r>
          </a:p>
        </p:txBody>
      </p:sp>
      <p:sp>
        <p:nvSpPr>
          <p:cNvPr id="179" name="모서리가 둥근 직사각형 178"/>
          <p:cNvSpPr/>
          <p:nvPr/>
        </p:nvSpPr>
        <p:spPr>
          <a:xfrm>
            <a:off x="8449789" y="5847591"/>
            <a:ext cx="540000" cy="176400"/>
          </a:xfrm>
          <a:prstGeom prst="roundRect">
            <a:avLst/>
          </a:prstGeom>
          <a:solidFill>
            <a:schemeClr val="bg1"/>
          </a:solidFill>
          <a:ln w="3175">
            <a:solidFill>
              <a:srgbClr val="BB05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BB0560"/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</a:rPr>
              <a:t>상품</a:t>
            </a:r>
          </a:p>
        </p:txBody>
      </p:sp>
      <p:sp>
        <p:nvSpPr>
          <p:cNvPr id="180" name="직사각형 179"/>
          <p:cNvSpPr/>
          <p:nvPr/>
        </p:nvSpPr>
        <p:spPr>
          <a:xfrm>
            <a:off x="8179805" y="5045529"/>
            <a:ext cx="1152128" cy="1170358"/>
          </a:xfrm>
          <a:prstGeom prst="rect">
            <a:avLst/>
          </a:prstGeom>
          <a:noFill/>
          <a:ln w="6350"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8134618" y="4797152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라벨 종류</a:t>
            </a: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9331933" y="6158247"/>
            <a:ext cx="3644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96400" y="6023991"/>
            <a:ext cx="12961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‘</a:t>
            </a:r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공통</a:t>
            </a:r>
            <a:r>
              <a:rPr lang="en-US" altLang="ko-KR" sz="1000" dirty="0">
                <a:latin typeface="나눔고딕" panose="020B0600000101010101" charset="-127"/>
                <a:ea typeface="나눔고딕" panose="020B0600000101010101" charset="-127"/>
              </a:rPr>
              <a:t>’ </a:t>
            </a:r>
            <a:r>
              <a:rPr lang="ko-KR" altLang="en-US" sz="1000" dirty="0">
                <a:latin typeface="나눔고딕" panose="020B0600000101010101" charset="-127"/>
                <a:ea typeface="나눔고딕" panose="020B0600000101010101" charset="-127"/>
              </a:rPr>
              <a:t>에 추가 필요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371949" y="889885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3371949" y="1273632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3377437" y="1743673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3383768" y="2193701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3383768" y="2614292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3377437" y="3017050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3371384" y="3449794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3365266" y="3858745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3377437" y="4248982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3371384" y="4657434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3365266" y="5102321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3359402" y="5572024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94" name="타원 193"/>
          <p:cNvSpPr/>
          <p:nvPr/>
        </p:nvSpPr>
        <p:spPr>
          <a:xfrm>
            <a:off x="779047" y="753161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2a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95" name="타원 194"/>
          <p:cNvSpPr/>
          <p:nvPr/>
        </p:nvSpPr>
        <p:spPr>
          <a:xfrm>
            <a:off x="1316849" y="81619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2b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2950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710178"/>
              </p:ext>
            </p:extLst>
          </p:nvPr>
        </p:nvGraphicFramePr>
        <p:xfrm>
          <a:off x="9552384" y="8546"/>
          <a:ext cx="2635809" cy="4186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CHP-MO-FND-9995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리스트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리스트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FND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리스트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Location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및 검색 결과 수 노출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- 1a)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해당 국가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- 1b)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해당 도시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- 1c)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해당 국가와 해당 도시의 결과 수</a:t>
                      </a:r>
                      <a:endParaRPr lang="ko-KR" altLang="en-US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해당영역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선택 시 검색페이지로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CHP-MO-FND-9998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이동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9728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셀렉트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박스로 결과 값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필터링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기본값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전체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”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로 시작하여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투어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&gt;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즐길거리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&gt;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교통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&amp;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패스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&gt;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입장권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&gt;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렌터카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순으로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노출</a:t>
                      </a:r>
                      <a:endParaRPr lang="ko-KR" altLang="en-US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6529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정렬버튼으로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기본값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인기순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”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로 시작하여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가격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낮은순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&gt;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가격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높은순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으로 노출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74579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걸과 값에 등록 된 상품 목록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- 5a)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상품별 옵션값 기존 정책에 맞춰 노출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99242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기존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Scroll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시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20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개 단위로 자동 출력이지만 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“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화면정의서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_MO_FND_V0.49”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작업하였던 스크롤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10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개 단위로 변경 유무 확인후 적용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11203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ko-KR" altLang="en-US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443277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407368" y="476673"/>
            <a:ext cx="3240000" cy="2160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TOP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9874A-CF76-48B6-9D02-3BFD302681C7}"/>
              </a:ext>
            </a:extLst>
          </p:cNvPr>
          <p:cNvSpPr txBox="1"/>
          <p:nvPr/>
        </p:nvSpPr>
        <p:spPr>
          <a:xfrm>
            <a:off x="551384" y="836712"/>
            <a:ext cx="266093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200" b="1" dirty="0">
                <a:latin typeface="나눔고딕" panose="020B0600000101010101" charset="-127"/>
                <a:ea typeface="나눔고딕" panose="020B0600000101010101" charset="-127"/>
              </a:rPr>
              <a:t>일본 </a:t>
            </a:r>
            <a:r>
              <a:rPr lang="en-US" altLang="ko-KR" sz="1200" b="1" dirty="0"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1200" b="1" dirty="0">
                <a:latin typeface="나눔고딕" panose="020B0600000101010101" charset="-127"/>
                <a:ea typeface="나눔고딕" panose="020B0600000101010101" charset="-127"/>
              </a:rPr>
              <a:t>오사카 ▶ </a:t>
            </a:r>
            <a:r>
              <a:rPr lang="en-US" altLang="ko-KR" sz="1200" b="1" dirty="0">
                <a:latin typeface="나눔고딕" panose="020B0600000101010101" charset="-127"/>
                <a:ea typeface="나눔고딕" panose="020B0600000101010101" charset="-127"/>
              </a:rPr>
              <a:t>149</a:t>
            </a:r>
            <a:r>
              <a:rPr lang="ko-KR" altLang="en-US" sz="1200" b="1" dirty="0">
                <a:latin typeface="나눔고딕" panose="020B0600000101010101" charset="-127"/>
                <a:ea typeface="나눔고딕" panose="020B0600000101010101" charset="-127"/>
              </a:rPr>
              <a:t>개</a:t>
            </a:r>
          </a:p>
        </p:txBody>
      </p:sp>
      <p:grpSp>
        <p:nvGrpSpPr>
          <p:cNvPr id="13" name="그룹 12"/>
          <p:cNvGrpSpPr/>
          <p:nvPr/>
        </p:nvGrpSpPr>
        <p:grpSpPr>
          <a:xfrm>
            <a:off x="2542326" y="781625"/>
            <a:ext cx="975388" cy="324000"/>
            <a:chOff x="2495600" y="781625"/>
            <a:chExt cx="1015550" cy="32400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3860" y="783097"/>
              <a:ext cx="321054" cy="321054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2495600" y="781625"/>
              <a:ext cx="1015550" cy="324000"/>
            </a:xfrm>
            <a:prstGeom prst="rect">
              <a:avLst/>
            </a:prstGeom>
            <a:noFill/>
            <a:ln w="3175">
              <a:solidFill>
                <a:srgbClr val="C10563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Tab Selected" descr="&lt;SmartSettings&gt;&lt;SmartResize anchorLeft=&quot;Absolute&quot; anchorTop=&quot;Absolut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4DB3AC77-3A70-4DC9-BCE0-2F963590EC84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3054751" y="806530"/>
              <a:ext cx="285831" cy="276403"/>
            </a:xfrm>
            <a:custGeom>
              <a:avLst/>
              <a:gdLst>
                <a:gd name="T0" fmla="*/ 0 w 2218"/>
                <a:gd name="T1" fmla="*/ 670 h 670"/>
                <a:gd name="T2" fmla="*/ 0 w 2218"/>
                <a:gd name="T3" fmla="*/ 0 h 670"/>
                <a:gd name="T4" fmla="*/ 2218 w 2218"/>
                <a:gd name="T5" fmla="*/ 0 h 670"/>
                <a:gd name="T6" fmla="*/ 2218 w 2218"/>
                <a:gd name="T7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8" h="670">
                  <a:moveTo>
                    <a:pt x="0" y="670"/>
                  </a:moveTo>
                  <a:lnTo>
                    <a:pt x="0" y="0"/>
                  </a:lnTo>
                  <a:lnTo>
                    <a:pt x="2218" y="0"/>
                  </a:lnTo>
                  <a:lnTo>
                    <a:pt x="2218" y="670"/>
                  </a:lnTo>
                </a:path>
              </a:pathLst>
            </a:custGeom>
            <a:noFill/>
            <a:ln>
              <a:noFill/>
            </a:ln>
          </p:spPr>
          <p:txBody>
            <a:bodyPr wrap="square" lIns="0" tIns="40853" rIns="0" bIns="40853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000">
                  <a:solidFill>
                    <a:srgbClr val="BF0562"/>
                  </a:solidFill>
                  <a:latin typeface="+mn-ea"/>
                  <a:ea typeface="+mn-ea"/>
                </a:rPr>
                <a:t>변경</a:t>
              </a:r>
              <a:endParaRPr lang="en-US" sz="1000" dirty="0">
                <a:solidFill>
                  <a:srgbClr val="BF056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2054260" y="1237262"/>
            <a:ext cx="1440000" cy="2160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인기순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551384" y="1237262"/>
            <a:ext cx="1440000" cy="2160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전체</a:t>
            </a:r>
          </a:p>
        </p:txBody>
      </p:sp>
      <p:sp>
        <p:nvSpPr>
          <p:cNvPr id="12" name="TextBox 11"/>
          <p:cNvSpPr txBox="1"/>
          <p:nvPr/>
        </p:nvSpPr>
        <p:spPr>
          <a:xfrm rot="5400000">
            <a:off x="1683762" y="1242587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&gt;</a:t>
            </a:r>
            <a:endParaRPr kumimoji="1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3233893" y="1255959"/>
            <a:ext cx="213378" cy="219475"/>
          </a:xfrm>
          <a:prstGeom prst="rect">
            <a:avLst/>
          </a:prstGeom>
        </p:spPr>
      </p:pic>
      <p:grpSp>
        <p:nvGrpSpPr>
          <p:cNvPr id="15" name="Placeholder"/>
          <p:cNvGrpSpPr>
            <a:grpSpLocks/>
          </p:cNvGrpSpPr>
          <p:nvPr/>
        </p:nvGrpSpPr>
        <p:grpSpPr bwMode="auto">
          <a:xfrm>
            <a:off x="479376" y="1691821"/>
            <a:ext cx="3098969" cy="939573"/>
            <a:chOff x="508000" y="1397000"/>
            <a:chExt cx="1008112" cy="1008112"/>
          </a:xfrm>
          <a:solidFill>
            <a:srgbClr val="000000">
              <a:alpha val="30196"/>
            </a:srgbClr>
          </a:solidFill>
        </p:grpSpPr>
        <p:sp>
          <p:nvSpPr>
            <p:cNvPr id="16" name="Border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7" name="Line 2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8" name="Line 1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9" name="Text Box 28"/>
          <p:cNvSpPr txBox="1">
            <a:spLocks noChangeArrowheads="1"/>
          </p:cNvSpPr>
          <p:nvPr/>
        </p:nvSpPr>
        <p:spPr bwMode="auto">
          <a:xfrm>
            <a:off x="558064" y="3776850"/>
            <a:ext cx="1501588" cy="285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en-US" altLang="ko-KR" sz="1200" b="1" dirty="0">
                <a:solidFill>
                  <a:srgbClr val="BB0560"/>
                </a:solidFill>
                <a:latin typeface="나눔고딕" panose="020B0600000101010101" charset="-127"/>
                <a:ea typeface="나눔고딕" panose="020B0600000101010101" charset="-127"/>
              </a:rPr>
              <a:t>21%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24,200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79405" y="1684736"/>
            <a:ext cx="3090675" cy="246434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1" name="Text Box 28"/>
          <p:cNvSpPr txBox="1">
            <a:spLocks noChangeArrowheads="1"/>
          </p:cNvSpPr>
          <p:nvPr/>
        </p:nvSpPr>
        <p:spPr bwMode="auto">
          <a:xfrm>
            <a:off x="558064" y="2780928"/>
            <a:ext cx="2992391" cy="618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lvl="0" eaLnBrk="1" hangingPunct="1">
              <a:lnSpc>
                <a:spcPct val="120000"/>
              </a:lnSpc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10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쿠폰할인</a:t>
            </a:r>
            <a:r>
              <a:rPr lang="en-US" altLang="ko-KR" sz="1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10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유니버셜익스프레스</a:t>
            </a:r>
            <a:r>
              <a:rPr lang="en-US" altLang="ko-KR" sz="1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10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회권</a:t>
            </a:r>
            <a:r>
              <a:rPr lang="en-US" altLang="ko-KR" sz="1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해리포터</a:t>
            </a:r>
            <a:r>
              <a:rPr lang="en-US" altLang="ko-KR" sz="1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다이노소어포함</a:t>
            </a:r>
            <a:r>
              <a:rPr lang="en-US" altLang="ko-KR" sz="1000" b="1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 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lvl="0" eaLnBrk="1" hangingPunct="1">
              <a:lnSpc>
                <a:spcPct val="120000"/>
              </a:lnSpc>
              <a:defRPr/>
            </a:pPr>
            <a:r>
              <a:rPr lang="ko-KR" altLang="en-US" sz="9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결제시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쿠폰적용하면 더 저렴</a:t>
            </a:r>
            <a:endParaRPr kumimoji="1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551384" y="2523660"/>
            <a:ext cx="612000" cy="18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903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8064A2">
                    <a:lumMod val="7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라벨 </a:t>
            </a:r>
            <a:r>
              <a:rPr lang="en-US" altLang="ko-KR" sz="800" dirty="0">
                <a:solidFill>
                  <a:srgbClr val="8064A2">
                    <a:lumMod val="7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8064A2">
                  <a:lumMod val="7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1210347" y="2523660"/>
            <a:ext cx="612000" cy="180000"/>
          </a:xfrm>
          <a:prstGeom prst="rect">
            <a:avLst/>
          </a:prstGeom>
          <a:solidFill>
            <a:schemeClr val="bg1"/>
          </a:solidFill>
          <a:ln w="63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903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라벨 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1858347" y="2528920"/>
            <a:ext cx="612000" cy="18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903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4BACC6">
                    <a:lumMod val="7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라벨 </a:t>
            </a:r>
            <a:r>
              <a:rPr lang="en-US" altLang="ko-KR" sz="800" dirty="0">
                <a:solidFill>
                  <a:srgbClr val="4BACC6">
                    <a:lumMod val="75000"/>
                  </a:srgb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2542326" y="2528920"/>
            <a:ext cx="612000" cy="180000"/>
          </a:xfrm>
          <a:prstGeom prst="rect">
            <a:avLst/>
          </a:prstGeom>
          <a:solidFill>
            <a:schemeClr val="bg1"/>
          </a:solidFill>
          <a:ln w="6350">
            <a:solidFill>
              <a:srgbClr val="00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903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라벨 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58064" y="3387048"/>
            <a:ext cx="2931347" cy="377969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 err="1"/>
              <a:t>유니버셜</a:t>
            </a:r>
            <a:r>
              <a:rPr lang="ko-KR" altLang="en-US" sz="800" dirty="0"/>
              <a:t> 스튜디오 재팬의 </a:t>
            </a:r>
            <a:r>
              <a:rPr lang="ko-KR" altLang="en-US" sz="800" dirty="0" err="1"/>
              <a:t>인기어트렉션을</a:t>
            </a:r>
            <a:r>
              <a:rPr lang="ko-KR" altLang="en-US" sz="800" dirty="0"/>
              <a:t> 대기시간없이 이용해보세요</a:t>
            </a:r>
            <a:r>
              <a:rPr lang="en-US" altLang="ko-KR" sz="800" dirty="0"/>
              <a:t>!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693059" y="3846835"/>
            <a:ext cx="501740" cy="230237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strike="sngStrike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30,900</a:t>
            </a:r>
            <a:r>
              <a:rPr lang="ko-KR" altLang="en-US" sz="800" strike="sngStrike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원</a:t>
            </a:r>
            <a:endParaRPr lang="en-US" sz="800" strike="sngStrike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753750" y="3832249"/>
            <a:ext cx="682918" cy="230237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성인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인 기준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 rot="5400000">
            <a:off x="1786692" y="4594369"/>
            <a:ext cx="510791" cy="45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 anchor="ctr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……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8049" y="5147690"/>
            <a:ext cx="32319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Scroll </a:t>
            </a:r>
            <a:r>
              <a:rPr kumimoji="1" lang="ko-KR" alt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시 </a:t>
            </a:r>
            <a:r>
              <a:rPr kumimoji="1" lang="en-US" altLang="ko-KR" sz="8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20</a:t>
            </a:r>
            <a:r>
              <a:rPr kumimoji="1" lang="ko-KR" alt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개 단위로 자동 출력</a:t>
            </a:r>
            <a:endParaRPr kumimoji="1" lang="en-US" altLang="ko-KR" sz="800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03737" y="6033489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2900"/>
              </p:ext>
            </p:extLst>
          </p:nvPr>
        </p:nvGraphicFramePr>
        <p:xfrm>
          <a:off x="4604359" y="476673"/>
          <a:ext cx="1369669" cy="1979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95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기본값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5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964600"/>
                  </a:ext>
                </a:extLst>
              </a:tr>
              <a:tr h="32995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즐길거리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612011"/>
                  </a:ext>
                </a:extLst>
              </a:tr>
              <a:tr h="32995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교통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&amp;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패스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95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입장권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783109"/>
                  </a:ext>
                </a:extLst>
              </a:tr>
              <a:tr h="32995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렌터카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342754"/>
                  </a:ext>
                </a:extLst>
              </a:tr>
            </a:tbl>
          </a:graphicData>
        </a:graphic>
      </p:graphicFrame>
      <p:cxnSp>
        <p:nvCxnSpPr>
          <p:cNvPr id="34" name="꺾인 연결선 33"/>
          <p:cNvCxnSpPr>
            <a:stCxn id="12" idx="1"/>
          </p:cNvCxnSpPr>
          <p:nvPr/>
        </p:nvCxnSpPr>
        <p:spPr>
          <a:xfrm rot="16200000" flipH="1">
            <a:off x="3190957" y="-141498"/>
            <a:ext cx="56921" cy="2806496"/>
          </a:xfrm>
          <a:prstGeom prst="bentConnector4">
            <a:avLst>
              <a:gd name="adj1" fmla="val -1532677"/>
              <a:gd name="adj2" fmla="val 86934"/>
            </a:avLst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59750"/>
              </p:ext>
            </p:extLst>
          </p:nvPr>
        </p:nvGraphicFramePr>
        <p:xfrm>
          <a:off x="4604358" y="2835148"/>
          <a:ext cx="1369669" cy="989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95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인기순 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기본값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5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낮은순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964600"/>
                  </a:ext>
                </a:extLst>
              </a:tr>
              <a:tr h="32995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가격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높은순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612011"/>
                  </a:ext>
                </a:extLst>
              </a:tr>
            </a:tbl>
          </a:graphicData>
        </a:graphic>
      </p:graphicFrame>
      <p:cxnSp>
        <p:nvCxnSpPr>
          <p:cNvPr id="39" name="꺾인 연결선 38"/>
          <p:cNvCxnSpPr>
            <a:stCxn id="9" idx="3"/>
            <a:endCxn id="38" idx="1"/>
          </p:cNvCxnSpPr>
          <p:nvPr/>
        </p:nvCxnSpPr>
        <p:spPr>
          <a:xfrm>
            <a:off x="3494260" y="1345262"/>
            <a:ext cx="1110098" cy="1984818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타원 34"/>
          <p:cNvSpPr/>
          <p:nvPr/>
        </p:nvSpPr>
        <p:spPr>
          <a:xfrm>
            <a:off x="282638" y="81402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558064" y="62068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1a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1143027" y="62068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1b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1768884" y="62068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1c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2421845" y="83370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419621" y="112128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1966749" y="111100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419621" y="162058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412876" y="248766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5a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1020266" y="514769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3914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/>
          <p:cNvSpPr/>
          <p:nvPr/>
        </p:nvSpPr>
        <p:spPr>
          <a:xfrm>
            <a:off x="407368" y="476673"/>
            <a:ext cx="3240000" cy="2160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TOP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421183" y="692697"/>
            <a:ext cx="3226185" cy="32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입장권 상세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31F1907-4EF1-443E-819D-F2248C028B90}"/>
              </a:ext>
            </a:extLst>
          </p:cNvPr>
          <p:cNvGrpSpPr/>
          <p:nvPr/>
        </p:nvGrpSpPr>
        <p:grpSpPr>
          <a:xfrm>
            <a:off x="412642" y="1018854"/>
            <a:ext cx="3240000" cy="1770130"/>
            <a:chOff x="407367" y="1792361"/>
            <a:chExt cx="3240000" cy="1770130"/>
          </a:xfrm>
        </p:grpSpPr>
        <p:grpSp>
          <p:nvGrpSpPr>
            <p:cNvPr id="63" name="Placeholder">
              <a:extLst>
                <a:ext uri="{FF2B5EF4-FFF2-40B4-BE49-F238E27FC236}">
                  <a16:creationId xmlns:a16="http://schemas.microsoft.com/office/drawing/2014/main" id="{152B0CFA-19B3-4AB8-A73E-F15955DD83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367" y="1792361"/>
              <a:ext cx="3240000" cy="1770130"/>
              <a:chOff x="508000" y="1397000"/>
              <a:chExt cx="1008112" cy="1008112"/>
            </a:xfrm>
            <a:solidFill>
              <a:srgbClr val="FFFFFF"/>
            </a:solidFill>
          </p:grpSpPr>
          <p:sp>
            <p:nvSpPr>
              <p:cNvPr id="67" name="Border">
                <a:extLst>
                  <a:ext uri="{FF2B5EF4-FFF2-40B4-BE49-F238E27FC236}">
                    <a16:creationId xmlns:a16="http://schemas.microsoft.com/office/drawing/2014/main" id="{308A04C0-26CE-47E4-9997-7164795DF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68" name="Line 2">
                <a:extLst>
                  <a:ext uri="{FF2B5EF4-FFF2-40B4-BE49-F238E27FC236}">
                    <a16:creationId xmlns:a16="http://schemas.microsoft.com/office/drawing/2014/main" id="{7BCE7736-765B-49F6-B8B5-2742BF268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70" name="Line 1">
                <a:extLst>
                  <a:ext uri="{FF2B5EF4-FFF2-40B4-BE49-F238E27FC236}">
                    <a16:creationId xmlns:a16="http://schemas.microsoft.com/office/drawing/2014/main" id="{D68F98E5-1CCD-4534-99CB-53464BCB5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82D53477-3E8E-4438-8CE1-B1DA4030D91F}"/>
                </a:ext>
              </a:extLst>
            </p:cNvPr>
            <p:cNvSpPr/>
            <p:nvPr/>
          </p:nvSpPr>
          <p:spPr>
            <a:xfrm>
              <a:off x="1613376" y="3340553"/>
              <a:ext cx="828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 / 10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721C3E3-B713-46CB-B14C-4F15EB57A187}"/>
                </a:ext>
              </a:extLst>
            </p:cNvPr>
            <p:cNvSpPr txBox="1"/>
            <p:nvPr/>
          </p:nvSpPr>
          <p:spPr>
            <a:xfrm>
              <a:off x="545207" y="2482244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C1F884F-899A-4E22-AA3A-3A355E7F96BD}"/>
                </a:ext>
              </a:extLst>
            </p:cNvPr>
            <p:cNvSpPr txBox="1"/>
            <p:nvPr/>
          </p:nvSpPr>
          <p:spPr>
            <a:xfrm>
              <a:off x="3217448" y="2482244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280F567-8B4F-42D8-9B5E-C8A3D39EDA95}"/>
              </a:ext>
            </a:extLst>
          </p:cNvPr>
          <p:cNvSpPr txBox="1"/>
          <p:nvPr/>
        </p:nvSpPr>
        <p:spPr>
          <a:xfrm>
            <a:off x="491080" y="3435354"/>
            <a:ext cx="265259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/>
              <a:t>USJ 1</a:t>
            </a:r>
            <a:r>
              <a:rPr lang="ko-KR" altLang="en-US" sz="800" dirty="0"/>
              <a:t>일권을 구매하면 </a:t>
            </a:r>
            <a:r>
              <a:rPr lang="ko-KR" altLang="en-US" sz="800" dirty="0" err="1"/>
              <a:t>교통패스</a:t>
            </a:r>
            <a:r>
              <a:rPr lang="ko-KR" altLang="en-US" sz="800" dirty="0"/>
              <a:t> 또는 유심이 따라온다</a:t>
            </a:r>
            <a:r>
              <a:rPr lang="en-US" altLang="ko-KR" sz="800" dirty="0"/>
              <a:t>!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49874A-CF76-48B6-9D02-3BFD302681C7}"/>
              </a:ext>
            </a:extLst>
          </p:cNvPr>
          <p:cNvSpPr txBox="1"/>
          <p:nvPr/>
        </p:nvSpPr>
        <p:spPr>
          <a:xfrm>
            <a:off x="482735" y="3024496"/>
            <a:ext cx="266093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2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1200" b="1" dirty="0">
                <a:latin typeface="나눔고딕" panose="020B0600000101010101" charset="-127"/>
                <a:ea typeface="나눔고딕" panose="020B0600000101010101" charset="-127"/>
              </a:rPr>
              <a:t>교통패스증정</a:t>
            </a:r>
            <a:r>
              <a:rPr lang="en-US" altLang="ko-KR" sz="1200" b="1" dirty="0"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1200" b="1" dirty="0">
                <a:latin typeface="나눔고딕" panose="020B0600000101010101" charset="-127"/>
                <a:ea typeface="나눔고딕" panose="020B0600000101010101" charset="-127"/>
              </a:rPr>
              <a:t>오사카 </a:t>
            </a:r>
            <a:r>
              <a:rPr lang="ko-KR" altLang="en-US" sz="1200" b="1" dirty="0" err="1">
                <a:latin typeface="나눔고딕" panose="020B0600000101010101" charset="-127"/>
                <a:ea typeface="나눔고딕" panose="020B0600000101010101" charset="-127"/>
              </a:rPr>
              <a:t>유니버셜</a:t>
            </a:r>
            <a:r>
              <a:rPr lang="ko-KR" altLang="en-US" sz="1200" b="1" dirty="0">
                <a:latin typeface="나눔고딕" panose="020B0600000101010101" charset="-127"/>
                <a:ea typeface="나눔고딕" panose="020B0600000101010101" charset="-127"/>
              </a:rPr>
              <a:t> 스튜디오 재팬™ </a:t>
            </a:r>
            <a:r>
              <a:rPr lang="en-US" altLang="ko-KR" sz="1200" b="1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1200" b="1" dirty="0">
                <a:latin typeface="나눔고딕" panose="020B0600000101010101" charset="-127"/>
                <a:ea typeface="나눔고딕" panose="020B0600000101010101" charset="-127"/>
              </a:rPr>
              <a:t>일권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491080" y="3696979"/>
            <a:ext cx="492352" cy="101136"/>
            <a:chOff x="478615" y="3789025"/>
            <a:chExt cx="720080" cy="147915"/>
          </a:xfrm>
        </p:grpSpPr>
        <p:sp>
          <p:nvSpPr>
            <p:cNvPr id="23" name="포인트가 5개인 별 22"/>
            <p:cNvSpPr/>
            <p:nvPr/>
          </p:nvSpPr>
          <p:spPr>
            <a:xfrm>
              <a:off x="478615" y="3789025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포인트가 5개인 별 23"/>
            <p:cNvSpPr/>
            <p:nvPr/>
          </p:nvSpPr>
          <p:spPr>
            <a:xfrm>
              <a:off x="615385" y="3792940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" name="포인트가 5개인 별 24"/>
            <p:cNvSpPr/>
            <p:nvPr/>
          </p:nvSpPr>
          <p:spPr>
            <a:xfrm>
              <a:off x="752155" y="3789040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포인트가 5개인 별 25"/>
            <p:cNvSpPr/>
            <p:nvPr/>
          </p:nvSpPr>
          <p:spPr>
            <a:xfrm>
              <a:off x="910663" y="3789040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포인트가 5개인 별 26"/>
            <p:cNvSpPr/>
            <p:nvPr/>
          </p:nvSpPr>
          <p:spPr>
            <a:xfrm>
              <a:off x="1054695" y="3792924"/>
              <a:ext cx="144000" cy="144000"/>
            </a:xfrm>
            <a:prstGeom prst="star5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966963" y="3645024"/>
            <a:ext cx="7626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482735" y="3848085"/>
            <a:ext cx="732573" cy="280956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none" lIns="0" tIns="40853" rIns="0" bIns="40853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ko-KR" sz="1200" b="1" dirty="0">
                <a:latin typeface="+mn-ea"/>
                <a:ea typeface="+mn-ea"/>
              </a:rPr>
              <a:t>410,000</a:t>
            </a:r>
            <a:r>
              <a:rPr lang="ko-KR" altLang="en-US" sz="1200" b="1" dirty="0">
                <a:latin typeface="+mn-ea"/>
                <a:ea typeface="+mn-ea"/>
              </a:rPr>
              <a:t>원</a:t>
            </a:r>
            <a:endParaRPr lang="en-US" sz="1200" b="1" dirty="0">
              <a:latin typeface="+mn-ea"/>
              <a:ea typeface="+mn-ea"/>
            </a:endParaRPr>
          </a:p>
        </p:txBody>
      </p:sp>
      <p:sp>
        <p:nvSpPr>
          <p:cNvPr id="31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311464" y="3879600"/>
            <a:ext cx="501740" cy="217926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strike="sngStrike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572,900</a:t>
            </a:r>
            <a:r>
              <a:rPr lang="ko-KR" altLang="en-US" sz="800" strike="sngStrike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원</a:t>
            </a:r>
            <a:endParaRPr lang="en-US" sz="800" strike="sngStrike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2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802214" y="3873444"/>
            <a:ext cx="682918" cy="230237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성인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인 기준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3AC3D21-F474-48D9-9FB4-6B1A337E0C4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250" y="3070189"/>
            <a:ext cx="156882" cy="156882"/>
          </a:xfrm>
          <a:prstGeom prst="rect">
            <a:avLst/>
          </a:prstGeom>
        </p:spPr>
      </p:pic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3837ED7-6F80-41F7-B1C7-C837B4C4504B}"/>
              </a:ext>
            </a:extLst>
          </p:cNvPr>
          <p:cNvCxnSpPr/>
          <p:nvPr/>
        </p:nvCxnSpPr>
        <p:spPr>
          <a:xfrm>
            <a:off x="417037" y="4240145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DE16943-93A6-4567-AB9B-5FDCCB5623AC}"/>
              </a:ext>
            </a:extLst>
          </p:cNvPr>
          <p:cNvCxnSpPr/>
          <p:nvPr/>
        </p:nvCxnSpPr>
        <p:spPr>
          <a:xfrm>
            <a:off x="407008" y="5209161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494261" y="4393599"/>
            <a:ext cx="682918" cy="214848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티켓타입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3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494261" y="4665666"/>
            <a:ext cx="682918" cy="214848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연령기준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4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259774" y="4691405"/>
            <a:ext cx="1595866" cy="377969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>
                <a:latin typeface="+mn-ea"/>
                <a:ea typeface="+mn-ea"/>
              </a:rPr>
              <a:t>성인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만 </a:t>
            </a:r>
            <a:r>
              <a:rPr lang="en-US" altLang="ko-KR" sz="800" dirty="0">
                <a:latin typeface="+mn-ea"/>
                <a:ea typeface="+mn-ea"/>
              </a:rPr>
              <a:t>13</a:t>
            </a:r>
            <a:r>
              <a:rPr lang="ko-KR" altLang="en-US" sz="800" dirty="0">
                <a:latin typeface="+mn-ea"/>
                <a:ea typeface="+mn-ea"/>
              </a:rPr>
              <a:t>세 이상 </a:t>
            </a:r>
            <a:endParaRPr lang="en-US" altLang="ko-KR" sz="800" dirty="0"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800" dirty="0">
                <a:latin typeface="+mn-ea"/>
                <a:ea typeface="+mn-ea"/>
              </a:rPr>
              <a:t>아동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만 </a:t>
            </a:r>
            <a:r>
              <a:rPr lang="en-US" altLang="ko-KR" sz="800" dirty="0">
                <a:latin typeface="+mn-ea"/>
                <a:ea typeface="+mn-ea"/>
              </a:rPr>
              <a:t>3</a:t>
            </a:r>
            <a:r>
              <a:rPr lang="ko-KR" altLang="en-US" sz="800" dirty="0">
                <a:latin typeface="+mn-ea"/>
                <a:ea typeface="+mn-ea"/>
              </a:rPr>
              <a:t>세 이상 </a:t>
            </a:r>
            <a:r>
              <a:rPr lang="en-US" altLang="ko-KR" sz="800" dirty="0">
                <a:latin typeface="+mn-ea"/>
                <a:ea typeface="+mn-ea"/>
              </a:rPr>
              <a:t>13</a:t>
            </a:r>
            <a:r>
              <a:rPr lang="ko-KR" altLang="en-US" sz="800" dirty="0">
                <a:latin typeface="+mn-ea"/>
                <a:ea typeface="+mn-ea"/>
              </a:rPr>
              <a:t>세 미만</a:t>
            </a:r>
            <a:endParaRPr lang="en-US" sz="800" dirty="0">
              <a:latin typeface="+mn-ea"/>
              <a:ea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1259774" y="4429905"/>
            <a:ext cx="1091810" cy="162359"/>
          </a:xfrm>
          <a:prstGeom prst="rect">
            <a:avLst/>
          </a:prstGeom>
          <a:noFill/>
          <a:ln w="6350">
            <a:solidFill>
              <a:srgbClr val="CC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90300" latinLnBrk="0">
              <a:defRPr/>
            </a:pPr>
            <a:r>
              <a:rPr lang="en-US" altLang="ko-KR" sz="800" dirty="0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E-</a:t>
            </a:r>
            <a:r>
              <a:rPr lang="ko-KR" altLang="en-US" sz="800" dirty="0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바우처 </a:t>
            </a:r>
            <a:r>
              <a:rPr lang="en-US" altLang="ko-KR" sz="800" dirty="0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 err="1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티켓교환용</a:t>
            </a:r>
            <a:r>
              <a:rPr lang="en-US" altLang="ko-KR" sz="800" dirty="0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86" name="꺾인 연결선 85"/>
          <p:cNvCxnSpPr>
            <a:cxnSpLocks/>
            <a:stCxn id="85" idx="3"/>
            <a:endCxn id="87" idx="1"/>
          </p:cNvCxnSpPr>
          <p:nvPr/>
        </p:nvCxnSpPr>
        <p:spPr>
          <a:xfrm>
            <a:off x="2351584" y="4511085"/>
            <a:ext cx="1941675" cy="447136"/>
          </a:xfrm>
          <a:prstGeom prst="bentConnector3">
            <a:avLst>
              <a:gd name="adj1" fmla="val 81235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4293259" y="4877041"/>
            <a:ext cx="1091810" cy="162359"/>
          </a:xfrm>
          <a:prstGeom prst="rect">
            <a:avLst/>
          </a:prstGeom>
          <a:noFill/>
          <a:ln w="6350">
            <a:solidFill>
              <a:srgbClr val="CC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90300" latinLnBrk="0">
              <a:defRPr/>
            </a:pPr>
            <a:r>
              <a:rPr lang="en-US" altLang="ko-KR" sz="800" dirty="0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E-</a:t>
            </a:r>
            <a:r>
              <a:rPr lang="ko-KR" altLang="en-US" sz="800" dirty="0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바우처 </a:t>
            </a:r>
            <a:r>
              <a:rPr lang="en-US" altLang="ko-KR" sz="800" dirty="0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 err="1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티켓교환용</a:t>
            </a:r>
            <a:r>
              <a:rPr lang="en-US" altLang="ko-KR" sz="800" dirty="0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5445788" y="4881685"/>
            <a:ext cx="592177" cy="162359"/>
          </a:xfrm>
          <a:prstGeom prst="rect">
            <a:avLst/>
          </a:prstGeom>
          <a:noFill/>
          <a:ln w="6350">
            <a:solidFill>
              <a:srgbClr val="CC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90300" latinLnBrk="0">
              <a:defRPr/>
            </a:pPr>
            <a:r>
              <a:rPr lang="ko-KR" altLang="en-US" sz="800" dirty="0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실물 티켓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9919AA34-6A81-409C-8C0F-FE20D8E30D5D}"/>
              </a:ext>
            </a:extLst>
          </p:cNvPr>
          <p:cNvSpPr/>
          <p:nvPr/>
        </p:nvSpPr>
        <p:spPr>
          <a:xfrm>
            <a:off x="6098684" y="4884284"/>
            <a:ext cx="592177" cy="162359"/>
          </a:xfrm>
          <a:prstGeom prst="rect">
            <a:avLst/>
          </a:prstGeom>
          <a:noFill/>
          <a:ln w="6350">
            <a:solidFill>
              <a:srgbClr val="CC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690300" latinLnBrk="0">
              <a:defRPr/>
            </a:pPr>
            <a:r>
              <a:rPr lang="en-US" altLang="ko-KR" sz="800" dirty="0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E-</a:t>
            </a:r>
            <a:r>
              <a:rPr lang="ko-KR" altLang="en-US" sz="800" dirty="0">
                <a:solidFill>
                  <a:srgbClr val="CC00C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티켓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0" name="Text Box 28"/>
          <p:cNvSpPr txBox="1">
            <a:spLocks noChangeArrowheads="1"/>
          </p:cNvSpPr>
          <p:nvPr/>
        </p:nvSpPr>
        <p:spPr bwMode="auto">
          <a:xfrm>
            <a:off x="6767202" y="4640072"/>
            <a:ext cx="240450" cy="45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 anchor="ctr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5" name="표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893775"/>
              </p:ext>
            </p:extLst>
          </p:nvPr>
        </p:nvGraphicFramePr>
        <p:xfrm>
          <a:off x="397484" y="5229155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80413062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후기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6" name="직사각형 95"/>
          <p:cNvSpPr/>
          <p:nvPr/>
        </p:nvSpPr>
        <p:spPr>
          <a:xfrm>
            <a:off x="417037" y="5490419"/>
            <a:ext cx="81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7" name="직선 연결선 96"/>
          <p:cNvCxnSpPr/>
          <p:nvPr/>
        </p:nvCxnSpPr>
        <p:spPr>
          <a:xfrm>
            <a:off x="404741" y="5229155"/>
            <a:ext cx="323274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417381" y="5661248"/>
            <a:ext cx="1584000" cy="3240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장바구니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2073397" y="5661280"/>
            <a:ext cx="1584000" cy="324000"/>
          </a:xfrm>
          <a:prstGeom prst="rect">
            <a:avLst/>
          </a:prstGeom>
          <a:solidFill>
            <a:srgbClr val="BB0560"/>
          </a:solidFill>
          <a:ln w="3175"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예약하기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4293259" y="5403571"/>
            <a:ext cx="677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Floating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영역</a:t>
            </a:r>
          </a:p>
        </p:txBody>
      </p:sp>
      <p:cxnSp>
        <p:nvCxnSpPr>
          <p:cNvPr id="167" name="꺾인 연결선 166"/>
          <p:cNvCxnSpPr>
            <a:cxnSpLocks/>
          </p:cNvCxnSpPr>
          <p:nvPr/>
        </p:nvCxnSpPr>
        <p:spPr>
          <a:xfrm flipV="1">
            <a:off x="3657397" y="5567554"/>
            <a:ext cx="635862" cy="29173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989809"/>
              </p:ext>
            </p:extLst>
          </p:nvPr>
        </p:nvGraphicFramePr>
        <p:xfrm>
          <a:off x="4290488" y="465815"/>
          <a:ext cx="3231687" cy="2747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1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7161"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" name="타원 70"/>
          <p:cNvSpPr/>
          <p:nvPr/>
        </p:nvSpPr>
        <p:spPr>
          <a:xfrm>
            <a:off x="4564315" y="875743"/>
            <a:ext cx="733786" cy="70173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icon</a:t>
            </a:r>
            <a:endParaRPr lang="ko-KR" altLang="en-US" sz="7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564314" y="1598850"/>
            <a:ext cx="733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페이스북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64720" y="2486628"/>
            <a:ext cx="24832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URL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누르시면 복사 하실 수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4" name="꺾인 연결선 73"/>
          <p:cNvCxnSpPr>
            <a:cxnSpLocks/>
            <a:endCxn id="69" idx="1"/>
          </p:cNvCxnSpPr>
          <p:nvPr/>
        </p:nvCxnSpPr>
        <p:spPr>
          <a:xfrm flipV="1">
            <a:off x="3485132" y="1839395"/>
            <a:ext cx="805356" cy="130923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타원 74"/>
          <p:cNvSpPr/>
          <p:nvPr/>
        </p:nvSpPr>
        <p:spPr>
          <a:xfrm>
            <a:off x="5510653" y="875743"/>
            <a:ext cx="733786" cy="70173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icon</a:t>
            </a:r>
            <a:endParaRPr lang="ko-KR" altLang="en-US" sz="7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510652" y="1598850"/>
            <a:ext cx="733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카카오톡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6456990" y="851570"/>
            <a:ext cx="733786" cy="70173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icon</a:t>
            </a:r>
            <a:endParaRPr lang="ko-KR" altLang="en-US" sz="7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456989" y="1574677"/>
            <a:ext cx="733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문자발송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4523958" y="1995132"/>
            <a:ext cx="2764746" cy="416370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488894" y="2081842"/>
            <a:ext cx="2931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http://m.hanatour.com/fnd/n/j10psml/l1515h/detail.hnt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290488" y="2837353"/>
            <a:ext cx="3231687" cy="375623"/>
          </a:xfrm>
          <a:prstGeom prst="rect">
            <a:avLst/>
          </a:prstGeom>
          <a:solidFill>
            <a:srgbClr val="BB0560"/>
          </a:solidFill>
          <a:ln w="3175"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graphicFrame>
        <p:nvGraphicFramePr>
          <p:cNvPr id="94" name="표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494483"/>
              </p:ext>
            </p:extLst>
          </p:nvPr>
        </p:nvGraphicFramePr>
        <p:xfrm>
          <a:off x="9552384" y="8546"/>
          <a:ext cx="2635809" cy="2435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CHP-MO-FND-9993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상품상세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티켓 타입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상세페이지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FND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상품상세 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티켓타입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검색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셀렉트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박스 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즐길거리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교통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&amp;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패스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입장권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렌터카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선택기준 적용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티켓타임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영역으로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E-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바우처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실물 티켓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E-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티켓 등등 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티켓 정책 및 해당 걸과 값에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9728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965719"/>
                  </a:ext>
                </a:extLst>
              </a:tr>
            </a:tbl>
          </a:graphicData>
        </a:graphic>
      </p:graphicFrame>
      <p:sp>
        <p:nvSpPr>
          <p:cNvPr id="100" name="타원 99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205183" y="74777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1" name="타원 100"/>
          <p:cNvSpPr/>
          <p:nvPr/>
        </p:nvSpPr>
        <p:spPr>
          <a:xfrm>
            <a:off x="266735" y="4383869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3406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07728" y="6039688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15883" y="5445288"/>
            <a:ext cx="32292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Banner Area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DE16943-93A6-4567-AB9B-5FDCCB5623AC}"/>
              </a:ext>
            </a:extLst>
          </p:cNvPr>
          <p:cNvCxnSpPr/>
          <p:nvPr/>
        </p:nvCxnSpPr>
        <p:spPr>
          <a:xfrm>
            <a:off x="426561" y="888726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460804"/>
              </p:ext>
            </p:extLst>
          </p:nvPr>
        </p:nvGraphicFramePr>
        <p:xfrm>
          <a:off x="417037" y="908720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80413062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후기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426561" y="1169984"/>
            <a:ext cx="81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424294" y="908720"/>
            <a:ext cx="323274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물결 90"/>
          <p:cNvSpPr/>
          <p:nvPr/>
        </p:nvSpPr>
        <p:spPr>
          <a:xfrm>
            <a:off x="479376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07368" y="199673"/>
            <a:ext cx="2698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기본정보탭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선택시</a:t>
            </a:r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2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933579"/>
              </p:ext>
            </p:extLst>
          </p:nvPr>
        </p:nvGraphicFramePr>
        <p:xfrm>
          <a:off x="9552384" y="8546"/>
          <a:ext cx="2635809" cy="2986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CHP-MO-FND-9993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상품상세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티켓 타입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디폴트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탭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FND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상품상세 하단 기본정보 탭 선택 시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텍스트 형태 출력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기본값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기본 텍스트 입력 값 수정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크기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굵기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색 변경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띄어쓰기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밑줄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취소선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등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변경 옵션 필요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이미지 형태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용량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사이즈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저작권 등 고려 하여 반영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endParaRPr lang="ko-KR" altLang="en-US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36976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링크 형태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해당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링크 텍스트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링크 주소 필수 필요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32318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기존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AS-IS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와 정책과 동일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출력 값 유동적이기에 관리자 에디터 형태 적용 예상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444758"/>
                  </a:ext>
                </a:extLst>
              </a:tr>
            </a:tbl>
          </a:graphicData>
        </a:graphic>
      </p:graphicFrame>
      <p:sp>
        <p:nvSpPr>
          <p:cNvPr id="89" name="직사각형 88"/>
          <p:cNvSpPr/>
          <p:nvPr/>
        </p:nvSpPr>
        <p:spPr>
          <a:xfrm>
            <a:off x="417381" y="5049184"/>
            <a:ext cx="1584000" cy="3240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장바구니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2073397" y="5049216"/>
            <a:ext cx="1584000" cy="324000"/>
          </a:xfrm>
          <a:prstGeom prst="rect">
            <a:avLst/>
          </a:prstGeom>
          <a:solidFill>
            <a:srgbClr val="BB0560"/>
          </a:solidFill>
          <a:ln w="3175"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예약하기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72738" y="1552905"/>
            <a:ext cx="3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기간 내 다운 받으신 쿠폰은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내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사용하셔야합니다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소멸 후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재발행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불가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/>
              <a:t> </a:t>
            </a:r>
            <a:r>
              <a:rPr lang="en-US" altLang="ko-KR" sz="800" dirty="0"/>
              <a:t>- </a:t>
            </a:r>
            <a:r>
              <a:rPr lang="ko-KR" altLang="en-US" sz="800" dirty="0"/>
              <a:t>예약 후 결제 시 쿠폰을 통해 </a:t>
            </a:r>
            <a:r>
              <a:rPr lang="ko-KR" altLang="en-US" sz="800" dirty="0" err="1"/>
              <a:t>할인받고</a:t>
            </a:r>
            <a:r>
              <a:rPr lang="ko-KR" altLang="en-US" sz="800" dirty="0"/>
              <a:t> 결제</a:t>
            </a:r>
            <a:endParaRPr lang="en-US" altLang="ko-KR" sz="800" dirty="0"/>
          </a:p>
          <a:p>
            <a:r>
              <a:rPr lang="ko-KR" altLang="en-US" sz="800" dirty="0"/>
              <a:t>* 결제 시 쿠폰을 사용 못 할 시 수기로 할인 적용해드릴 수 없습니다</a:t>
            </a:r>
            <a:r>
              <a:rPr lang="en-US" altLang="ko-KR" sz="800" dirty="0"/>
              <a:t>.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BBD5A13-F2F3-4B83-9611-21D3B53300D3}"/>
              </a:ext>
            </a:extLst>
          </p:cNvPr>
          <p:cNvSpPr txBox="1"/>
          <p:nvPr/>
        </p:nvSpPr>
        <p:spPr>
          <a:xfrm>
            <a:off x="525381" y="1354232"/>
            <a:ext cx="288032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★일본 테마파크 입장권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천원 할인쿠폰 다운받기★</a:t>
            </a:r>
          </a:p>
        </p:txBody>
      </p:sp>
      <p:sp>
        <p:nvSpPr>
          <p:cNvPr id="109" name="Text Box 28"/>
          <p:cNvSpPr txBox="1">
            <a:spLocks noChangeArrowheads="1"/>
          </p:cNvSpPr>
          <p:nvPr/>
        </p:nvSpPr>
        <p:spPr bwMode="auto">
          <a:xfrm rot="5400000">
            <a:off x="1791344" y="4250566"/>
            <a:ext cx="510791" cy="45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 anchor="ctr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……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10" name="Placeholder"/>
          <p:cNvGrpSpPr>
            <a:grpSpLocks/>
          </p:cNvGrpSpPr>
          <p:nvPr/>
        </p:nvGrpSpPr>
        <p:grpSpPr bwMode="auto">
          <a:xfrm>
            <a:off x="479376" y="2299845"/>
            <a:ext cx="3098969" cy="939573"/>
            <a:chOff x="508000" y="1397000"/>
            <a:chExt cx="1008112" cy="1008112"/>
          </a:xfrm>
          <a:solidFill>
            <a:srgbClr val="000000">
              <a:alpha val="30196"/>
            </a:srgbClr>
          </a:solidFill>
        </p:grpSpPr>
        <p:sp>
          <p:nvSpPr>
            <p:cNvPr id="111" name="Border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12" name="Line 2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13" name="Line 1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430750" y="4593329"/>
            <a:ext cx="32319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ko-KR" altLang="en-US" sz="800" b="1" i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탭 걸과 값에 등록 된 내용 출력</a:t>
            </a:r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470345" y="170924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7585" y="3501008"/>
            <a:ext cx="3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기간 내 다운 받으신 쿠폰은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내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사용하셔야합니다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소멸 후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재발행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불가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/>
              <a:t> </a:t>
            </a:r>
            <a:r>
              <a:rPr lang="en-US" altLang="ko-KR" sz="800" dirty="0"/>
              <a:t>- </a:t>
            </a:r>
            <a:r>
              <a:rPr lang="ko-KR" altLang="en-US" sz="800" dirty="0"/>
              <a:t>예약 후 결제 시 쿠폰을 통해 </a:t>
            </a:r>
            <a:r>
              <a:rPr lang="ko-KR" altLang="en-US" sz="800" dirty="0" err="1"/>
              <a:t>할인받고</a:t>
            </a:r>
            <a:r>
              <a:rPr lang="ko-KR" altLang="en-US" sz="800" dirty="0"/>
              <a:t> 결제</a:t>
            </a:r>
            <a:endParaRPr lang="en-US" altLang="ko-KR" sz="800" dirty="0"/>
          </a:p>
          <a:p>
            <a:r>
              <a:rPr lang="ko-KR" altLang="en-US" sz="800" dirty="0"/>
              <a:t>* 결제 시 쿠폰을 사용 못 할 시 수기로 할인 적용해드릴 수 없습니다</a:t>
            </a:r>
            <a:r>
              <a:rPr lang="en-US" altLang="ko-KR" sz="800" dirty="0"/>
              <a:t>.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25381" y="3308644"/>
            <a:ext cx="117579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u="sng" dirty="0" err="1">
                <a:solidFill>
                  <a:srgbClr val="0066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쿠폰받으러가기</a:t>
            </a:r>
            <a:r>
              <a:rPr lang="en-US" altLang="ko-KR" sz="800" u="sng" dirty="0">
                <a:solidFill>
                  <a:srgbClr val="0066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dirty="0"/>
          </a:p>
        </p:txBody>
      </p:sp>
      <p:cxnSp>
        <p:nvCxnSpPr>
          <p:cNvPr id="42" name="꺾인 연결선 41"/>
          <p:cNvCxnSpPr>
            <a:cxnSpLocks/>
            <a:stCxn id="126" idx="6"/>
          </p:cNvCxnSpPr>
          <p:nvPr/>
        </p:nvCxnSpPr>
        <p:spPr>
          <a:xfrm flipV="1">
            <a:off x="3686345" y="1291316"/>
            <a:ext cx="681463" cy="52593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287713" y="1168205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470345" y="267349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8" name="꺾인 연결선 47"/>
          <p:cNvCxnSpPr>
            <a:cxnSpLocks/>
          </p:cNvCxnSpPr>
          <p:nvPr/>
        </p:nvCxnSpPr>
        <p:spPr>
          <a:xfrm flipV="1">
            <a:off x="3619992" y="2253995"/>
            <a:ext cx="681463" cy="52593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223792" y="2129843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1415480" y="329175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1" name="꺾인 연결선 50"/>
          <p:cNvCxnSpPr>
            <a:cxnSpLocks/>
            <a:stCxn id="50" idx="6"/>
            <a:endCxn id="53" idx="1"/>
          </p:cNvCxnSpPr>
          <p:nvPr/>
        </p:nvCxnSpPr>
        <p:spPr>
          <a:xfrm>
            <a:off x="1631480" y="3399753"/>
            <a:ext cx="2749992" cy="347476"/>
          </a:xfrm>
          <a:prstGeom prst="bentConnector3">
            <a:avLst>
              <a:gd name="adj1" fmla="val 84983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381472" y="3624118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링크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</a:t>
            </a:r>
          </a:p>
        </p:txBody>
      </p:sp>
    </p:spTree>
    <p:extLst>
      <p:ext uri="{BB962C8B-B14F-4D97-AF65-F5344CB8AC3E}">
        <p14:creationId xmlns:p14="http://schemas.microsoft.com/office/powerpoint/2010/main" val="3254366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Box 28"/>
          <p:cNvSpPr txBox="1">
            <a:spLocks noChangeArrowheads="1"/>
          </p:cNvSpPr>
          <p:nvPr/>
        </p:nvSpPr>
        <p:spPr bwMode="auto">
          <a:xfrm rot="5400000">
            <a:off x="5477862" y="4675878"/>
            <a:ext cx="510791" cy="45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 anchor="ctr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……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07728" y="6039688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15883" y="5445288"/>
            <a:ext cx="32292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Banner Area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DE16943-93A6-4567-AB9B-5FDCCB5623AC}"/>
              </a:ext>
            </a:extLst>
          </p:cNvPr>
          <p:cNvCxnSpPr/>
          <p:nvPr/>
        </p:nvCxnSpPr>
        <p:spPr>
          <a:xfrm>
            <a:off x="426561" y="888726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400881"/>
              </p:ext>
            </p:extLst>
          </p:nvPr>
        </p:nvGraphicFramePr>
        <p:xfrm>
          <a:off x="417037" y="908720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80413062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후기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1253552" y="1169984"/>
            <a:ext cx="81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430369" y="908720"/>
            <a:ext cx="323274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물결 90"/>
          <p:cNvSpPr/>
          <p:nvPr/>
        </p:nvSpPr>
        <p:spPr>
          <a:xfrm>
            <a:off x="479376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07367" y="199673"/>
            <a:ext cx="3250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필수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확인사항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탭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선택시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–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텍스트형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디폴트 </a:t>
            </a:r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2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746289"/>
              </p:ext>
            </p:extLst>
          </p:nvPr>
        </p:nvGraphicFramePr>
        <p:xfrm>
          <a:off x="9552384" y="8546"/>
          <a:ext cx="2635809" cy="366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CHP-MO-FND-9993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상품상세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티켓 타입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디폴트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탭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FND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상품상세 하단 필수 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확인사항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탭 선택 시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이용조건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연령기준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안내 타이틀 및 내용 텍스트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텍스트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관려자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페이지내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- 1a)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하위 해당 요소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“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포함상항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상품형태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유효기간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연령규정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예약시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유의사항 등등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”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관련 내용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예약변경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취소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환불 규정 타이틀 및 내용 텍스트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텍스트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수정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관려자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페이지내 출력</a:t>
                      </a: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- 2a)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하위 해당 요소 출력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36976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이용조건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연령기준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안내 출력 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이미지 형태로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32318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예약변경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취소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환불 규정 출력 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이미지 형태로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97527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기존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AS-IS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와 정책과 동일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출력 값 유동적이기에 관리자 에디터 형태 적용 예상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444758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72738" y="1484784"/>
            <a:ext cx="309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>
                <a:latin typeface="나눔고딕" panose="020B0600000101010101" charset="-127"/>
                <a:ea typeface="나눔고딕" panose="020B0600000101010101" charset="-127"/>
              </a:rPr>
              <a:t>포함사항</a:t>
            </a:r>
            <a:endParaRPr lang="en-US" altLang="ko-KR" sz="800" b="1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오사카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주유패스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일권</a:t>
            </a:r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BD5A13-F2F3-4B83-9611-21D3B53300D3}"/>
              </a:ext>
            </a:extLst>
          </p:cNvPr>
          <p:cNvSpPr txBox="1"/>
          <p:nvPr/>
        </p:nvSpPr>
        <p:spPr>
          <a:xfrm>
            <a:off x="767408" y="1329051"/>
            <a:ext cx="288032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이용조건 </a:t>
            </a:r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/ </a:t>
            </a:r>
            <a:r>
              <a:rPr lang="ko-KR" altLang="en-US" sz="1000" b="1" dirty="0" err="1">
                <a:latin typeface="나눔고딕" panose="020B0600000101010101" charset="-127"/>
                <a:ea typeface="나눔고딕" panose="020B0600000101010101" charset="-127"/>
              </a:rPr>
              <a:t>연령기준</a:t>
            </a:r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 안내</a:t>
            </a:r>
          </a:p>
        </p:txBody>
      </p:sp>
      <p:sp>
        <p:nvSpPr>
          <p:cNvPr id="34" name="타원 33"/>
          <p:cNvSpPr/>
          <p:nvPr/>
        </p:nvSpPr>
        <p:spPr>
          <a:xfrm>
            <a:off x="544418" y="1336801"/>
            <a:ext cx="144000" cy="144000"/>
          </a:xfrm>
          <a:prstGeom prst="ellipse">
            <a:avLst/>
          </a:prstGeom>
          <a:solidFill>
            <a:srgbClr val="BB0560"/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2737" y="1870305"/>
            <a:ext cx="3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>
                <a:latin typeface="나눔고딕" panose="020B0600000101010101" charset="-127"/>
                <a:ea typeface="나눔고딕" panose="020B0600000101010101" charset="-127"/>
              </a:rPr>
              <a:t>상품형태</a:t>
            </a:r>
            <a:endParaRPr lang="en-US" altLang="ko-KR" sz="800" b="1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현지에서 바로 이용 가능합니다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* 택배 상품의 경우 전국 하나투어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바로존에서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직접 수령하실 수 있습니다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376" y="2461299"/>
            <a:ext cx="3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anose="020B0600000101010101" charset="-127"/>
                <a:ea typeface="나눔고딕" panose="020B0600000101010101" charset="-127"/>
              </a:rPr>
              <a:t>유효기간</a:t>
            </a:r>
            <a:endParaRPr lang="en-US" altLang="ko-KR" sz="800" b="1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2020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년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4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월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30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일까지 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일본연호로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30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년은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18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년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.31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년은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19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년을 의미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37" y="2963901"/>
            <a:ext cx="3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>
                <a:latin typeface="나눔고딕" panose="020B0600000101010101" charset="-127"/>
                <a:ea typeface="나눔고딕" panose="020B0600000101010101" charset="-127"/>
              </a:rPr>
              <a:t>연령규정</a:t>
            </a:r>
            <a:r>
              <a:rPr lang="ko-KR" altLang="en-US" sz="800" b="1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800" b="1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성인과 동일하게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'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오카사주유패스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'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를 이용하시거나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혹은 일본 현지에서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'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오사카시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교통국 엔조이 에코 카드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' 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어린이용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(300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엔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을 구입하여 이용하는 방법이 있습니다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단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, '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오사카시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교통국 엔조이 에코 카드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'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는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주유패스와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동일한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패스권이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아닙니다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) 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09381" y="129266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52192" y="2179549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1a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BD5A13-F2F3-4B83-9611-21D3B53300D3}"/>
              </a:ext>
            </a:extLst>
          </p:cNvPr>
          <p:cNvSpPr txBox="1"/>
          <p:nvPr/>
        </p:nvSpPr>
        <p:spPr>
          <a:xfrm>
            <a:off x="791182" y="3773925"/>
            <a:ext cx="288032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 err="1">
                <a:latin typeface="나눔고딕" panose="020B0600000101010101" charset="-127"/>
                <a:ea typeface="나눔고딕" panose="020B0600000101010101" charset="-127"/>
              </a:rPr>
              <a:t>예약변경</a:t>
            </a:r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/ </a:t>
            </a:r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취소 </a:t>
            </a:r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/ </a:t>
            </a:r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환불 규정</a:t>
            </a:r>
          </a:p>
        </p:txBody>
      </p:sp>
      <p:sp>
        <p:nvSpPr>
          <p:cNvPr id="44" name="타원 43"/>
          <p:cNvSpPr/>
          <p:nvPr/>
        </p:nvSpPr>
        <p:spPr>
          <a:xfrm>
            <a:off x="568192" y="3781675"/>
            <a:ext cx="144000" cy="144000"/>
          </a:xfrm>
          <a:prstGeom prst="ellipse">
            <a:avLst/>
          </a:prstGeom>
          <a:solidFill>
            <a:srgbClr val="BB0560"/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33155" y="373753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03400" y="3994525"/>
            <a:ext cx="3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취소 및 환불은 평일 영업시간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월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-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금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09:00~18:00)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내에 요청 접수된 경우에 가능합니다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-     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발권 전 취소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요청시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취소료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없이 가능하며 발권 후에는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10%   </a:t>
            </a:r>
          </a:p>
          <a:p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    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취소료가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적용</a:t>
            </a:r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     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발권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완료시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예약 조회에서 확인 가능합니다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.)</a:t>
            </a:r>
          </a:p>
          <a:p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4" name="Text Box 28"/>
          <p:cNvSpPr txBox="1">
            <a:spLocks noChangeArrowheads="1"/>
          </p:cNvSpPr>
          <p:nvPr/>
        </p:nvSpPr>
        <p:spPr bwMode="auto">
          <a:xfrm rot="5400000">
            <a:off x="1808156" y="4747886"/>
            <a:ext cx="510791" cy="45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 anchor="ctr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……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090936" y="5453309"/>
            <a:ext cx="32292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Banner Area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물결 56"/>
          <p:cNvSpPr/>
          <p:nvPr/>
        </p:nvSpPr>
        <p:spPr>
          <a:xfrm>
            <a:off x="4143269" y="628346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4085536" y="6039688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DE16943-93A6-4567-AB9B-5FDCCB5623AC}"/>
              </a:ext>
            </a:extLst>
          </p:cNvPr>
          <p:cNvCxnSpPr/>
          <p:nvPr/>
        </p:nvCxnSpPr>
        <p:spPr>
          <a:xfrm>
            <a:off x="4100460" y="872500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145948"/>
              </p:ext>
            </p:extLst>
          </p:nvPr>
        </p:nvGraphicFramePr>
        <p:xfrm>
          <a:off x="4090936" y="892494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80413062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후기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" name="직사각형 65"/>
          <p:cNvSpPr/>
          <p:nvPr/>
        </p:nvSpPr>
        <p:spPr>
          <a:xfrm>
            <a:off x="4927451" y="1153758"/>
            <a:ext cx="81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7" name="직선 연결선 66"/>
          <p:cNvCxnSpPr/>
          <p:nvPr/>
        </p:nvCxnSpPr>
        <p:spPr>
          <a:xfrm>
            <a:off x="4104268" y="892494"/>
            <a:ext cx="323274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081274" y="187772"/>
            <a:ext cx="3250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필수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확인사항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탭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선택시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–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이미지형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2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BD5A13-F2F3-4B83-9611-21D3B53300D3}"/>
              </a:ext>
            </a:extLst>
          </p:cNvPr>
          <p:cNvSpPr txBox="1"/>
          <p:nvPr/>
        </p:nvSpPr>
        <p:spPr>
          <a:xfrm>
            <a:off x="4553301" y="1337410"/>
            <a:ext cx="288032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이용조건 </a:t>
            </a:r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/ </a:t>
            </a:r>
            <a:r>
              <a:rPr lang="ko-KR" altLang="en-US" sz="1000" b="1" dirty="0" err="1">
                <a:latin typeface="나눔고딕" panose="020B0600000101010101" charset="-127"/>
                <a:ea typeface="나눔고딕" panose="020B0600000101010101" charset="-127"/>
              </a:rPr>
              <a:t>연령기준</a:t>
            </a:r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 안내</a:t>
            </a:r>
          </a:p>
        </p:txBody>
      </p:sp>
      <p:sp>
        <p:nvSpPr>
          <p:cNvPr id="70" name="타원 69"/>
          <p:cNvSpPr/>
          <p:nvPr/>
        </p:nvSpPr>
        <p:spPr>
          <a:xfrm>
            <a:off x="4330311" y="1345160"/>
            <a:ext cx="144000" cy="144000"/>
          </a:xfrm>
          <a:prstGeom prst="ellipse">
            <a:avLst/>
          </a:prstGeom>
          <a:solidFill>
            <a:srgbClr val="BB0560"/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BD5A13-F2F3-4B83-9611-21D3B53300D3}"/>
              </a:ext>
            </a:extLst>
          </p:cNvPr>
          <p:cNvSpPr txBox="1"/>
          <p:nvPr/>
        </p:nvSpPr>
        <p:spPr>
          <a:xfrm>
            <a:off x="4577075" y="3497824"/>
            <a:ext cx="288032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 err="1">
                <a:latin typeface="나눔고딕" panose="020B0600000101010101" charset="-127"/>
                <a:ea typeface="나눔고딕" panose="020B0600000101010101" charset="-127"/>
              </a:rPr>
              <a:t>예약변경</a:t>
            </a:r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/ </a:t>
            </a:r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취소 </a:t>
            </a:r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/ </a:t>
            </a:r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환불 규정</a:t>
            </a:r>
          </a:p>
        </p:txBody>
      </p:sp>
      <p:sp>
        <p:nvSpPr>
          <p:cNvPr id="72" name="타원 71"/>
          <p:cNvSpPr/>
          <p:nvPr/>
        </p:nvSpPr>
        <p:spPr>
          <a:xfrm>
            <a:off x="4354085" y="3505574"/>
            <a:ext cx="144000" cy="144000"/>
          </a:xfrm>
          <a:prstGeom prst="ellipse">
            <a:avLst/>
          </a:prstGeom>
          <a:solidFill>
            <a:srgbClr val="BB0560"/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73" name="Placeholder"/>
          <p:cNvGrpSpPr>
            <a:grpSpLocks/>
          </p:cNvGrpSpPr>
          <p:nvPr/>
        </p:nvGrpSpPr>
        <p:grpSpPr bwMode="auto">
          <a:xfrm>
            <a:off x="4144654" y="1556792"/>
            <a:ext cx="3098969" cy="1796580"/>
            <a:chOff x="508000" y="1397000"/>
            <a:chExt cx="1008112" cy="1008112"/>
          </a:xfrm>
          <a:solidFill>
            <a:srgbClr val="000000">
              <a:alpha val="30196"/>
            </a:srgbClr>
          </a:solidFill>
        </p:grpSpPr>
        <p:sp>
          <p:nvSpPr>
            <p:cNvPr id="74" name="Border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5" name="Line 2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6" name="Line 1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77" name="Placeholder"/>
          <p:cNvGrpSpPr>
            <a:grpSpLocks/>
          </p:cNvGrpSpPr>
          <p:nvPr/>
        </p:nvGrpSpPr>
        <p:grpSpPr bwMode="auto">
          <a:xfrm>
            <a:off x="4156051" y="3713848"/>
            <a:ext cx="3098969" cy="867280"/>
            <a:chOff x="508000" y="1397000"/>
            <a:chExt cx="1008112" cy="1008112"/>
          </a:xfrm>
          <a:solidFill>
            <a:srgbClr val="000000">
              <a:alpha val="30196"/>
            </a:srgbClr>
          </a:solidFill>
        </p:grpSpPr>
        <p:sp>
          <p:nvSpPr>
            <p:cNvPr id="78" name="Border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9" name="Line 2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81" name="Line 1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417381" y="5049184"/>
            <a:ext cx="3240016" cy="324032"/>
            <a:chOff x="417381" y="5049184"/>
            <a:chExt cx="3240016" cy="324032"/>
          </a:xfrm>
        </p:grpSpPr>
        <p:sp>
          <p:nvSpPr>
            <p:cNvPr id="89" name="직사각형 88"/>
            <p:cNvSpPr/>
            <p:nvPr/>
          </p:nvSpPr>
          <p:spPr>
            <a:xfrm>
              <a:off x="417381" y="5049184"/>
              <a:ext cx="1584000" cy="324000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장바구니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2073397" y="5049216"/>
              <a:ext cx="1584000" cy="324000"/>
            </a:xfrm>
            <a:prstGeom prst="rect">
              <a:avLst/>
            </a:prstGeom>
            <a:solidFill>
              <a:srgbClr val="BB056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rgbClr val="FFFFF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예약하기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4081274" y="5057205"/>
            <a:ext cx="3240016" cy="324032"/>
            <a:chOff x="417381" y="5049184"/>
            <a:chExt cx="3240016" cy="324032"/>
          </a:xfrm>
        </p:grpSpPr>
        <p:sp>
          <p:nvSpPr>
            <p:cNvPr id="59" name="직사각형 58"/>
            <p:cNvSpPr/>
            <p:nvPr/>
          </p:nvSpPr>
          <p:spPr>
            <a:xfrm>
              <a:off x="417381" y="5049184"/>
              <a:ext cx="1584000" cy="324000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장바구니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2073397" y="5049216"/>
              <a:ext cx="1584000" cy="324000"/>
            </a:xfrm>
            <a:prstGeom prst="rect">
              <a:avLst/>
            </a:prstGeom>
            <a:solidFill>
              <a:srgbClr val="BB056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rgbClr val="FFFFF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예약하기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83" name="타원 82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64738" y="414176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2a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4081274" y="228458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4035269" y="403376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232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07728" y="6039688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15883" y="5445288"/>
            <a:ext cx="32292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Banner Area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DE16943-93A6-4567-AB9B-5FDCCB5623AC}"/>
              </a:ext>
            </a:extLst>
          </p:cNvPr>
          <p:cNvCxnSpPr/>
          <p:nvPr/>
        </p:nvCxnSpPr>
        <p:spPr>
          <a:xfrm>
            <a:off x="426561" y="888726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893303"/>
              </p:ext>
            </p:extLst>
          </p:nvPr>
        </p:nvGraphicFramePr>
        <p:xfrm>
          <a:off x="417037" y="908720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80413062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후기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2048204" y="1174118"/>
            <a:ext cx="81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424294" y="908720"/>
            <a:ext cx="323274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물결 90"/>
          <p:cNvSpPr/>
          <p:nvPr/>
        </p:nvSpPr>
        <p:spPr>
          <a:xfrm>
            <a:off x="479376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07368" y="199673"/>
            <a:ext cx="2698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상세정보탭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선택시</a:t>
            </a:r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2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10712"/>
              </p:ext>
            </p:extLst>
          </p:nvPr>
        </p:nvGraphicFramePr>
        <p:xfrm>
          <a:off x="9552384" y="8546"/>
          <a:ext cx="2635809" cy="2986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CHP-MO-FND-9993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상품상세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티켓 타입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디폴트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상세정보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탭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FND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상품상세 하단 기본정보 탭 선택 시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텍스트 형태 출력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기본값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기본 텍스트 입력 값 수정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크기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굵기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색 변경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띄어쓰기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밑줄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취소선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등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변경 옵션 필요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이미지 형태 출력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텍스트 형태와 혼합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용량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사이즈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저작권 등 고려 하여 반영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endParaRPr lang="ko-KR" altLang="en-US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36976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링크 형태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출력텍스트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형태와 혼합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해당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링크 텍스트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링크 주소 필수 필요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32318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기존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AS-IS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와 정책과 동일</a:t>
                      </a: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출력 값 유동적이기에 관리자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관리자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에디터 형태 적용 예상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444758"/>
                  </a:ext>
                </a:extLst>
              </a:tr>
            </a:tbl>
          </a:graphicData>
        </a:graphic>
      </p:graphicFrame>
      <p:sp>
        <p:nvSpPr>
          <p:cNvPr id="89" name="직사각형 88"/>
          <p:cNvSpPr/>
          <p:nvPr/>
        </p:nvSpPr>
        <p:spPr>
          <a:xfrm>
            <a:off x="417381" y="5049184"/>
            <a:ext cx="1584000" cy="3240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장바구니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2073397" y="5049216"/>
            <a:ext cx="1584000" cy="324000"/>
          </a:xfrm>
          <a:prstGeom prst="rect">
            <a:avLst/>
          </a:prstGeom>
          <a:solidFill>
            <a:srgbClr val="BB0560"/>
          </a:solidFill>
          <a:ln w="3175"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예약하기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72738" y="1552905"/>
            <a:ext cx="309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/>
              <a:t>방문을 원하시는 날짜의 </a:t>
            </a:r>
            <a:r>
              <a:rPr lang="ko-KR" altLang="en-US" sz="800" dirty="0" err="1"/>
              <a:t>시즌구분을</a:t>
            </a:r>
            <a:r>
              <a:rPr lang="ko-KR" altLang="en-US" sz="800" dirty="0"/>
              <a:t> 선택하여 </a:t>
            </a:r>
            <a:r>
              <a:rPr lang="ko-KR" altLang="en-US" sz="800" dirty="0" err="1"/>
              <a:t>예약필수</a:t>
            </a:r>
            <a:r>
              <a:rPr lang="ko-KR" altLang="en-US" sz="800" dirty="0"/>
              <a:t> </a:t>
            </a:r>
            <a:r>
              <a:rPr lang="en-US" altLang="ko-KR" sz="800" dirty="0"/>
              <a:t>(</a:t>
            </a:r>
            <a:r>
              <a:rPr lang="ko-KR" altLang="en-US" sz="800" dirty="0"/>
              <a:t>시즌</a:t>
            </a:r>
            <a:r>
              <a:rPr lang="en-US" altLang="ko-KR" sz="800" dirty="0"/>
              <a:t>A~C, C+)</a:t>
            </a:r>
          </a:p>
          <a:p>
            <a:r>
              <a:rPr lang="en-US" altLang="ko-KR" sz="800" dirty="0"/>
              <a:t>※ </a:t>
            </a:r>
            <a:r>
              <a:rPr lang="ko-KR" altLang="en-US" sz="800" dirty="0"/>
              <a:t>이용지정일부터 티켓을 사용하실 수 있으므로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/>
              <a:t>    만약 </a:t>
            </a:r>
            <a:r>
              <a:rPr lang="en-US" altLang="ko-KR" sz="800" dirty="0"/>
              <a:t>1</a:t>
            </a:r>
            <a:r>
              <a:rPr lang="ko-KR" altLang="en-US" sz="800" dirty="0"/>
              <a:t>월</a:t>
            </a:r>
            <a:r>
              <a:rPr lang="en-US" altLang="ko-KR" sz="800" dirty="0"/>
              <a:t>20</a:t>
            </a:r>
            <a:r>
              <a:rPr lang="ko-KR" altLang="en-US" sz="800" dirty="0"/>
              <a:t>일을 지정한 경우 </a:t>
            </a:r>
            <a:r>
              <a:rPr lang="en-US" altLang="ko-KR" sz="800" dirty="0"/>
              <a:t>1</a:t>
            </a:r>
            <a:r>
              <a:rPr lang="ko-KR" altLang="en-US" sz="800" dirty="0"/>
              <a:t>월</a:t>
            </a:r>
            <a:r>
              <a:rPr lang="en-US" altLang="ko-KR" sz="800" dirty="0"/>
              <a:t>20</a:t>
            </a:r>
            <a:r>
              <a:rPr lang="ko-KR" altLang="en-US" sz="800" dirty="0"/>
              <a:t>일부터 </a:t>
            </a:r>
            <a:r>
              <a:rPr lang="en-US" altLang="ko-KR" sz="800" dirty="0"/>
              <a:t>6</a:t>
            </a:r>
            <a:r>
              <a:rPr lang="ko-KR" altLang="en-US" sz="800" dirty="0"/>
              <a:t>개월</a:t>
            </a:r>
            <a:r>
              <a:rPr lang="en-US" altLang="ko-KR" sz="800" dirty="0"/>
              <a:t>, </a:t>
            </a:r>
            <a:r>
              <a:rPr lang="ko-KR" altLang="en-US" sz="800" dirty="0"/>
              <a:t>동일시즌으로만 이용가능하며</a:t>
            </a:r>
            <a:r>
              <a:rPr lang="en-US" altLang="ko-KR" sz="800" dirty="0"/>
              <a:t>,</a:t>
            </a:r>
          </a:p>
          <a:p>
            <a:r>
              <a:rPr lang="ko-KR" altLang="en-US" sz="800" dirty="0"/>
              <a:t>전날인 </a:t>
            </a:r>
            <a:r>
              <a:rPr lang="en-US" altLang="ko-KR" sz="800" dirty="0"/>
              <a:t>1</a:t>
            </a:r>
            <a:r>
              <a:rPr lang="ko-KR" altLang="en-US" sz="800" dirty="0"/>
              <a:t>월</a:t>
            </a:r>
            <a:r>
              <a:rPr lang="en-US" altLang="ko-KR" sz="800" dirty="0"/>
              <a:t>19</a:t>
            </a:r>
            <a:r>
              <a:rPr lang="ko-KR" altLang="en-US" sz="800" dirty="0"/>
              <a:t>일에는 </a:t>
            </a:r>
            <a:r>
              <a:rPr lang="ko-KR" altLang="en-US" sz="800" dirty="0" err="1"/>
              <a:t>동일시즌이여도</a:t>
            </a:r>
            <a:r>
              <a:rPr lang="ko-KR" altLang="en-US" sz="800" dirty="0"/>
              <a:t> 사용하실 수 없습니다</a:t>
            </a:r>
            <a:r>
              <a:rPr lang="en-US" altLang="ko-KR" sz="800" dirty="0"/>
              <a:t>.</a:t>
            </a:r>
          </a:p>
          <a:p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BBD5A13-F2F3-4B83-9611-21D3B53300D3}"/>
              </a:ext>
            </a:extLst>
          </p:cNvPr>
          <p:cNvSpPr txBox="1"/>
          <p:nvPr/>
        </p:nvSpPr>
        <p:spPr>
          <a:xfrm>
            <a:off x="525381" y="1354232"/>
            <a:ext cx="288032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이용방법</a:t>
            </a:r>
          </a:p>
        </p:txBody>
      </p:sp>
      <p:sp>
        <p:nvSpPr>
          <p:cNvPr id="109" name="Text Box 28"/>
          <p:cNvSpPr txBox="1">
            <a:spLocks noChangeArrowheads="1"/>
          </p:cNvSpPr>
          <p:nvPr/>
        </p:nvSpPr>
        <p:spPr bwMode="auto">
          <a:xfrm rot="5400000">
            <a:off x="1791344" y="4250566"/>
            <a:ext cx="510791" cy="45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 anchor="ctr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……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10" name="Placeholder"/>
          <p:cNvGrpSpPr>
            <a:grpSpLocks/>
          </p:cNvGrpSpPr>
          <p:nvPr/>
        </p:nvGrpSpPr>
        <p:grpSpPr bwMode="auto">
          <a:xfrm>
            <a:off x="479376" y="2420888"/>
            <a:ext cx="3098969" cy="939573"/>
            <a:chOff x="508000" y="1397000"/>
            <a:chExt cx="1008112" cy="1008112"/>
          </a:xfrm>
          <a:solidFill>
            <a:srgbClr val="000000">
              <a:alpha val="30196"/>
            </a:srgbClr>
          </a:solidFill>
        </p:grpSpPr>
        <p:sp>
          <p:nvSpPr>
            <p:cNvPr id="111" name="Border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12" name="Line 2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13" name="Line 1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430750" y="4593329"/>
            <a:ext cx="32319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ko-KR" altLang="en-US" sz="800" b="1" i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탭 걸과 값에 등록 된 내용 출력</a:t>
            </a:r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470345" y="170924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7585" y="3638255"/>
            <a:ext cx="3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/>
              <a:t>온라인에서 구매한 패스</a:t>
            </a:r>
            <a:r>
              <a:rPr lang="en-US" altLang="ko-KR" sz="800" dirty="0"/>
              <a:t>/</a:t>
            </a:r>
            <a:r>
              <a:rPr lang="ko-KR" altLang="en-US" sz="800" dirty="0"/>
              <a:t>입장권을 택배 기다릴 필요 없이 </a:t>
            </a:r>
            <a:endParaRPr lang="en-US" altLang="ko-KR" sz="800" dirty="0"/>
          </a:p>
          <a:p>
            <a:r>
              <a:rPr lang="ko-KR" altLang="en-US" sz="800" dirty="0"/>
              <a:t>서울</a:t>
            </a:r>
            <a:r>
              <a:rPr lang="en-US" altLang="ko-KR" sz="800" dirty="0"/>
              <a:t>, </a:t>
            </a:r>
            <a:r>
              <a:rPr lang="ko-KR" altLang="en-US" sz="800" dirty="0"/>
              <a:t>경기</a:t>
            </a:r>
            <a:r>
              <a:rPr lang="en-US" altLang="ko-KR" sz="800" dirty="0"/>
              <a:t>, </a:t>
            </a:r>
            <a:r>
              <a:rPr lang="ko-KR" altLang="en-US" sz="800" dirty="0"/>
              <a:t>인천</a:t>
            </a:r>
            <a:r>
              <a:rPr lang="en-US" altLang="ko-KR" sz="800" dirty="0"/>
              <a:t>, </a:t>
            </a:r>
            <a:r>
              <a:rPr lang="ko-KR" altLang="en-US" sz="800" dirty="0"/>
              <a:t>대전</a:t>
            </a:r>
            <a:r>
              <a:rPr lang="en-US" altLang="ko-KR" sz="800" dirty="0"/>
              <a:t>, </a:t>
            </a:r>
            <a:r>
              <a:rPr lang="ko-KR" altLang="en-US" sz="800" dirty="0"/>
              <a:t>영남</a:t>
            </a:r>
            <a:r>
              <a:rPr lang="en-US" altLang="ko-KR" sz="800" dirty="0"/>
              <a:t>, </a:t>
            </a:r>
            <a:r>
              <a:rPr lang="ko-KR" altLang="en-US" sz="800" dirty="0"/>
              <a:t>호남 등 직접 가까운 </a:t>
            </a:r>
            <a:r>
              <a:rPr lang="ko-KR" altLang="en-US" sz="800" dirty="0" err="1"/>
              <a:t>수령처로</a:t>
            </a:r>
            <a:r>
              <a:rPr lang="ko-KR" altLang="en-US" sz="800" dirty="0"/>
              <a:t> 방문 수령 </a:t>
            </a:r>
            <a:r>
              <a:rPr lang="ko-KR" altLang="en-US" sz="800" dirty="0" err="1"/>
              <a:t>할수</a:t>
            </a:r>
            <a:r>
              <a:rPr lang="ko-KR" altLang="en-US" sz="800" dirty="0"/>
              <a:t> 있는 </a:t>
            </a:r>
            <a:r>
              <a:rPr lang="en-US" altLang="ko-KR" sz="800" dirty="0"/>
              <a:t>ZONE!</a:t>
            </a:r>
          </a:p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25380" y="3445891"/>
            <a:ext cx="20422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u="sng" dirty="0">
                <a:solidFill>
                  <a:srgbClr val="0066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이용방법 및 </a:t>
            </a:r>
            <a:r>
              <a:rPr lang="ko-KR" altLang="en-US" sz="800" u="sng" dirty="0" err="1">
                <a:solidFill>
                  <a:srgbClr val="0066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이용시</a:t>
            </a:r>
            <a:r>
              <a:rPr lang="ko-KR" altLang="en-US" sz="800" u="sng" dirty="0">
                <a:solidFill>
                  <a:srgbClr val="0066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주의사항 </a:t>
            </a:r>
            <a:r>
              <a:rPr lang="ko-KR" altLang="en-US" sz="800" u="sng" dirty="0" err="1">
                <a:solidFill>
                  <a:srgbClr val="0066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보러가기</a:t>
            </a:r>
            <a:r>
              <a:rPr lang="ko-KR" altLang="en-US" sz="800" u="sng" dirty="0">
                <a:solidFill>
                  <a:srgbClr val="0066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u="sng" dirty="0">
                <a:solidFill>
                  <a:srgbClr val="0066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&gt;</a:t>
            </a:r>
            <a:endParaRPr lang="ko-KR" altLang="en-US" dirty="0"/>
          </a:p>
        </p:txBody>
      </p:sp>
      <p:cxnSp>
        <p:nvCxnSpPr>
          <p:cNvPr id="42" name="꺾인 연결선 41"/>
          <p:cNvCxnSpPr>
            <a:cxnSpLocks/>
            <a:stCxn id="126" idx="6"/>
          </p:cNvCxnSpPr>
          <p:nvPr/>
        </p:nvCxnSpPr>
        <p:spPr>
          <a:xfrm flipV="1">
            <a:off x="3686345" y="1291316"/>
            <a:ext cx="681463" cy="52593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287713" y="1168205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470345" y="267349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8" name="꺾인 연결선 47"/>
          <p:cNvCxnSpPr>
            <a:cxnSpLocks/>
          </p:cNvCxnSpPr>
          <p:nvPr/>
        </p:nvCxnSpPr>
        <p:spPr>
          <a:xfrm flipV="1">
            <a:off x="3619992" y="2253995"/>
            <a:ext cx="681463" cy="52593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223792" y="2129843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2467402" y="342900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1" name="꺾인 연결선 50"/>
          <p:cNvCxnSpPr>
            <a:cxnSpLocks/>
            <a:stCxn id="50" idx="6"/>
            <a:endCxn id="53" idx="1"/>
          </p:cNvCxnSpPr>
          <p:nvPr/>
        </p:nvCxnSpPr>
        <p:spPr>
          <a:xfrm>
            <a:off x="2683402" y="3537000"/>
            <a:ext cx="1698070" cy="34747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381472" y="3761365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링크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</a:t>
            </a:r>
          </a:p>
        </p:txBody>
      </p:sp>
    </p:spTree>
    <p:extLst>
      <p:ext uri="{BB962C8B-B14F-4D97-AF65-F5344CB8AC3E}">
        <p14:creationId xmlns:p14="http://schemas.microsoft.com/office/powerpoint/2010/main" val="2357030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07728" y="6039688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15883" y="5445288"/>
            <a:ext cx="32292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Banner Area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DE16943-93A6-4567-AB9B-5FDCCB5623AC}"/>
              </a:ext>
            </a:extLst>
          </p:cNvPr>
          <p:cNvCxnSpPr/>
          <p:nvPr/>
        </p:nvCxnSpPr>
        <p:spPr>
          <a:xfrm>
            <a:off x="426561" y="888726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687087"/>
              </p:ext>
            </p:extLst>
          </p:nvPr>
        </p:nvGraphicFramePr>
        <p:xfrm>
          <a:off x="417037" y="908720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80413062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후기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2835083" y="1169984"/>
            <a:ext cx="81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424294" y="908720"/>
            <a:ext cx="323274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/>
        </p:nvGrpSpPr>
        <p:grpSpPr>
          <a:xfrm>
            <a:off x="1309264" y="1288507"/>
            <a:ext cx="1796922" cy="338554"/>
            <a:chOff x="1287347" y="1378329"/>
            <a:chExt cx="1796922" cy="338554"/>
          </a:xfrm>
        </p:grpSpPr>
        <p:sp>
          <p:nvSpPr>
            <p:cNvPr id="17" name="TextBox 16"/>
            <p:cNvSpPr txBox="1"/>
            <p:nvPr/>
          </p:nvSpPr>
          <p:spPr>
            <a:xfrm>
              <a:off x="2013433" y="1378329"/>
              <a:ext cx="1070836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6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8.0</a:t>
              </a:r>
              <a:r>
                <a:rPr lang="en-US" altLang="ko-KR" sz="11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 10</a:t>
              </a:r>
              <a:endPara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" name="포인트가 5개인 별 17"/>
            <p:cNvSpPr/>
            <p:nvPr/>
          </p:nvSpPr>
          <p:spPr>
            <a:xfrm>
              <a:off x="1287347" y="1484769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" name="포인트가 5개인 별 18"/>
            <p:cNvSpPr/>
            <p:nvPr/>
          </p:nvSpPr>
          <p:spPr>
            <a:xfrm>
              <a:off x="1424117" y="1488684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" name="포인트가 5개인 별 19"/>
            <p:cNvSpPr/>
            <p:nvPr/>
          </p:nvSpPr>
          <p:spPr>
            <a:xfrm>
              <a:off x="1560887" y="1484784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" name="포인트가 5개인 별 20"/>
            <p:cNvSpPr/>
            <p:nvPr/>
          </p:nvSpPr>
          <p:spPr>
            <a:xfrm>
              <a:off x="1719395" y="1484784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" name="포인트가 5개인 별 21"/>
            <p:cNvSpPr/>
            <p:nvPr/>
          </p:nvSpPr>
          <p:spPr>
            <a:xfrm>
              <a:off x="1863427" y="1488668"/>
              <a:ext cx="144000" cy="144000"/>
            </a:xfrm>
            <a:prstGeom prst="star5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5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1765590" y="1565223"/>
            <a:ext cx="682918" cy="214848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(11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명 참여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)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481344" y="1823882"/>
            <a:ext cx="3104380" cy="1701770"/>
            <a:chOff x="481344" y="2117641"/>
            <a:chExt cx="3104380" cy="1701770"/>
          </a:xfrm>
        </p:grpSpPr>
        <p:sp>
          <p:nvSpPr>
            <p:cNvPr id="27" name="직사각형 26"/>
            <p:cNvSpPr/>
            <p:nvPr/>
          </p:nvSpPr>
          <p:spPr>
            <a:xfrm>
              <a:off x="481688" y="2379411"/>
              <a:ext cx="3096000" cy="144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28" name="포인트가 5개인 별 27"/>
            <p:cNvSpPr/>
            <p:nvPr/>
          </p:nvSpPr>
          <p:spPr>
            <a:xfrm>
              <a:off x="561731" y="2453301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" name="포인트가 5개인 별 28"/>
            <p:cNvSpPr/>
            <p:nvPr/>
          </p:nvSpPr>
          <p:spPr>
            <a:xfrm>
              <a:off x="698501" y="2457216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포인트가 5개인 별 29"/>
            <p:cNvSpPr/>
            <p:nvPr/>
          </p:nvSpPr>
          <p:spPr>
            <a:xfrm>
              <a:off x="835271" y="2453316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" name="포인트가 5개인 별 30"/>
            <p:cNvSpPr/>
            <p:nvPr/>
          </p:nvSpPr>
          <p:spPr>
            <a:xfrm>
              <a:off x="993779" y="2453316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" name="포인트가 5개인 별 31"/>
            <p:cNvSpPr/>
            <p:nvPr/>
          </p:nvSpPr>
          <p:spPr>
            <a:xfrm>
              <a:off x="1137811" y="2457200"/>
              <a:ext cx="144000" cy="144000"/>
            </a:xfrm>
            <a:prstGeom prst="star5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9724" y="2664513"/>
              <a:ext cx="3096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2019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년 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월 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일날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일가족 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명이서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다녀왔어요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!</a:t>
              </a:r>
              <a:b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저희 가족은 자유여행자체가 처음이라 워킹가이드를 신청했어요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~ 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가이드님이 호텔에서부터 데리러 오시더라고요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! 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그리고 안전하게 교토까지 지하철로 </a:t>
              </a:r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안내해주셨어요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81344" y="3537320"/>
              <a:ext cx="259228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김 </a:t>
              </a:r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* * </a:t>
              </a:r>
              <a:r>
                <a:rPr lang="ko-KR" altLang="en-US" sz="8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ㅣ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남성 </a:t>
              </a:r>
              <a:r>
                <a:rPr lang="ko-KR" altLang="en-US" sz="8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ㅣ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대 </a:t>
              </a:r>
              <a:r>
                <a:rPr lang="ko-KR" altLang="en-US" sz="8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ㅣ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출장 및 비즈니스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066786" y="2385192"/>
              <a:ext cx="15109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2018.02.01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553352" y="3299179"/>
              <a:ext cx="585311" cy="180000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18000" rIns="36000" bIns="18000" rtlCol="0" anchor="ctr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#</a:t>
              </a:r>
              <a:r>
                <a:rPr lang="ko-KR" altLang="en-US" sz="800" noProof="0" dirty="0">
                  <a:solidFill>
                    <a:schemeClr val="bg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깔끔해요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" name="모서리가 둥근 직사각형 36"/>
            <p:cNvSpPr/>
            <p:nvPr/>
          </p:nvSpPr>
          <p:spPr>
            <a:xfrm>
              <a:off x="1201424" y="3300632"/>
              <a:ext cx="894022" cy="180000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18000" rIns="36000" bIns="18000" rtlCol="0" anchor="ctr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#</a:t>
              </a:r>
              <a:r>
                <a:rPr lang="ko-KR" altLang="en-US" sz="800" noProof="0" dirty="0">
                  <a:solidFill>
                    <a:schemeClr val="bg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가성비가 좋아요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81344" y="2117641"/>
              <a:ext cx="309600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제목명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 rot="5400000">
              <a:off x="3244070" y="2117641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483160" y="3645024"/>
            <a:ext cx="3104380" cy="1701770"/>
            <a:chOff x="481344" y="2117641"/>
            <a:chExt cx="3104380" cy="1701770"/>
          </a:xfrm>
        </p:grpSpPr>
        <p:sp>
          <p:nvSpPr>
            <p:cNvPr id="60" name="직사각형 59"/>
            <p:cNvSpPr/>
            <p:nvPr/>
          </p:nvSpPr>
          <p:spPr>
            <a:xfrm>
              <a:off x="481688" y="2379411"/>
              <a:ext cx="3096000" cy="144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61" name="포인트가 5개인 별 60"/>
            <p:cNvSpPr/>
            <p:nvPr/>
          </p:nvSpPr>
          <p:spPr>
            <a:xfrm>
              <a:off x="561731" y="2453301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포인트가 5개인 별 61"/>
            <p:cNvSpPr/>
            <p:nvPr/>
          </p:nvSpPr>
          <p:spPr>
            <a:xfrm>
              <a:off x="698501" y="2457216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포인트가 5개인 별 62"/>
            <p:cNvSpPr/>
            <p:nvPr/>
          </p:nvSpPr>
          <p:spPr>
            <a:xfrm>
              <a:off x="835271" y="2453316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" name="포인트가 5개인 별 63"/>
            <p:cNvSpPr/>
            <p:nvPr/>
          </p:nvSpPr>
          <p:spPr>
            <a:xfrm>
              <a:off x="993779" y="2453316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" name="포인트가 5개인 별 64"/>
            <p:cNvSpPr/>
            <p:nvPr/>
          </p:nvSpPr>
          <p:spPr>
            <a:xfrm>
              <a:off x="1137811" y="2457200"/>
              <a:ext cx="144000" cy="144000"/>
            </a:xfrm>
            <a:prstGeom prst="star5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89724" y="2664513"/>
              <a:ext cx="3096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2019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년 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월 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일날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일가족 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명이서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다녀왔어요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!</a:t>
              </a:r>
              <a:b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저희 가족은 자유여행자체가 처음이라 워킹가이드를 신청했어요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~ 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가이드님이 호텔에서부터 데리러 오시더라고요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! 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그리고 안전하게 교토까지 지하철로 </a:t>
              </a:r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안내해주셨어요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81344" y="3537320"/>
              <a:ext cx="259228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김 </a:t>
              </a:r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* * </a:t>
              </a:r>
              <a:r>
                <a:rPr lang="ko-KR" altLang="en-US" sz="8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ㅣ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남성 </a:t>
              </a:r>
              <a:r>
                <a:rPr lang="ko-KR" altLang="en-US" sz="8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ㅣ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대 </a:t>
              </a:r>
              <a:r>
                <a:rPr lang="ko-KR" altLang="en-US" sz="8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ㅣ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출장 및 비즈니스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066786" y="2385192"/>
              <a:ext cx="15109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2018.02.01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9" name="모서리가 둥근 직사각형 68"/>
            <p:cNvSpPr/>
            <p:nvPr/>
          </p:nvSpPr>
          <p:spPr>
            <a:xfrm>
              <a:off x="553352" y="3299179"/>
              <a:ext cx="585311" cy="180000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18000" rIns="36000" bIns="18000" rtlCol="0" anchor="ctr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#</a:t>
              </a:r>
              <a:r>
                <a:rPr lang="ko-KR" altLang="en-US" sz="800" noProof="0" dirty="0">
                  <a:solidFill>
                    <a:schemeClr val="bg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깔끔해요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0" name="모서리가 둥근 직사각형 69"/>
            <p:cNvSpPr/>
            <p:nvPr/>
          </p:nvSpPr>
          <p:spPr>
            <a:xfrm>
              <a:off x="1201424" y="3300632"/>
              <a:ext cx="894022" cy="180000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18000" rIns="36000" bIns="18000" rtlCol="0" anchor="ctr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#</a:t>
              </a:r>
              <a:r>
                <a:rPr lang="ko-KR" altLang="en-US" sz="800" noProof="0" dirty="0">
                  <a:solidFill>
                    <a:schemeClr val="bg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가성비가 좋아요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481344" y="2117641"/>
              <a:ext cx="309600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제목명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 rot="5400000">
              <a:off x="3244070" y="2117641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1" name="물결 90"/>
          <p:cNvSpPr/>
          <p:nvPr/>
        </p:nvSpPr>
        <p:spPr>
          <a:xfrm>
            <a:off x="479376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  <p:sp>
        <p:nvSpPr>
          <p:cNvPr id="92" name="물결 91"/>
          <p:cNvSpPr/>
          <p:nvPr/>
        </p:nvSpPr>
        <p:spPr>
          <a:xfrm>
            <a:off x="4151784" y="628326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4082083" y="6043456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4090238" y="5449056"/>
            <a:ext cx="32292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Banner Area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5DE16943-93A6-4567-AB9B-5FDCCB5623AC}"/>
              </a:ext>
            </a:extLst>
          </p:cNvPr>
          <p:cNvCxnSpPr/>
          <p:nvPr/>
        </p:nvCxnSpPr>
        <p:spPr>
          <a:xfrm>
            <a:off x="4100916" y="892494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6" name="표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923168"/>
              </p:ext>
            </p:extLst>
          </p:nvPr>
        </p:nvGraphicFramePr>
        <p:xfrm>
          <a:off x="4091392" y="912488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80413062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후기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" name="직사각형 96"/>
          <p:cNvSpPr/>
          <p:nvPr/>
        </p:nvSpPr>
        <p:spPr>
          <a:xfrm>
            <a:off x="6509438" y="1173752"/>
            <a:ext cx="81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4098649" y="912488"/>
            <a:ext cx="323274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그룹 98"/>
          <p:cNvGrpSpPr/>
          <p:nvPr/>
        </p:nvGrpSpPr>
        <p:grpSpPr>
          <a:xfrm>
            <a:off x="4983619" y="1292275"/>
            <a:ext cx="1796922" cy="338554"/>
            <a:chOff x="1287347" y="1378329"/>
            <a:chExt cx="1796922" cy="338554"/>
          </a:xfrm>
        </p:grpSpPr>
        <p:sp>
          <p:nvSpPr>
            <p:cNvPr id="100" name="TextBox 99"/>
            <p:cNvSpPr txBox="1"/>
            <p:nvPr/>
          </p:nvSpPr>
          <p:spPr>
            <a:xfrm>
              <a:off x="2013433" y="1378329"/>
              <a:ext cx="1070836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6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8.0</a:t>
              </a:r>
              <a:r>
                <a:rPr lang="en-US" altLang="ko-KR" sz="11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 10</a:t>
              </a:r>
              <a:endPara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포인트가 5개인 별 100"/>
            <p:cNvSpPr/>
            <p:nvPr/>
          </p:nvSpPr>
          <p:spPr>
            <a:xfrm>
              <a:off x="1287347" y="1484769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포인트가 5개인 별 101"/>
            <p:cNvSpPr/>
            <p:nvPr/>
          </p:nvSpPr>
          <p:spPr>
            <a:xfrm>
              <a:off x="1424117" y="1488684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3" name="포인트가 5개인 별 102"/>
            <p:cNvSpPr/>
            <p:nvPr/>
          </p:nvSpPr>
          <p:spPr>
            <a:xfrm>
              <a:off x="1560887" y="1484784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4" name="포인트가 5개인 별 103"/>
            <p:cNvSpPr/>
            <p:nvPr/>
          </p:nvSpPr>
          <p:spPr>
            <a:xfrm>
              <a:off x="1719395" y="1484784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5" name="포인트가 5개인 별 104"/>
            <p:cNvSpPr/>
            <p:nvPr/>
          </p:nvSpPr>
          <p:spPr>
            <a:xfrm>
              <a:off x="1863427" y="1488668"/>
              <a:ext cx="144000" cy="144000"/>
            </a:xfrm>
            <a:prstGeom prst="star5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06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439945" y="1568991"/>
            <a:ext cx="682918" cy="214848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(11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명 참여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)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4157572" y="2085652"/>
            <a:ext cx="3096000" cy="2376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36" name="포인트가 5개인 별 135"/>
          <p:cNvSpPr/>
          <p:nvPr/>
        </p:nvSpPr>
        <p:spPr>
          <a:xfrm>
            <a:off x="4237615" y="2159542"/>
            <a:ext cx="144000" cy="144000"/>
          </a:xfrm>
          <a:prstGeom prst="star5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7" name="포인트가 5개인 별 136"/>
          <p:cNvSpPr/>
          <p:nvPr/>
        </p:nvSpPr>
        <p:spPr>
          <a:xfrm>
            <a:off x="4374385" y="2163457"/>
            <a:ext cx="144000" cy="144000"/>
          </a:xfrm>
          <a:prstGeom prst="star5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8" name="포인트가 5개인 별 137"/>
          <p:cNvSpPr/>
          <p:nvPr/>
        </p:nvSpPr>
        <p:spPr>
          <a:xfrm>
            <a:off x="4511155" y="2159557"/>
            <a:ext cx="144000" cy="144000"/>
          </a:xfrm>
          <a:prstGeom prst="star5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9" name="포인트가 5개인 별 138"/>
          <p:cNvSpPr/>
          <p:nvPr/>
        </p:nvSpPr>
        <p:spPr>
          <a:xfrm>
            <a:off x="4669663" y="2159557"/>
            <a:ext cx="144000" cy="144000"/>
          </a:xfrm>
          <a:prstGeom prst="star5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0" name="포인트가 5개인 별 139"/>
          <p:cNvSpPr/>
          <p:nvPr/>
        </p:nvSpPr>
        <p:spPr>
          <a:xfrm>
            <a:off x="4813695" y="2163441"/>
            <a:ext cx="144000" cy="144000"/>
          </a:xfrm>
          <a:prstGeom prst="star5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4165608" y="3309628"/>
            <a:ext cx="3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2019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일날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일가족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명이서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다녀왔어요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!</a:t>
            </a:r>
            <a:b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저희 가족은 자유여행자체가 처음이라 워킹가이드를 신청했어요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가이드님이 호텔에서부터 데리러 오시더라고요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!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그리고 안전하게 교토까지 지하철로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안내해주셨어요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157228" y="4182435"/>
            <a:ext cx="25922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* </a:t>
            </a:r>
            <a:r>
              <a:rPr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ㅣ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남성 </a:t>
            </a:r>
            <a:r>
              <a:rPr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ㅣ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 </a:t>
            </a:r>
            <a:r>
              <a:rPr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ㅣ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출장 및 비즈니스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742670" y="2091433"/>
            <a:ext cx="1510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2018.02.01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4" name="모서리가 둥근 직사각형 143"/>
          <p:cNvSpPr/>
          <p:nvPr/>
        </p:nvSpPr>
        <p:spPr>
          <a:xfrm>
            <a:off x="4229236" y="3944294"/>
            <a:ext cx="585311" cy="18000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18000" rIns="36000" bIns="18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ko-KR" altLang="en-US" sz="800" noProof="0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깔끔해요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877308" y="3945747"/>
            <a:ext cx="894022" cy="18000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18000" rIns="36000" bIns="18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ko-KR" altLang="en-US" sz="800" noProof="0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가성비가 좋아요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4157228" y="1823882"/>
            <a:ext cx="3096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제목명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47" name="TextBox 146"/>
          <p:cNvSpPr txBox="1"/>
          <p:nvPr/>
        </p:nvSpPr>
        <p:spPr>
          <a:xfrm rot="5400000">
            <a:off x="6919954" y="1823882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8" name="직사각형 147"/>
          <p:cNvSpPr/>
          <p:nvPr/>
        </p:nvSpPr>
        <p:spPr>
          <a:xfrm>
            <a:off x="4165608" y="2478360"/>
            <a:ext cx="3087620" cy="6507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9" name="타원 148"/>
          <p:cNvSpPr/>
          <p:nvPr/>
        </p:nvSpPr>
        <p:spPr>
          <a:xfrm>
            <a:off x="5560708" y="3192042"/>
            <a:ext cx="72000" cy="72000"/>
          </a:xfrm>
          <a:prstGeom prst="ellipse">
            <a:avLst/>
          </a:prstGeom>
          <a:solidFill>
            <a:srgbClr val="BB0560"/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0" name="타원 149"/>
          <p:cNvSpPr/>
          <p:nvPr/>
        </p:nvSpPr>
        <p:spPr>
          <a:xfrm>
            <a:off x="5713108" y="3190539"/>
            <a:ext cx="72000" cy="72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1" name="타원 150"/>
          <p:cNvSpPr/>
          <p:nvPr/>
        </p:nvSpPr>
        <p:spPr>
          <a:xfrm>
            <a:off x="5865508" y="3189032"/>
            <a:ext cx="72000" cy="72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07368" y="199673"/>
            <a:ext cx="2698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후기탭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선택시</a:t>
            </a:r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이미지가 없는 스타일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079775" y="199672"/>
            <a:ext cx="2925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후기탭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선택시</a:t>
            </a:r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) 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이미지가 있는 스타일</a:t>
            </a: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617766"/>
              </p:ext>
            </p:extLst>
          </p:nvPr>
        </p:nvGraphicFramePr>
        <p:xfrm>
          <a:off x="9552384" y="8546"/>
          <a:ext cx="2635809" cy="3192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CHP-MO-FND-9993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상품상세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티켓 타입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후기탭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FND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상품상세 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티켓타입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후기 평점 전체 기준 평균값으로 노출 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후기 값이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없을경우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- 3a)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별정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개 모두 채워 놓음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- 3b) “0”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점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표기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- 3c)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0”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명 참여 표기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4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후기 영역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기본적값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열린상태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리뷰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토글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버튼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클릭시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영역 최소화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9728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이미지가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개 이상일 경우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페이징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영역 노출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2542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해제된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플로팅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버튼 영역 하단 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배너 노출 링크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altLang="ko-KR" sz="800" dirty="0">
                          <a:hlinkClick r:id="rId4"/>
                        </a:rPr>
                        <a:t>http://m.hanatour.com/competitiv/index.hnt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  <a:endParaRPr lang="ko-KR" altLang="en-US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4941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ko-KR" altLang="en-US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575606"/>
                  </a:ext>
                </a:extLst>
              </a:tr>
            </a:tbl>
          </a:graphicData>
        </a:graphic>
      </p:graphicFrame>
      <p:sp>
        <p:nvSpPr>
          <p:cNvPr id="82" name="타원 81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139786" y="772705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1629232" y="1166887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3a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2232157" y="1173647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3b 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1566035" y="1567233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3c 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259841" y="1666635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5612811" y="2351121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5648811" y="5346794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407712" y="5049184"/>
            <a:ext cx="3240016" cy="324032"/>
            <a:chOff x="417381" y="5697256"/>
            <a:chExt cx="3240016" cy="324032"/>
          </a:xfrm>
        </p:grpSpPr>
        <p:sp>
          <p:nvSpPr>
            <p:cNvPr id="90" name="직사각형 89"/>
            <p:cNvSpPr/>
            <p:nvPr/>
          </p:nvSpPr>
          <p:spPr>
            <a:xfrm>
              <a:off x="417381" y="5697256"/>
              <a:ext cx="1584000" cy="32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장바구니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2073397" y="5697288"/>
              <a:ext cx="1584000" cy="324000"/>
            </a:xfrm>
            <a:prstGeom prst="rect">
              <a:avLst/>
            </a:prstGeom>
            <a:solidFill>
              <a:srgbClr val="BB056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rgbClr val="FFFFF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예약하기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4093100" y="5043553"/>
            <a:ext cx="3240016" cy="324032"/>
            <a:chOff x="417381" y="5697256"/>
            <a:chExt cx="3240016" cy="324032"/>
          </a:xfrm>
        </p:grpSpPr>
        <p:sp>
          <p:nvSpPr>
            <p:cNvPr id="110" name="직사각형 109"/>
            <p:cNvSpPr/>
            <p:nvPr/>
          </p:nvSpPr>
          <p:spPr>
            <a:xfrm>
              <a:off x="417381" y="5697256"/>
              <a:ext cx="1584000" cy="32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장바구니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2073397" y="5697288"/>
              <a:ext cx="1584000" cy="324000"/>
            </a:xfrm>
            <a:prstGeom prst="rect">
              <a:avLst/>
            </a:prstGeom>
            <a:solidFill>
              <a:srgbClr val="BB056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rgbClr val="FFFFF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예약하기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8447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28"/>
          <p:cNvSpPr txBox="1">
            <a:spLocks noChangeArrowheads="1"/>
          </p:cNvSpPr>
          <p:nvPr/>
        </p:nvSpPr>
        <p:spPr bwMode="auto">
          <a:xfrm>
            <a:off x="3479564" y="4699172"/>
            <a:ext cx="240450" cy="45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 anchor="ctr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04" name="그룹 103"/>
          <p:cNvGrpSpPr/>
          <p:nvPr/>
        </p:nvGrpSpPr>
        <p:grpSpPr>
          <a:xfrm>
            <a:off x="484557" y="4569334"/>
            <a:ext cx="2928881" cy="1019906"/>
            <a:chOff x="549949" y="5214912"/>
            <a:chExt cx="2928881" cy="1019906"/>
          </a:xfrm>
        </p:grpSpPr>
        <p:sp>
          <p:nvSpPr>
            <p:cNvPr id="106" name="타원 105"/>
            <p:cNvSpPr/>
            <p:nvPr/>
          </p:nvSpPr>
          <p:spPr>
            <a:xfrm>
              <a:off x="563045" y="5214912"/>
              <a:ext cx="672199" cy="69949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icon</a:t>
              </a:r>
              <a:endPara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549949" y="5915894"/>
              <a:ext cx="690508" cy="318924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ko-KR" altLang="en-US" sz="800" dirty="0"/>
                <a:t>총 </a:t>
              </a:r>
              <a:r>
                <a:rPr lang="ko-KR" altLang="en-US" sz="800" dirty="0" err="1"/>
                <a:t>투어시간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: 10</a:t>
              </a:r>
              <a:r>
                <a:rPr lang="ko-KR" altLang="en-US" sz="800" dirty="0"/>
                <a:t>시간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0" name="타원 109"/>
            <p:cNvSpPr/>
            <p:nvPr/>
          </p:nvSpPr>
          <p:spPr>
            <a:xfrm>
              <a:off x="1315006" y="5214912"/>
              <a:ext cx="672199" cy="69949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icon</a:t>
              </a:r>
              <a:endPara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250625" y="5977449"/>
              <a:ext cx="817461" cy="195814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가이드없음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3" name="타원 112"/>
            <p:cNvSpPr/>
            <p:nvPr/>
          </p:nvSpPr>
          <p:spPr>
            <a:xfrm>
              <a:off x="2068306" y="5214912"/>
              <a:ext cx="672199" cy="69949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icon</a:t>
              </a:r>
              <a:endPara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117980" y="5977449"/>
              <a:ext cx="610079" cy="195814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영어</a:t>
              </a:r>
            </a:p>
          </p:txBody>
        </p:sp>
        <p:sp>
          <p:nvSpPr>
            <p:cNvPr id="115" name="타원 114"/>
            <p:cNvSpPr/>
            <p:nvPr/>
          </p:nvSpPr>
          <p:spPr>
            <a:xfrm>
              <a:off x="2806631" y="5214912"/>
              <a:ext cx="672199" cy="69949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icon</a:t>
              </a:r>
              <a:endParaRPr lang="ko-KR" altLang="en-US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837690" y="5977449"/>
              <a:ext cx="610079" cy="195814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전용차량</a:t>
              </a:r>
            </a:p>
          </p:txBody>
        </p:sp>
      </p:grp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53837ED7-6F80-41F7-B1C7-C837B4C4504B}"/>
              </a:ext>
            </a:extLst>
          </p:cNvPr>
          <p:cNvCxnSpPr/>
          <p:nvPr/>
        </p:nvCxnSpPr>
        <p:spPr>
          <a:xfrm>
            <a:off x="417037" y="5949280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407368" y="476673"/>
            <a:ext cx="3240000" cy="2160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TOP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421183" y="692697"/>
            <a:ext cx="3226185" cy="32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 err="1">
                <a:solidFill>
                  <a:schemeClr val="tx1"/>
                </a:solidFill>
              </a:rPr>
              <a:t>현지투어</a:t>
            </a:r>
            <a:r>
              <a:rPr lang="ko-KR" altLang="en-US" sz="1000" b="1" dirty="0">
                <a:solidFill>
                  <a:schemeClr val="tx1"/>
                </a:solidFill>
              </a:rPr>
              <a:t> 상세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31F1907-4EF1-443E-819D-F2248C028B90}"/>
              </a:ext>
            </a:extLst>
          </p:cNvPr>
          <p:cNvGrpSpPr/>
          <p:nvPr/>
        </p:nvGrpSpPr>
        <p:grpSpPr>
          <a:xfrm>
            <a:off x="395224" y="1018854"/>
            <a:ext cx="3240000" cy="1509928"/>
            <a:chOff x="407367" y="1792361"/>
            <a:chExt cx="3240000" cy="1770130"/>
          </a:xfrm>
        </p:grpSpPr>
        <p:grpSp>
          <p:nvGrpSpPr>
            <p:cNvPr id="63" name="Placeholder">
              <a:extLst>
                <a:ext uri="{FF2B5EF4-FFF2-40B4-BE49-F238E27FC236}">
                  <a16:creationId xmlns:a16="http://schemas.microsoft.com/office/drawing/2014/main" id="{152B0CFA-19B3-4AB8-A73E-F15955DD83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367" y="1792361"/>
              <a:ext cx="3240000" cy="1770130"/>
              <a:chOff x="508000" y="1397000"/>
              <a:chExt cx="1008112" cy="1008112"/>
            </a:xfrm>
            <a:solidFill>
              <a:srgbClr val="FFFFFF"/>
            </a:solidFill>
          </p:grpSpPr>
          <p:sp>
            <p:nvSpPr>
              <p:cNvPr id="67" name="Border">
                <a:extLst>
                  <a:ext uri="{FF2B5EF4-FFF2-40B4-BE49-F238E27FC236}">
                    <a16:creationId xmlns:a16="http://schemas.microsoft.com/office/drawing/2014/main" id="{308A04C0-26CE-47E4-9997-7164795DF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68" name="Line 2">
                <a:extLst>
                  <a:ext uri="{FF2B5EF4-FFF2-40B4-BE49-F238E27FC236}">
                    <a16:creationId xmlns:a16="http://schemas.microsoft.com/office/drawing/2014/main" id="{7BCE7736-765B-49F6-B8B5-2742BF268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70" name="Line 1">
                <a:extLst>
                  <a:ext uri="{FF2B5EF4-FFF2-40B4-BE49-F238E27FC236}">
                    <a16:creationId xmlns:a16="http://schemas.microsoft.com/office/drawing/2014/main" id="{D68F98E5-1CCD-4534-99CB-53464BCB5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82D53477-3E8E-4438-8CE1-B1DA4030D91F}"/>
                </a:ext>
              </a:extLst>
            </p:cNvPr>
            <p:cNvSpPr/>
            <p:nvPr/>
          </p:nvSpPr>
          <p:spPr>
            <a:xfrm>
              <a:off x="1613376" y="3340553"/>
              <a:ext cx="828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kumimoji="0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 / 10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721C3E3-B713-46CB-B14C-4F15EB57A187}"/>
                </a:ext>
              </a:extLst>
            </p:cNvPr>
            <p:cNvSpPr txBox="1"/>
            <p:nvPr/>
          </p:nvSpPr>
          <p:spPr>
            <a:xfrm>
              <a:off x="545207" y="2482244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C1F884F-899A-4E22-AA3A-3A355E7F96BD}"/>
                </a:ext>
              </a:extLst>
            </p:cNvPr>
            <p:cNvSpPr txBox="1"/>
            <p:nvPr/>
          </p:nvSpPr>
          <p:spPr>
            <a:xfrm>
              <a:off x="3217448" y="2482244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1" name="타원 70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205183" y="74777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275080" y="1579919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80F567-8B4F-42D8-9B5E-C8A3D39EDA95}"/>
              </a:ext>
            </a:extLst>
          </p:cNvPr>
          <p:cNvSpPr txBox="1"/>
          <p:nvPr/>
        </p:nvSpPr>
        <p:spPr>
          <a:xfrm>
            <a:off x="491080" y="2975762"/>
            <a:ext cx="26525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교토 </a:t>
            </a:r>
            <a:r>
              <a:rPr lang="ko-KR" altLang="en-US" sz="800" dirty="0" err="1"/>
              <a:t>니조성과</a:t>
            </a:r>
            <a:r>
              <a:rPr lang="ko-KR" altLang="en-US" sz="800" dirty="0"/>
              <a:t> </a:t>
            </a:r>
            <a:r>
              <a:rPr lang="ko-KR" altLang="en-US" sz="800" dirty="0" err="1"/>
              <a:t>산주산겐도</a:t>
            </a:r>
            <a:r>
              <a:rPr lang="en-US" altLang="ko-KR" sz="800" dirty="0"/>
              <a:t>, </a:t>
            </a:r>
            <a:r>
              <a:rPr lang="ko-KR" altLang="en-US" sz="800" dirty="0"/>
              <a:t>그리고 나라 사슴공원까지 원데이투어로 가능한 코스입니다</a:t>
            </a:r>
            <a:r>
              <a:rPr lang="en-US" altLang="ko-KR" sz="800" dirty="0"/>
              <a:t>.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49874A-CF76-48B6-9D02-3BFD302681C7}"/>
              </a:ext>
            </a:extLst>
          </p:cNvPr>
          <p:cNvSpPr txBox="1"/>
          <p:nvPr/>
        </p:nvSpPr>
        <p:spPr>
          <a:xfrm>
            <a:off x="482735" y="2564904"/>
            <a:ext cx="266093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2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1200" b="1" dirty="0">
                <a:latin typeface="나눔고딕" panose="020B0600000101010101" charset="-127"/>
                <a:ea typeface="나눔고딕" panose="020B0600000101010101" charset="-127"/>
              </a:rPr>
              <a:t>오사카 출발</a:t>
            </a:r>
            <a:r>
              <a:rPr lang="en-US" altLang="ko-KR" sz="1200" b="1" dirty="0">
                <a:latin typeface="나눔고딕" panose="020B0600000101010101" charset="-127"/>
                <a:ea typeface="나눔고딕" panose="020B0600000101010101" charset="-127"/>
              </a:rPr>
              <a:t>]★</a:t>
            </a:r>
            <a:r>
              <a:rPr lang="ko-KR" altLang="en-US" sz="1200" b="1" dirty="0" err="1">
                <a:latin typeface="나눔고딕" panose="020B0600000101010101" charset="-127"/>
                <a:ea typeface="나눔고딕" panose="020B0600000101010101" charset="-127"/>
              </a:rPr>
              <a:t>얼리버드</a:t>
            </a:r>
            <a:r>
              <a:rPr lang="ko-KR" altLang="en-US" sz="1200" b="1" dirty="0">
                <a:latin typeface="나눔고딕" panose="020B0600000101010101" charset="-127"/>
                <a:ea typeface="나눔고딕" panose="020B0600000101010101" charset="-127"/>
              </a:rPr>
              <a:t>★ </a:t>
            </a:r>
            <a:r>
              <a:rPr lang="ko-KR" altLang="en-US" sz="1200" b="1" dirty="0" err="1">
                <a:latin typeface="나눔고딕" panose="020B0600000101010101" charset="-127"/>
                <a:ea typeface="나눔고딕" panose="020B0600000101010101" charset="-127"/>
              </a:rPr>
              <a:t>니조성</a:t>
            </a:r>
            <a:r>
              <a:rPr lang="en-US" altLang="ko-KR" sz="1200" b="1" dirty="0">
                <a:latin typeface="나눔고딕" panose="020B0600000101010101" charset="-127"/>
                <a:ea typeface="나눔고딕" panose="020B0600000101010101" charset="-127"/>
              </a:rPr>
              <a:t>&amp;</a:t>
            </a:r>
            <a:r>
              <a:rPr lang="ko-KR" altLang="en-US" sz="1200" b="1" dirty="0" err="1">
                <a:latin typeface="나눔고딕" panose="020B0600000101010101" charset="-127"/>
                <a:ea typeface="나눔고딕" panose="020B0600000101010101" charset="-127"/>
              </a:rPr>
              <a:t>후시미이나리</a:t>
            </a:r>
            <a:r>
              <a:rPr lang="en-US" altLang="ko-KR" sz="1200" b="1" dirty="0">
                <a:latin typeface="나눔고딕" panose="020B0600000101010101" charset="-127"/>
                <a:ea typeface="나눔고딕" panose="020B0600000101010101" charset="-127"/>
              </a:rPr>
              <a:t>&amp;</a:t>
            </a:r>
            <a:r>
              <a:rPr lang="ko-KR" altLang="en-US" sz="1200" b="1" dirty="0">
                <a:latin typeface="나눔고딕" panose="020B0600000101010101" charset="-127"/>
                <a:ea typeface="나눔고딕" panose="020B0600000101010101" charset="-127"/>
              </a:rPr>
              <a:t>나라사슴공원 </a:t>
            </a:r>
            <a:r>
              <a:rPr lang="en-US" altLang="ko-KR" sz="1200" b="1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1200" b="1" dirty="0" err="1">
                <a:latin typeface="나눔고딕" panose="020B0600000101010101" charset="-127"/>
                <a:ea typeface="나눔고딕" panose="020B0600000101010101" charset="-127"/>
              </a:rPr>
              <a:t>일투어</a:t>
            </a:r>
            <a:r>
              <a:rPr lang="en-US" altLang="ko-KR" sz="1200" b="1" dirty="0">
                <a:latin typeface="나눔고딕" panose="020B0600000101010101" charset="-127"/>
                <a:ea typeface="나눔고딕" panose="020B0600000101010101" charset="-127"/>
              </a:rPr>
              <a:t>(No.6)</a:t>
            </a:r>
            <a:endParaRPr lang="ko-KR" altLang="en-US" sz="12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491080" y="3329434"/>
            <a:ext cx="492352" cy="101136"/>
            <a:chOff x="478615" y="3789025"/>
            <a:chExt cx="720080" cy="147915"/>
          </a:xfrm>
        </p:grpSpPr>
        <p:sp>
          <p:nvSpPr>
            <p:cNvPr id="23" name="포인트가 5개인 별 22"/>
            <p:cNvSpPr/>
            <p:nvPr/>
          </p:nvSpPr>
          <p:spPr>
            <a:xfrm>
              <a:off x="478615" y="3789025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포인트가 5개인 별 23"/>
            <p:cNvSpPr/>
            <p:nvPr/>
          </p:nvSpPr>
          <p:spPr>
            <a:xfrm>
              <a:off x="615385" y="3792940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" name="포인트가 5개인 별 24"/>
            <p:cNvSpPr/>
            <p:nvPr/>
          </p:nvSpPr>
          <p:spPr>
            <a:xfrm>
              <a:off x="752155" y="3789040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포인트가 5개인 별 25"/>
            <p:cNvSpPr/>
            <p:nvPr/>
          </p:nvSpPr>
          <p:spPr>
            <a:xfrm>
              <a:off x="910663" y="3789040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포인트가 5개인 별 26"/>
            <p:cNvSpPr/>
            <p:nvPr/>
          </p:nvSpPr>
          <p:spPr>
            <a:xfrm>
              <a:off x="1054695" y="3792924"/>
              <a:ext cx="144000" cy="144000"/>
            </a:xfrm>
            <a:prstGeom prst="star5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966963" y="3277479"/>
            <a:ext cx="7626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482735" y="3480540"/>
            <a:ext cx="732573" cy="280956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none" lIns="0" tIns="40853" rIns="0" bIns="40853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ko-KR" sz="1200" b="1" dirty="0">
                <a:latin typeface="+mn-ea"/>
                <a:ea typeface="+mn-ea"/>
              </a:rPr>
              <a:t>410,000</a:t>
            </a:r>
            <a:r>
              <a:rPr lang="ko-KR" altLang="en-US" sz="1200" b="1" dirty="0">
                <a:latin typeface="+mn-ea"/>
                <a:ea typeface="+mn-ea"/>
              </a:rPr>
              <a:t>원</a:t>
            </a:r>
            <a:endParaRPr lang="en-US" sz="1200" b="1" dirty="0">
              <a:latin typeface="+mn-ea"/>
              <a:ea typeface="+mn-ea"/>
            </a:endParaRPr>
          </a:p>
        </p:txBody>
      </p:sp>
      <p:sp>
        <p:nvSpPr>
          <p:cNvPr id="31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311464" y="3512055"/>
            <a:ext cx="501740" cy="217926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strike="sngStrike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572,900</a:t>
            </a:r>
            <a:r>
              <a:rPr lang="ko-KR" altLang="en-US" sz="800" strike="sngStrike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원</a:t>
            </a:r>
            <a:endParaRPr lang="en-US" sz="800" strike="sngStrike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2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802214" y="3505899"/>
            <a:ext cx="682918" cy="230237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성인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인 기준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3AC3D21-F474-48D9-9FB4-6B1A337E0C4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250" y="2610597"/>
            <a:ext cx="156882" cy="156882"/>
          </a:xfrm>
          <a:prstGeom prst="rect">
            <a:avLst/>
          </a:prstGeom>
        </p:spPr>
      </p:pic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3837ED7-6F80-41F7-B1C7-C837B4C4504B}"/>
              </a:ext>
            </a:extLst>
          </p:cNvPr>
          <p:cNvCxnSpPr/>
          <p:nvPr/>
        </p:nvCxnSpPr>
        <p:spPr>
          <a:xfrm>
            <a:off x="417037" y="3872600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16538" y="3949817"/>
            <a:ext cx="682918" cy="214848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출발도시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3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16538" y="4179331"/>
            <a:ext cx="682918" cy="214848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연령기준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4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246191" y="4179331"/>
            <a:ext cx="2200729" cy="230237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>
                <a:latin typeface="+mn-ea"/>
                <a:ea typeface="+mn-ea"/>
              </a:rPr>
              <a:t>아동 만 </a:t>
            </a:r>
            <a:r>
              <a:rPr lang="en-US" altLang="ko-KR" sz="800" dirty="0">
                <a:latin typeface="+mn-ea"/>
                <a:ea typeface="+mn-ea"/>
              </a:rPr>
              <a:t>3</a:t>
            </a:r>
            <a:r>
              <a:rPr lang="ko-KR" altLang="en-US" sz="800" dirty="0">
                <a:latin typeface="+mn-ea"/>
                <a:ea typeface="+mn-ea"/>
              </a:rPr>
              <a:t>세 이상 </a:t>
            </a:r>
            <a:r>
              <a:rPr lang="en-US" altLang="ko-KR" sz="800" dirty="0">
                <a:latin typeface="+mn-ea"/>
                <a:ea typeface="+mn-ea"/>
              </a:rPr>
              <a:t>12</a:t>
            </a:r>
            <a:r>
              <a:rPr lang="ko-KR" altLang="en-US" sz="800" dirty="0">
                <a:latin typeface="+mn-ea"/>
                <a:ea typeface="+mn-ea"/>
              </a:rPr>
              <a:t>세 이하 </a:t>
            </a:r>
            <a:r>
              <a:rPr lang="en-US" altLang="ko-KR" sz="800" dirty="0">
                <a:latin typeface="+mn-ea"/>
                <a:ea typeface="+mn-ea"/>
              </a:rPr>
              <a:t>/ </a:t>
            </a:r>
            <a:r>
              <a:rPr lang="ko-KR" altLang="en-US" sz="800" dirty="0">
                <a:latin typeface="+mn-ea"/>
                <a:ea typeface="+mn-ea"/>
              </a:rPr>
              <a:t>유아  </a:t>
            </a:r>
            <a:r>
              <a:rPr lang="en-US" altLang="ko-KR" sz="800" dirty="0">
                <a:latin typeface="+mn-ea"/>
                <a:ea typeface="+mn-ea"/>
              </a:rPr>
              <a:t>3</a:t>
            </a:r>
            <a:r>
              <a:rPr lang="ko-KR" altLang="en-US" sz="800" dirty="0">
                <a:latin typeface="+mn-ea"/>
                <a:ea typeface="+mn-ea"/>
              </a:rPr>
              <a:t>세 미만</a:t>
            </a:r>
            <a:endParaRPr lang="en-US" sz="800" dirty="0">
              <a:latin typeface="+mn-ea"/>
              <a:ea typeface="+mn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417381" y="5697256"/>
            <a:ext cx="3240016" cy="324032"/>
            <a:chOff x="417381" y="5697256"/>
            <a:chExt cx="3240016" cy="324032"/>
          </a:xfrm>
        </p:grpSpPr>
        <p:sp>
          <p:nvSpPr>
            <p:cNvPr id="98" name="직사각형 97"/>
            <p:cNvSpPr/>
            <p:nvPr/>
          </p:nvSpPr>
          <p:spPr>
            <a:xfrm>
              <a:off x="417381" y="5697256"/>
              <a:ext cx="1584000" cy="32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장바구니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2073397" y="5697288"/>
              <a:ext cx="1584000" cy="324000"/>
            </a:xfrm>
            <a:prstGeom prst="rect">
              <a:avLst/>
            </a:prstGeom>
            <a:solidFill>
              <a:srgbClr val="BB056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rgbClr val="FFFFF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예약하기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5477296" y="5244813"/>
            <a:ext cx="677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Floating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영역</a:t>
            </a:r>
          </a:p>
        </p:txBody>
      </p:sp>
      <p:sp>
        <p:nvSpPr>
          <p:cNvPr id="102" name="타원 101"/>
          <p:cNvSpPr/>
          <p:nvPr/>
        </p:nvSpPr>
        <p:spPr>
          <a:xfrm>
            <a:off x="217154" y="575125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23" name="꺾인 연결선 122"/>
          <p:cNvCxnSpPr>
            <a:cxnSpLocks/>
            <a:stCxn id="99" idx="3"/>
          </p:cNvCxnSpPr>
          <p:nvPr/>
        </p:nvCxnSpPr>
        <p:spPr>
          <a:xfrm flipV="1">
            <a:off x="3657397" y="5400390"/>
            <a:ext cx="1727672" cy="45889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246191" y="3941501"/>
            <a:ext cx="1595866" cy="214848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800" dirty="0">
                <a:latin typeface="+mn-ea"/>
                <a:ea typeface="+mn-ea"/>
              </a:rPr>
              <a:t>오사카</a:t>
            </a:r>
            <a:endParaRPr lang="en-US" sz="800" dirty="0">
              <a:latin typeface="+mn-ea"/>
              <a:ea typeface="+mn-ea"/>
            </a:endParaRPr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CC53308A-6151-43D0-A77E-24CF7D1E0F7A}"/>
              </a:ext>
            </a:extLst>
          </p:cNvPr>
          <p:cNvCxnSpPr/>
          <p:nvPr/>
        </p:nvCxnSpPr>
        <p:spPr>
          <a:xfrm>
            <a:off x="524154" y="4481576"/>
            <a:ext cx="296097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타원 138"/>
          <p:cNvSpPr/>
          <p:nvPr/>
        </p:nvSpPr>
        <p:spPr>
          <a:xfrm>
            <a:off x="3325616" y="234652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125523"/>
              </p:ext>
            </p:extLst>
          </p:nvPr>
        </p:nvGraphicFramePr>
        <p:xfrm>
          <a:off x="9552384" y="8546"/>
          <a:ext cx="2635809" cy="4266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CHP-MO-FND-9994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상품상세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투어 타입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상세페이지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FND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상품상세 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투어타입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검색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baseline="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셀렉트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박스 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“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투어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”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선택기준 적용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걸과 값에 등록 된 사진 목록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9728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걸과 값에 등록 된 상품 데이터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6529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공유 버튼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선택시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공유 팝업 노출 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- 4a)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페이스 공유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- 4b)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카카오톡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공유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- 4c)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문자발송 공유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- 4d)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선택시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URL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전체 선택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96512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티켓타입과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달리 투어 타입은 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티켓타입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항목 대신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출발도시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값으로 출력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74579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어드민에서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입력된 투어 관련 서비스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스와이프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방식으로 노출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(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노출 기존 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AS-IS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와 동일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24062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7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버튼 영역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최하단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플로팅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상태로 노출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- 6a)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장바구니 버튼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선택시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해당 영역 장바구니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insert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- 6b)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예약하기 버튼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선택시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예약페이지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프로세스로 이동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992429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 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Description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제외하고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티켓타입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CHP-MO-FND-9993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 동일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972589"/>
                  </a:ext>
                </a:extLst>
              </a:tr>
            </a:tbl>
          </a:graphicData>
        </a:graphic>
      </p:graphicFrame>
      <p:sp>
        <p:nvSpPr>
          <p:cNvPr id="73" name="타원 72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277753" y="256992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4" name="표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630668"/>
              </p:ext>
            </p:extLst>
          </p:nvPr>
        </p:nvGraphicFramePr>
        <p:xfrm>
          <a:off x="4290488" y="465815"/>
          <a:ext cx="3231687" cy="2747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1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7161"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타원 74"/>
          <p:cNvSpPr/>
          <p:nvPr/>
        </p:nvSpPr>
        <p:spPr>
          <a:xfrm>
            <a:off x="4564315" y="875743"/>
            <a:ext cx="733786" cy="70173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icon</a:t>
            </a:r>
            <a:endParaRPr lang="ko-KR" altLang="en-US" sz="7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564314" y="1598850"/>
            <a:ext cx="733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페이스북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64720" y="2486628"/>
            <a:ext cx="24832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URL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누르시면 복사 하실 수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8" name="꺾인 연결선 77"/>
          <p:cNvCxnSpPr>
            <a:cxnSpLocks/>
            <a:stCxn id="33" idx="3"/>
            <a:endCxn id="74" idx="1"/>
          </p:cNvCxnSpPr>
          <p:nvPr/>
        </p:nvCxnSpPr>
        <p:spPr>
          <a:xfrm flipV="1">
            <a:off x="3485132" y="1839395"/>
            <a:ext cx="805356" cy="84964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타원 80"/>
          <p:cNvSpPr/>
          <p:nvPr/>
        </p:nvSpPr>
        <p:spPr>
          <a:xfrm>
            <a:off x="5510653" y="875743"/>
            <a:ext cx="733786" cy="70173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icon</a:t>
            </a:r>
            <a:endParaRPr lang="ko-KR" altLang="en-US" sz="7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510652" y="1598850"/>
            <a:ext cx="733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카카오톡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6456990" y="851570"/>
            <a:ext cx="733786" cy="70173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icon</a:t>
            </a:r>
            <a:endParaRPr lang="ko-KR" altLang="en-US" sz="7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456989" y="1574677"/>
            <a:ext cx="733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문자발송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4523958" y="1995132"/>
            <a:ext cx="2764746" cy="416370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488894" y="2081842"/>
            <a:ext cx="2931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http://m.hanatour.com/fnd/n/j10psml/l1515h/detail.hnt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290488" y="2837353"/>
            <a:ext cx="3231687" cy="375623"/>
          </a:xfrm>
          <a:prstGeom prst="rect">
            <a:avLst/>
          </a:prstGeom>
          <a:solidFill>
            <a:srgbClr val="BB0560"/>
          </a:solidFill>
          <a:ln w="3175"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91" name="타원 90"/>
          <p:cNvSpPr/>
          <p:nvPr/>
        </p:nvSpPr>
        <p:spPr>
          <a:xfrm>
            <a:off x="4808295" y="77002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4a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타원 91"/>
          <p:cNvSpPr/>
          <p:nvPr/>
        </p:nvSpPr>
        <p:spPr>
          <a:xfrm>
            <a:off x="287224" y="393498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4397164" y="195495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4d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타원 93"/>
          <p:cNvSpPr/>
          <p:nvPr/>
        </p:nvSpPr>
        <p:spPr>
          <a:xfrm>
            <a:off x="5758102" y="74777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4b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6715882" y="747775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4c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타원 95"/>
          <p:cNvSpPr/>
          <p:nvPr/>
        </p:nvSpPr>
        <p:spPr>
          <a:xfrm>
            <a:off x="1106371" y="555311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7a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7" name="타원 96"/>
          <p:cNvSpPr/>
          <p:nvPr/>
        </p:nvSpPr>
        <p:spPr>
          <a:xfrm>
            <a:off x="2761930" y="5532901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7b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308087" y="482820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3690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07728" y="6039688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15883" y="5445288"/>
            <a:ext cx="32292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Banner Area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DE16943-93A6-4567-AB9B-5FDCCB5623AC}"/>
              </a:ext>
            </a:extLst>
          </p:cNvPr>
          <p:cNvCxnSpPr/>
          <p:nvPr/>
        </p:nvCxnSpPr>
        <p:spPr>
          <a:xfrm>
            <a:off x="426561" y="888726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417037" y="908720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80413062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후기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426561" y="1169984"/>
            <a:ext cx="81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424294" y="908720"/>
            <a:ext cx="323274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물결 90"/>
          <p:cNvSpPr/>
          <p:nvPr/>
        </p:nvSpPr>
        <p:spPr>
          <a:xfrm>
            <a:off x="479376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92438" y="190322"/>
            <a:ext cx="396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기본정보탭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선택시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–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티켓타입과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동일 형태</a:t>
            </a:r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2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863841"/>
              </p:ext>
            </p:extLst>
          </p:nvPr>
        </p:nvGraphicFramePr>
        <p:xfrm>
          <a:off x="9552384" y="8546"/>
          <a:ext cx="2635809" cy="2986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CHP-MO-FND-9994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상품상세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티켓 타입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디폴트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탭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FND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상품상세 하단 기본정보 탭 선택 시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텍스트 형태 출력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기본값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기본 텍스트 입력 값 수정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크기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굵기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색 변경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띄어쓰기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밑줄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취소선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등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변경 옵션 필요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이미지 형태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용량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사이즈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저작권 등 고려 하여 반영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endParaRPr lang="ko-KR" altLang="en-US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36976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링크 형태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해당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링크 텍스트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링크 주소 필수 필요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32318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기존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AS-IS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와 정책과 동일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출력 값 유동적이기에 에디터 형태 적용 예상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티켓타입과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동일 형태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444758"/>
                  </a:ext>
                </a:extLst>
              </a:tr>
            </a:tbl>
          </a:graphicData>
        </a:graphic>
      </p:graphicFrame>
      <p:sp>
        <p:nvSpPr>
          <p:cNvPr id="89" name="직사각형 88"/>
          <p:cNvSpPr/>
          <p:nvPr/>
        </p:nvSpPr>
        <p:spPr>
          <a:xfrm>
            <a:off x="417381" y="5049184"/>
            <a:ext cx="1584000" cy="3240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장바구니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2073397" y="5049216"/>
            <a:ext cx="1584000" cy="324000"/>
          </a:xfrm>
          <a:prstGeom prst="rect">
            <a:avLst/>
          </a:prstGeom>
          <a:solidFill>
            <a:srgbClr val="BB0560"/>
          </a:solidFill>
          <a:ln w="3175"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예약하기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72738" y="1552905"/>
            <a:ext cx="3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기간 내 다운 받으신 쿠폰은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내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사용하셔야합니다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소멸 후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재발행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불가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/>
              <a:t> </a:t>
            </a:r>
            <a:r>
              <a:rPr lang="en-US" altLang="ko-KR" sz="800" dirty="0"/>
              <a:t>- </a:t>
            </a:r>
            <a:r>
              <a:rPr lang="ko-KR" altLang="en-US" sz="800" dirty="0"/>
              <a:t>예약 후 결제 시 쿠폰을 통해 </a:t>
            </a:r>
            <a:r>
              <a:rPr lang="ko-KR" altLang="en-US" sz="800" dirty="0" err="1"/>
              <a:t>할인받고</a:t>
            </a:r>
            <a:r>
              <a:rPr lang="ko-KR" altLang="en-US" sz="800" dirty="0"/>
              <a:t> 결제</a:t>
            </a:r>
            <a:endParaRPr lang="en-US" altLang="ko-KR" sz="800" dirty="0"/>
          </a:p>
          <a:p>
            <a:r>
              <a:rPr lang="ko-KR" altLang="en-US" sz="800" dirty="0"/>
              <a:t>* 결제 시 쿠폰을 사용 못 할 시 수기로 할인 적용해드릴 수 없습니다</a:t>
            </a:r>
            <a:r>
              <a:rPr lang="en-US" altLang="ko-KR" sz="800" dirty="0"/>
              <a:t>.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BBD5A13-F2F3-4B83-9611-21D3B53300D3}"/>
              </a:ext>
            </a:extLst>
          </p:cNvPr>
          <p:cNvSpPr txBox="1"/>
          <p:nvPr/>
        </p:nvSpPr>
        <p:spPr>
          <a:xfrm>
            <a:off x="525381" y="1354232"/>
            <a:ext cx="288032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★일본 테마파크 입장권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천원 할인쿠폰 다운받기★</a:t>
            </a:r>
          </a:p>
        </p:txBody>
      </p:sp>
      <p:sp>
        <p:nvSpPr>
          <p:cNvPr id="109" name="Text Box 28"/>
          <p:cNvSpPr txBox="1">
            <a:spLocks noChangeArrowheads="1"/>
          </p:cNvSpPr>
          <p:nvPr/>
        </p:nvSpPr>
        <p:spPr bwMode="auto">
          <a:xfrm rot="5400000">
            <a:off x="1791344" y="4250566"/>
            <a:ext cx="510791" cy="45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 anchor="ctr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……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10" name="Placeholder"/>
          <p:cNvGrpSpPr>
            <a:grpSpLocks/>
          </p:cNvGrpSpPr>
          <p:nvPr/>
        </p:nvGrpSpPr>
        <p:grpSpPr bwMode="auto">
          <a:xfrm>
            <a:off x="479376" y="2299845"/>
            <a:ext cx="3098969" cy="939573"/>
            <a:chOff x="508000" y="1397000"/>
            <a:chExt cx="1008112" cy="1008112"/>
          </a:xfrm>
          <a:solidFill>
            <a:srgbClr val="000000">
              <a:alpha val="30196"/>
            </a:srgbClr>
          </a:solidFill>
        </p:grpSpPr>
        <p:sp>
          <p:nvSpPr>
            <p:cNvPr id="111" name="Border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12" name="Line 2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13" name="Line 1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430750" y="4593329"/>
            <a:ext cx="32319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ko-KR" altLang="en-US" sz="800" b="1" i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탭 걸과 값에 등록 된 내용 출력</a:t>
            </a:r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470345" y="170924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7585" y="3501008"/>
            <a:ext cx="3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기간 내 다운 받으신 쿠폰은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내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사용하셔야합니다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소멸 후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재발행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불가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ko-KR" altLang="en-US" sz="800" dirty="0"/>
              <a:t> </a:t>
            </a:r>
            <a:r>
              <a:rPr lang="en-US" altLang="ko-KR" sz="800" dirty="0"/>
              <a:t>- </a:t>
            </a:r>
            <a:r>
              <a:rPr lang="ko-KR" altLang="en-US" sz="800" dirty="0"/>
              <a:t>예약 후 결제 시 쿠폰을 통해 </a:t>
            </a:r>
            <a:r>
              <a:rPr lang="ko-KR" altLang="en-US" sz="800" dirty="0" err="1"/>
              <a:t>할인받고</a:t>
            </a:r>
            <a:r>
              <a:rPr lang="ko-KR" altLang="en-US" sz="800" dirty="0"/>
              <a:t> 결제</a:t>
            </a:r>
            <a:endParaRPr lang="en-US" altLang="ko-KR" sz="800" dirty="0"/>
          </a:p>
          <a:p>
            <a:r>
              <a:rPr lang="ko-KR" altLang="en-US" sz="800" dirty="0"/>
              <a:t>* 결제 시 쿠폰을 사용 못 할 시 수기로 할인 적용해드릴 수 없습니다</a:t>
            </a:r>
            <a:r>
              <a:rPr lang="en-US" altLang="ko-KR" sz="800" dirty="0"/>
              <a:t>.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25381" y="3308644"/>
            <a:ext cx="117579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u="sng" dirty="0" err="1">
                <a:solidFill>
                  <a:srgbClr val="0066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쿠폰받으러가기</a:t>
            </a:r>
            <a:r>
              <a:rPr lang="en-US" altLang="ko-KR" sz="800" u="sng" dirty="0">
                <a:solidFill>
                  <a:srgbClr val="0066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dirty="0"/>
          </a:p>
        </p:txBody>
      </p:sp>
      <p:cxnSp>
        <p:nvCxnSpPr>
          <p:cNvPr id="42" name="꺾인 연결선 41"/>
          <p:cNvCxnSpPr>
            <a:cxnSpLocks/>
            <a:stCxn id="126" idx="6"/>
          </p:cNvCxnSpPr>
          <p:nvPr/>
        </p:nvCxnSpPr>
        <p:spPr>
          <a:xfrm flipV="1">
            <a:off x="3686345" y="1291316"/>
            <a:ext cx="681463" cy="52593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287713" y="1168205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470345" y="267349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8" name="꺾인 연결선 47"/>
          <p:cNvCxnSpPr>
            <a:cxnSpLocks/>
          </p:cNvCxnSpPr>
          <p:nvPr/>
        </p:nvCxnSpPr>
        <p:spPr>
          <a:xfrm flipV="1">
            <a:off x="3619992" y="2253995"/>
            <a:ext cx="681463" cy="52593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223792" y="2129843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1415480" y="329175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1" name="꺾인 연결선 50"/>
          <p:cNvCxnSpPr>
            <a:cxnSpLocks/>
            <a:stCxn id="50" idx="6"/>
            <a:endCxn id="53" idx="1"/>
          </p:cNvCxnSpPr>
          <p:nvPr/>
        </p:nvCxnSpPr>
        <p:spPr>
          <a:xfrm>
            <a:off x="1631480" y="3399753"/>
            <a:ext cx="2749992" cy="347476"/>
          </a:xfrm>
          <a:prstGeom prst="bentConnector3">
            <a:avLst>
              <a:gd name="adj1" fmla="val 84983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381472" y="3624118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링크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</a:t>
            </a:r>
          </a:p>
        </p:txBody>
      </p:sp>
    </p:spTree>
    <p:extLst>
      <p:ext uri="{BB962C8B-B14F-4D97-AF65-F5344CB8AC3E}">
        <p14:creationId xmlns:p14="http://schemas.microsoft.com/office/powerpoint/2010/main" val="28623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083402" y="6102942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091557" y="5508542"/>
            <a:ext cx="32292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Banner Area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DE16943-93A6-4567-AB9B-5FDCCB5623AC}"/>
              </a:ext>
            </a:extLst>
          </p:cNvPr>
          <p:cNvCxnSpPr/>
          <p:nvPr/>
        </p:nvCxnSpPr>
        <p:spPr>
          <a:xfrm>
            <a:off x="426561" y="888726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403046"/>
              </p:ext>
            </p:extLst>
          </p:nvPr>
        </p:nvGraphicFramePr>
        <p:xfrm>
          <a:off x="417037" y="908720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80413062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endParaRPr lang="en-US" altLang="ko-KR" sz="800" b="1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후기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1228047" y="1168109"/>
            <a:ext cx="81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424294" y="908720"/>
            <a:ext cx="323274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물결 90"/>
          <p:cNvSpPr/>
          <p:nvPr/>
        </p:nvSpPr>
        <p:spPr>
          <a:xfrm>
            <a:off x="479376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92438" y="190322"/>
            <a:ext cx="396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필수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확인사항</a:t>
            </a:r>
            <a:r>
              <a:rPr lang="ko-KR" altLang="en-US" sz="1200" dirty="0">
                <a:latin typeface="나눔고딕" panose="020B0600000101010101" charset="-127"/>
                <a:ea typeface="나눔고딕" panose="020B0600000101010101" charset="-127"/>
              </a:rPr>
              <a:t> 탭 </a:t>
            </a:r>
            <a:r>
              <a:rPr lang="ko-KR" altLang="en-US" sz="1200" dirty="0" err="1">
                <a:latin typeface="나눔고딕" panose="020B0600000101010101" charset="-127"/>
                <a:ea typeface="나눔고딕" panose="020B0600000101010101" charset="-127"/>
              </a:rPr>
              <a:t>선택시</a:t>
            </a:r>
            <a:r>
              <a:rPr lang="en-US" altLang="ko-KR" sz="12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2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976015"/>
              </p:ext>
            </p:extLst>
          </p:nvPr>
        </p:nvGraphicFramePr>
        <p:xfrm>
          <a:off x="9552384" y="8546"/>
          <a:ext cx="2635809" cy="3352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CHP-MO-FND-9994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상품상세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티켓 타입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디폴트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1" kern="12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r>
                        <a:rPr lang="en-US" altLang="ko-KR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탭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FND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상품상세 하단 필수 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확인사항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탭 선택 시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상품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“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포함내역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”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관련 상품 내용 출력 디폴트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텍스트형태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- 1a)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어드민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입력 상태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기준으로 이미지 또한 첨부 가능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상품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“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불포함내역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”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관련 상품 내용 출력 디폴트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텍스트형태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- 1a)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어드민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입력 상태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기준으로 이미지 또한 첨부 가능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36976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추가 관련 내용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예약변경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취소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환불 규정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예약시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주의사항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특전사항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등등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어드민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입력 상태 기준으로 내용 출력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텍스트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  <a:r>
                        <a:rPr lang="en-US" altLang="ko-KR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baseline="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이미지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32318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기존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AS-IS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와 정책과 동일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출력 값 유동적이기에 에디터 형태 적용 예상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444758"/>
                  </a:ext>
                </a:extLst>
              </a:tr>
            </a:tbl>
          </a:graphicData>
        </a:graphic>
      </p:graphicFrame>
      <p:sp>
        <p:nvSpPr>
          <p:cNvPr id="89" name="직사각형 88"/>
          <p:cNvSpPr/>
          <p:nvPr/>
        </p:nvSpPr>
        <p:spPr>
          <a:xfrm>
            <a:off x="4093055" y="5112438"/>
            <a:ext cx="1584000" cy="3240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장바구니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5749071" y="5112470"/>
            <a:ext cx="1584000" cy="324000"/>
          </a:xfrm>
          <a:prstGeom prst="rect">
            <a:avLst/>
          </a:prstGeom>
          <a:solidFill>
            <a:srgbClr val="BB0560"/>
          </a:solidFill>
          <a:ln w="3175"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dirty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예약하기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Text Box 28"/>
          <p:cNvSpPr txBox="1">
            <a:spLocks noChangeArrowheads="1"/>
          </p:cNvSpPr>
          <p:nvPr/>
        </p:nvSpPr>
        <p:spPr bwMode="auto">
          <a:xfrm rot="5400000">
            <a:off x="5467018" y="4538598"/>
            <a:ext cx="510791" cy="45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0853" rIns="0" bIns="40853" anchor="ctr">
            <a:spAutoFit/>
          </a:bodyPr>
          <a:lstStyle>
            <a:lvl1pPr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bg2"/>
                </a:solidFill>
                <a:latin typeface="돋움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……</a:t>
            </a:r>
            <a:endParaRPr kumimoji="1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4106424" y="4816089"/>
            <a:ext cx="32319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ko-KR" altLang="en-US" sz="800" b="1" i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탭 걸과 값에 등록 된 내용 출력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551384" y="1484784"/>
            <a:ext cx="2880319" cy="324000"/>
            <a:chOff x="551384" y="1363242"/>
            <a:chExt cx="2880319" cy="324000"/>
          </a:xfrm>
        </p:grpSpPr>
        <p:sp>
          <p:nvSpPr>
            <p:cNvPr id="34" name="직사각형 33"/>
            <p:cNvSpPr/>
            <p:nvPr/>
          </p:nvSpPr>
          <p:spPr>
            <a:xfrm>
              <a:off x="552464" y="1363242"/>
              <a:ext cx="2879239" cy="324000"/>
            </a:xfrm>
            <a:prstGeom prst="rect">
              <a:avLst/>
            </a:prstGeom>
            <a:solidFill>
              <a:srgbClr val="FFEDF3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51384" y="1363242"/>
              <a:ext cx="504056" cy="324000"/>
            </a:xfrm>
            <a:prstGeom prst="rect">
              <a:avLst/>
            </a:prstGeom>
            <a:solidFill>
              <a:srgbClr val="E85581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O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" name="Tab Selected" descr="&lt;SmartSettings&gt;&lt;SmartResize anchorLeft=&quot;Absolute&quot; anchorTop=&quot;Absolut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4DB3AC77-3A70-4DC9-BCE0-2F963590EC84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1112672" y="1394296"/>
              <a:ext cx="538609" cy="256141"/>
            </a:xfrm>
            <a:custGeom>
              <a:avLst/>
              <a:gdLst>
                <a:gd name="T0" fmla="*/ 0 w 2218"/>
                <a:gd name="T1" fmla="*/ 670 h 670"/>
                <a:gd name="T2" fmla="*/ 0 w 2218"/>
                <a:gd name="T3" fmla="*/ 0 h 670"/>
                <a:gd name="T4" fmla="*/ 2218 w 2218"/>
                <a:gd name="T5" fmla="*/ 0 h 670"/>
                <a:gd name="T6" fmla="*/ 2218 w 2218"/>
                <a:gd name="T7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8" h="670">
                  <a:moveTo>
                    <a:pt x="0" y="670"/>
                  </a:moveTo>
                  <a:lnTo>
                    <a:pt x="0" y="0"/>
                  </a:lnTo>
                  <a:lnTo>
                    <a:pt x="2218" y="0"/>
                  </a:lnTo>
                  <a:lnTo>
                    <a:pt x="2218" y="670"/>
                  </a:lnTo>
                </a:path>
              </a:pathLst>
            </a:custGeom>
            <a:noFill/>
            <a:ln>
              <a:noFill/>
            </a:ln>
          </p:spPr>
          <p:txBody>
            <a:bodyPr wrap="none" lIns="0" tIns="40853" rIns="0" bIns="40853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ko-KR" altLang="en-US" sz="1050" b="1" dirty="0" err="1">
                  <a:latin typeface="+mn-ea"/>
                  <a:ea typeface="+mn-ea"/>
                </a:rPr>
                <a:t>포함내역</a:t>
              </a:r>
              <a:endParaRPr lang="en-US" sz="1050" b="1" dirty="0">
                <a:latin typeface="+mn-ea"/>
                <a:ea typeface="+mn-ea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597887" y="4068397"/>
            <a:ext cx="2880319" cy="324000"/>
            <a:chOff x="551384" y="1363242"/>
            <a:chExt cx="2880319" cy="324000"/>
          </a:xfrm>
        </p:grpSpPr>
        <p:sp>
          <p:nvSpPr>
            <p:cNvPr id="43" name="직사각형 42"/>
            <p:cNvSpPr/>
            <p:nvPr/>
          </p:nvSpPr>
          <p:spPr>
            <a:xfrm>
              <a:off x="552464" y="1363242"/>
              <a:ext cx="2879239" cy="324000"/>
            </a:xfrm>
            <a:prstGeom prst="rect">
              <a:avLst/>
            </a:prstGeom>
            <a:solidFill>
              <a:srgbClr val="E4E8F4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551384" y="1363242"/>
              <a:ext cx="504056" cy="324000"/>
            </a:xfrm>
            <a:prstGeom prst="rect">
              <a:avLst/>
            </a:prstGeom>
            <a:solidFill>
              <a:srgbClr val="6D7588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X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Tab Selected" descr="&lt;SmartSettings&gt;&lt;SmartResize anchorLeft=&quot;Absolute&quot; anchorTop=&quot;Absolute&quot; anchorRight=&quot;None&quot; anchorBottom=&quot;Absolute&quot; /&gt;&lt;/SmartSettings&gt;">
              <a:extLst>
                <a:ext uri="{FF2B5EF4-FFF2-40B4-BE49-F238E27FC236}">
                  <a16:creationId xmlns:a16="http://schemas.microsoft.com/office/drawing/2014/main" id="{4DB3AC77-3A70-4DC9-BCE0-2F963590EC84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1130333" y="1397171"/>
              <a:ext cx="673261" cy="256141"/>
            </a:xfrm>
            <a:custGeom>
              <a:avLst/>
              <a:gdLst>
                <a:gd name="T0" fmla="*/ 0 w 2218"/>
                <a:gd name="T1" fmla="*/ 670 h 670"/>
                <a:gd name="T2" fmla="*/ 0 w 2218"/>
                <a:gd name="T3" fmla="*/ 0 h 670"/>
                <a:gd name="T4" fmla="*/ 2218 w 2218"/>
                <a:gd name="T5" fmla="*/ 0 h 670"/>
                <a:gd name="T6" fmla="*/ 2218 w 2218"/>
                <a:gd name="T7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18" h="670">
                  <a:moveTo>
                    <a:pt x="0" y="670"/>
                  </a:moveTo>
                  <a:lnTo>
                    <a:pt x="0" y="0"/>
                  </a:lnTo>
                  <a:lnTo>
                    <a:pt x="2218" y="0"/>
                  </a:lnTo>
                  <a:lnTo>
                    <a:pt x="2218" y="670"/>
                  </a:lnTo>
                </a:path>
              </a:pathLst>
            </a:custGeom>
            <a:noFill/>
            <a:ln>
              <a:noFill/>
            </a:ln>
          </p:spPr>
          <p:txBody>
            <a:bodyPr wrap="none" lIns="0" tIns="40853" rIns="0" bIns="40853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1050" b="1" dirty="0" err="1">
                  <a:latin typeface="+mn-ea"/>
                  <a:ea typeface="+mn-ea"/>
                </a:rPr>
                <a:t>불포함내역</a:t>
              </a:r>
              <a:endParaRPr lang="en-US" sz="1050" b="1" dirty="0">
                <a:latin typeface="+mn-ea"/>
                <a:ea typeface="+mn-ea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490047" y="1880856"/>
            <a:ext cx="3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- </a:t>
            </a:r>
            <a:r>
              <a:rPr lang="ko-KR" altLang="en-US" sz="800" dirty="0"/>
              <a:t>투어 전용 대형버스</a:t>
            </a:r>
            <a:endParaRPr lang="en-US" altLang="ko-KR" sz="800" dirty="0"/>
          </a:p>
          <a:p>
            <a:r>
              <a:rPr lang="en-US" altLang="ko-KR" sz="800" dirty="0"/>
              <a:t>- </a:t>
            </a:r>
            <a:r>
              <a:rPr lang="ko-KR" altLang="en-US" sz="800" dirty="0"/>
              <a:t>기사</a:t>
            </a:r>
            <a:r>
              <a:rPr lang="en-US" altLang="ko-KR" sz="800" dirty="0"/>
              <a:t>+</a:t>
            </a:r>
            <a:r>
              <a:rPr lang="ko-KR" altLang="en-US" sz="800" dirty="0"/>
              <a:t>영어 가능 승무원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본 투어는 가이드가 아닌 여행 길라잡이인 승무원이 동행합니다</a:t>
            </a:r>
            <a:r>
              <a:rPr lang="en-US" altLang="ko-KR" sz="800" dirty="0"/>
              <a:t>.)</a:t>
            </a: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5" name="Placeholder"/>
          <p:cNvGrpSpPr>
            <a:grpSpLocks/>
          </p:cNvGrpSpPr>
          <p:nvPr/>
        </p:nvGrpSpPr>
        <p:grpSpPr bwMode="auto">
          <a:xfrm>
            <a:off x="479376" y="2564904"/>
            <a:ext cx="3098969" cy="1136884"/>
            <a:chOff x="508000" y="1397000"/>
            <a:chExt cx="1008112" cy="1008112"/>
          </a:xfrm>
          <a:solidFill>
            <a:srgbClr val="000000">
              <a:alpha val="30196"/>
            </a:srgbClr>
          </a:solidFill>
        </p:grpSpPr>
        <p:sp>
          <p:nvSpPr>
            <p:cNvPr id="56" name="Border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57" name="Line 2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58" name="Line 1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551728" y="4512022"/>
            <a:ext cx="3096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- </a:t>
            </a:r>
            <a:r>
              <a:rPr lang="ko-KR" altLang="en-US" sz="800" dirty="0"/>
              <a:t>한국 여행자보험</a:t>
            </a:r>
            <a:endParaRPr lang="en-US" altLang="ko-KR" sz="800" dirty="0"/>
          </a:p>
          <a:p>
            <a:r>
              <a:rPr lang="en-US" altLang="ko-KR" sz="800" dirty="0"/>
              <a:t>- </a:t>
            </a:r>
            <a:r>
              <a:rPr lang="ko-KR" altLang="en-US" sz="800" dirty="0" err="1"/>
              <a:t>비고사항</a:t>
            </a:r>
            <a:r>
              <a:rPr lang="ko-KR" altLang="en-US" sz="800" dirty="0"/>
              <a:t> </a:t>
            </a:r>
            <a:r>
              <a:rPr lang="en-US" altLang="ko-KR" sz="800" dirty="0"/>
              <a:t>: </a:t>
            </a:r>
            <a:r>
              <a:rPr lang="ko-KR" altLang="en-US" sz="800" dirty="0"/>
              <a:t>만 </a:t>
            </a:r>
            <a:r>
              <a:rPr lang="en-US" altLang="ko-KR" sz="800" dirty="0"/>
              <a:t>3</a:t>
            </a:r>
            <a:r>
              <a:rPr lang="ko-KR" altLang="en-US" sz="800" dirty="0"/>
              <a:t>세 미만 무료 </a:t>
            </a:r>
            <a:r>
              <a:rPr lang="en-US" altLang="ko-KR" sz="800" dirty="0"/>
              <a:t>(</a:t>
            </a:r>
            <a:r>
              <a:rPr lang="ko-KR" altLang="en-US" sz="800" dirty="0"/>
              <a:t>단</a:t>
            </a:r>
            <a:r>
              <a:rPr lang="en-US" altLang="ko-KR" sz="800" dirty="0"/>
              <a:t>, </a:t>
            </a:r>
            <a:r>
              <a:rPr lang="ko-KR" altLang="en-US" sz="800" dirty="0"/>
              <a:t>버스 좌석을 제공하지 않습니다</a:t>
            </a:r>
            <a:r>
              <a:rPr lang="en-US" altLang="ko-KR" sz="800" dirty="0"/>
              <a:t>.)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중식 및 관광지 입장료</a:t>
            </a:r>
            <a:endParaRPr lang="en-US" altLang="ko-KR" sz="8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만</a:t>
            </a:r>
            <a:r>
              <a:rPr lang="en-US" altLang="ko-KR" sz="800" dirty="0"/>
              <a:t>18</a:t>
            </a:r>
            <a:r>
              <a:rPr lang="ko-KR" altLang="en-US" sz="800" dirty="0"/>
              <a:t>세 미만의 경우 </a:t>
            </a:r>
            <a:r>
              <a:rPr lang="ko-KR" altLang="en-US" sz="800" dirty="0" err="1"/>
              <a:t>여권원본을</a:t>
            </a:r>
            <a:r>
              <a:rPr lang="ko-KR" altLang="en-US" sz="800" dirty="0"/>
              <a:t> 제시 시 무료입장권을 받을 수 있습니다</a:t>
            </a:r>
            <a:r>
              <a:rPr lang="en-US" altLang="ko-KR" sz="800" dirty="0"/>
              <a:t>)</a:t>
            </a:r>
          </a:p>
          <a:p>
            <a:endParaRPr lang="en-US" altLang="ko-KR" sz="800" dirty="0"/>
          </a:p>
          <a:p>
            <a:pPr marL="171450" indent="-171450">
              <a:buFontTx/>
              <a:buChar char="-"/>
            </a:pPr>
            <a:endParaRPr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BBD5A13-F2F3-4B83-9611-21D3B53300D3}"/>
              </a:ext>
            </a:extLst>
          </p:cNvPr>
          <p:cNvSpPr txBox="1"/>
          <p:nvPr/>
        </p:nvSpPr>
        <p:spPr>
          <a:xfrm>
            <a:off x="4508172" y="836712"/>
            <a:ext cx="288032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 err="1">
                <a:latin typeface="나눔고딕" panose="020B0600000101010101" charset="-127"/>
                <a:ea typeface="나눔고딕" panose="020B0600000101010101" charset="-127"/>
              </a:rPr>
              <a:t>예약변경</a:t>
            </a:r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/ </a:t>
            </a:r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취소 </a:t>
            </a:r>
            <a:r>
              <a:rPr lang="en-US" altLang="ko-KR" sz="1000" b="1" dirty="0">
                <a:latin typeface="나눔고딕" panose="020B0600000101010101" charset="-127"/>
                <a:ea typeface="나눔고딕" panose="020B0600000101010101" charset="-127"/>
              </a:rPr>
              <a:t>/ </a:t>
            </a:r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환불 규정</a:t>
            </a:r>
          </a:p>
        </p:txBody>
      </p:sp>
      <p:sp>
        <p:nvSpPr>
          <p:cNvPr id="78" name="타원 77"/>
          <p:cNvSpPr/>
          <p:nvPr/>
        </p:nvSpPr>
        <p:spPr>
          <a:xfrm>
            <a:off x="4285182" y="844462"/>
            <a:ext cx="144000" cy="144000"/>
          </a:xfrm>
          <a:prstGeom prst="ellipse">
            <a:avLst/>
          </a:prstGeom>
          <a:solidFill>
            <a:srgbClr val="BB0560"/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220390" y="1057312"/>
            <a:ext cx="3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취소 및 환불은 평일 영업시간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월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-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금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09:00~18:00)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내에 요청 접수된 경우에 가능합니다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-     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발권 전 취소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요청시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취소료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없이 가능하며 발권 후에는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10%   </a:t>
            </a:r>
          </a:p>
          <a:p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    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취소료가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적용</a:t>
            </a:r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     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발권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완료시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예약 조회에서 확인 가능합니다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.)</a:t>
            </a:r>
          </a:p>
          <a:p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BD5A13-F2F3-4B83-9611-21D3B53300D3}"/>
              </a:ext>
            </a:extLst>
          </p:cNvPr>
          <p:cNvSpPr txBox="1"/>
          <p:nvPr/>
        </p:nvSpPr>
        <p:spPr>
          <a:xfrm>
            <a:off x="4508172" y="1954593"/>
            <a:ext cx="288032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 err="1">
                <a:latin typeface="나눔고딕" panose="020B0600000101010101" charset="-127"/>
                <a:ea typeface="나눔고딕" panose="020B0600000101010101" charset="-127"/>
              </a:rPr>
              <a:t>예약시</a:t>
            </a:r>
            <a:r>
              <a:rPr lang="ko-KR" altLang="en-US" sz="1000" b="1" dirty="0">
                <a:latin typeface="나눔고딕" panose="020B0600000101010101" charset="-127"/>
                <a:ea typeface="나눔고딕" panose="020B0600000101010101" charset="-127"/>
              </a:rPr>
              <a:t> 주의사항</a:t>
            </a:r>
          </a:p>
        </p:txBody>
      </p:sp>
      <p:sp>
        <p:nvSpPr>
          <p:cNvPr id="84" name="타원 83"/>
          <p:cNvSpPr/>
          <p:nvPr/>
        </p:nvSpPr>
        <p:spPr>
          <a:xfrm>
            <a:off x="4285182" y="1962343"/>
            <a:ext cx="144000" cy="144000"/>
          </a:xfrm>
          <a:prstGeom prst="ellipse">
            <a:avLst/>
          </a:prstGeom>
          <a:solidFill>
            <a:srgbClr val="BB0560"/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220390" y="2175193"/>
            <a:ext cx="3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800" dirty="0"/>
              <a:t>미팅장소탭에서 오전</a:t>
            </a:r>
            <a:r>
              <a:rPr lang="en-US" altLang="ko-KR" sz="800" dirty="0"/>
              <a:t>/</a:t>
            </a:r>
            <a:r>
              <a:rPr lang="ko-KR" altLang="en-US" sz="800" dirty="0"/>
              <a:t>오후 출발시간 선택 바랍니다</a:t>
            </a:r>
            <a:r>
              <a:rPr lang="en-US" altLang="ko-KR" sz="800" dirty="0"/>
              <a:t>. 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출발 최소 </a:t>
            </a:r>
            <a:r>
              <a:rPr lang="en-US" altLang="ko-KR" sz="800" dirty="0"/>
              <a:t>10</a:t>
            </a:r>
            <a:r>
              <a:rPr lang="ko-KR" altLang="en-US" sz="800" dirty="0"/>
              <a:t>분 전까지 </a:t>
            </a:r>
            <a:r>
              <a:rPr lang="ko-KR" altLang="en-US" sz="800" dirty="0" err="1"/>
              <a:t>티라운지로</a:t>
            </a:r>
            <a:r>
              <a:rPr lang="ko-KR" altLang="en-US" sz="800" dirty="0"/>
              <a:t> 오셔서 확인 후 탑승 안내 받으시기 바랍니다</a:t>
            </a:r>
            <a:r>
              <a:rPr lang="en-US" altLang="ko-KR" sz="800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편도 이용 희망 시 각 </a:t>
            </a:r>
            <a:r>
              <a:rPr lang="ko-KR" altLang="en-US" sz="800" dirty="0" err="1"/>
              <a:t>편도편</a:t>
            </a:r>
            <a:r>
              <a:rPr lang="ko-KR" altLang="en-US" sz="800" dirty="0"/>
              <a:t> 시간에 맞춰 이용하시면 됩니다</a:t>
            </a:r>
            <a:r>
              <a:rPr lang="en-US" altLang="ko-KR" sz="800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BBD5A13-F2F3-4B83-9611-21D3B53300D3}"/>
              </a:ext>
            </a:extLst>
          </p:cNvPr>
          <p:cNvSpPr txBox="1"/>
          <p:nvPr/>
        </p:nvSpPr>
        <p:spPr>
          <a:xfrm>
            <a:off x="4514123" y="2987080"/>
            <a:ext cx="288032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 err="1">
                <a:latin typeface="나눔고딕" panose="020B0600000101010101" charset="-127"/>
                <a:ea typeface="나눔고딕" panose="020B0600000101010101" charset="-127"/>
              </a:rPr>
              <a:t>특전사항</a:t>
            </a:r>
            <a:endParaRPr lang="ko-KR" altLang="en-US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4" name="타원 93"/>
          <p:cNvSpPr/>
          <p:nvPr/>
        </p:nvSpPr>
        <p:spPr>
          <a:xfrm>
            <a:off x="4291133" y="2994830"/>
            <a:ext cx="144000" cy="144000"/>
          </a:xfrm>
          <a:prstGeom prst="ellipse">
            <a:avLst/>
          </a:prstGeom>
          <a:solidFill>
            <a:srgbClr val="BB0560"/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0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95" name="Placeholder"/>
          <p:cNvGrpSpPr>
            <a:grpSpLocks/>
          </p:cNvGrpSpPr>
          <p:nvPr/>
        </p:nvGrpSpPr>
        <p:grpSpPr bwMode="auto">
          <a:xfrm>
            <a:off x="4252923" y="3703410"/>
            <a:ext cx="2923197" cy="805710"/>
            <a:chOff x="508000" y="1397000"/>
            <a:chExt cx="1008112" cy="1008112"/>
          </a:xfrm>
          <a:solidFill>
            <a:srgbClr val="000000">
              <a:alpha val="30196"/>
            </a:srgbClr>
          </a:solidFill>
        </p:grpSpPr>
        <p:sp>
          <p:nvSpPr>
            <p:cNvPr id="96" name="Border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97" name="Line 2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98" name="Line 1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4240010" y="3209894"/>
            <a:ext cx="3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부모님을 모시고 또는 아이들과 함께하는 여정이라면 더욱더</a:t>
            </a:r>
            <a:r>
              <a:rPr lang="en-US" altLang="ko-KR" sz="800" dirty="0"/>
              <a:t>!! </a:t>
            </a:r>
            <a:r>
              <a:rPr lang="ko-KR" altLang="en-US" sz="800" dirty="0"/>
              <a:t>오래 걷지 않고 편하게 빠르게 이동 및 관광을 즐기실 수 있습니다</a:t>
            </a:r>
            <a:r>
              <a:rPr lang="en-US" altLang="ko-KR" sz="800" dirty="0"/>
              <a:t>.</a:t>
            </a:r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96572" y="1345143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82967" y="239709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1a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427367" y="4142467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96572" y="4799146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2a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4069182" y="602808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53837ED7-6F80-41F7-B1C7-C837B4C4504B}"/>
              </a:ext>
            </a:extLst>
          </p:cNvPr>
          <p:cNvCxnSpPr/>
          <p:nvPr/>
        </p:nvCxnSpPr>
        <p:spPr>
          <a:xfrm>
            <a:off x="427367" y="5661248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022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물결 1"/>
          <p:cNvSpPr/>
          <p:nvPr/>
        </p:nvSpPr>
        <p:spPr>
          <a:xfrm>
            <a:off x="479376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DE16943-93A6-4567-AB9B-5FDCCB5623AC}"/>
              </a:ext>
            </a:extLst>
          </p:cNvPr>
          <p:cNvCxnSpPr/>
          <p:nvPr/>
        </p:nvCxnSpPr>
        <p:spPr>
          <a:xfrm>
            <a:off x="416892" y="857626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485483"/>
              </p:ext>
            </p:extLst>
          </p:nvPr>
        </p:nvGraphicFramePr>
        <p:xfrm>
          <a:off x="407368" y="877620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80413062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후기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직사각형 37"/>
          <p:cNvSpPr/>
          <p:nvPr/>
        </p:nvSpPr>
        <p:spPr>
          <a:xfrm>
            <a:off x="2023739" y="1138884"/>
            <a:ext cx="81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>
            <a:off x="407368" y="877620"/>
            <a:ext cx="323274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그림 42">
            <a:extLst>
              <a:ext uri="{FF2B5EF4-FFF2-40B4-BE49-F238E27FC236}">
                <a16:creationId xmlns:a16="http://schemas.microsoft.com/office/drawing/2014/main" id="{51149909-802E-481F-95F8-8DBCD54CA7B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38" y="1295453"/>
            <a:ext cx="248970" cy="24897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BBD5A13-F2F3-4B83-9611-21D3B53300D3}"/>
              </a:ext>
            </a:extLst>
          </p:cNvPr>
          <p:cNvSpPr txBox="1"/>
          <p:nvPr/>
        </p:nvSpPr>
        <p:spPr>
          <a:xfrm>
            <a:off x="769254" y="1339099"/>
            <a:ext cx="183643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미팅일시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659E94-39E0-4DCE-89FA-CACA37F3413D}"/>
              </a:ext>
            </a:extLst>
          </p:cNvPr>
          <p:cNvSpPr txBox="1"/>
          <p:nvPr/>
        </p:nvSpPr>
        <p:spPr>
          <a:xfrm>
            <a:off x="510956" y="1506270"/>
            <a:ext cx="2968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[07:20] </a:t>
            </a:r>
            <a:r>
              <a:rPr lang="ko-KR" altLang="en-US" sz="800" dirty="0"/>
              <a:t>난바 </a:t>
            </a:r>
            <a:r>
              <a:rPr lang="ko-KR" altLang="en-US" sz="800" dirty="0" err="1"/>
              <a:t>닛폰바시</a:t>
            </a:r>
            <a:r>
              <a:rPr lang="ko-KR" altLang="en-US" sz="800" dirty="0"/>
              <a:t> </a:t>
            </a:r>
            <a:r>
              <a:rPr lang="ko-KR" altLang="en-US" sz="800" dirty="0" err="1"/>
              <a:t>츠루동탄</a:t>
            </a:r>
            <a:r>
              <a:rPr lang="ko-KR" altLang="en-US" sz="800" dirty="0"/>
              <a:t> 우동집 </a:t>
            </a:r>
            <a:r>
              <a:rPr lang="ko-KR" altLang="en-US" sz="800" dirty="0" err="1"/>
              <a:t>소에몬초점</a:t>
            </a:r>
            <a:r>
              <a:rPr lang="ko-KR" altLang="en-US" sz="800" dirty="0"/>
              <a:t> 앞 다리 </a:t>
            </a:r>
            <a:endParaRPr lang="en-US" altLang="ko-KR" sz="800" dirty="0"/>
          </a:p>
          <a:p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* 미팅 장소에 따라 추가요금이 발생 할 수 있습니다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43366D0-8473-49BE-9274-4B07593495CE}"/>
              </a:ext>
            </a:extLst>
          </p:cNvPr>
          <p:cNvSpPr/>
          <p:nvPr/>
        </p:nvSpPr>
        <p:spPr>
          <a:xfrm>
            <a:off x="423940" y="1957262"/>
            <a:ext cx="3223428" cy="29862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874D09C-7041-43B7-BC67-116962D193B6}"/>
              </a:ext>
            </a:extLst>
          </p:cNvPr>
          <p:cNvSpPr/>
          <p:nvPr/>
        </p:nvSpPr>
        <p:spPr>
          <a:xfrm>
            <a:off x="423941" y="1957566"/>
            <a:ext cx="655116" cy="2986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B0600000101010101" charset="-127"/>
                <a:ea typeface="나눔고딕" panose="020B0600000101010101" charset="-127"/>
              </a:rPr>
              <a:t>일차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4515AA-4605-4C49-B861-7312594DB590}"/>
              </a:ext>
            </a:extLst>
          </p:cNvPr>
          <p:cNvSpPr txBox="1"/>
          <p:nvPr/>
        </p:nvSpPr>
        <p:spPr>
          <a:xfrm rot="10800000">
            <a:off x="3270748" y="195461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▽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F9C2E5E1-6BB0-4C0C-99AD-DBB0EFC5B3BF}"/>
              </a:ext>
            </a:extLst>
          </p:cNvPr>
          <p:cNvCxnSpPr>
            <a:cxnSpLocks/>
          </p:cNvCxnSpPr>
          <p:nvPr/>
        </p:nvCxnSpPr>
        <p:spPr>
          <a:xfrm>
            <a:off x="623993" y="2276872"/>
            <a:ext cx="0" cy="3420416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3396602F-F891-4DE1-AEAF-1B064FEFEACF}"/>
              </a:ext>
            </a:extLst>
          </p:cNvPr>
          <p:cNvGrpSpPr/>
          <p:nvPr/>
        </p:nvGrpSpPr>
        <p:grpSpPr>
          <a:xfrm>
            <a:off x="509603" y="2385108"/>
            <a:ext cx="619586" cy="197605"/>
            <a:chOff x="4167923" y="1503203"/>
            <a:chExt cx="619586" cy="197605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F8F544B-0846-4F89-98E3-FC6E299D659E}"/>
                </a:ext>
              </a:extLst>
            </p:cNvPr>
            <p:cNvSpPr txBox="1"/>
            <p:nvPr/>
          </p:nvSpPr>
          <p:spPr>
            <a:xfrm>
              <a:off x="4418818" y="1527979"/>
              <a:ext cx="368691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10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오사카</a:t>
              </a:r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32D1747B-91B7-4ADA-80C3-F9FD296B6C51}"/>
                </a:ext>
              </a:extLst>
            </p:cNvPr>
            <p:cNvGrpSpPr/>
            <p:nvPr/>
          </p:nvGrpSpPr>
          <p:grpSpPr>
            <a:xfrm>
              <a:off x="4167923" y="1503203"/>
              <a:ext cx="184555" cy="197605"/>
              <a:chOff x="494616" y="3948296"/>
              <a:chExt cx="184555" cy="197605"/>
            </a:xfrm>
          </p:grpSpPr>
          <p:sp>
            <p:nvSpPr>
              <p:cNvPr id="74" name="Slider Thumb" descr="&lt;SmartSettings&gt;&lt;SmartResize anchorLeft=&quot;None&quot; anchorTop=&quot;Relative&quot; anchorRight=&quot;None&quot; anchorBottom=&quot;Relative&quot; /&gt;&lt;/SmartSettings&gt;">
                <a:extLst>
                  <a:ext uri="{FF2B5EF4-FFF2-40B4-BE49-F238E27FC236}">
                    <a16:creationId xmlns:a16="http://schemas.microsoft.com/office/drawing/2014/main" id="{FE12F758-05B4-4BAC-86D1-37D7CFF4F6E2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494616" y="3948296"/>
                <a:ext cx="184555" cy="197605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endParaRPr>
              </a:p>
            </p:txBody>
          </p:sp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1C922D8B-A8F9-4509-9A8F-51BA70780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308" y="3985725"/>
                <a:ext cx="140508" cy="140508"/>
              </a:xfrm>
              <a:prstGeom prst="rect">
                <a:avLst/>
              </a:prstGeom>
            </p:spPr>
          </p:pic>
        </p:grp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579A25AA-9C77-479C-B40F-0ECB92DFCCBC}"/>
              </a:ext>
            </a:extLst>
          </p:cNvPr>
          <p:cNvSpPr txBox="1"/>
          <p:nvPr/>
        </p:nvSpPr>
        <p:spPr>
          <a:xfrm>
            <a:off x="763495" y="2664688"/>
            <a:ext cx="244727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08:00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8" name="Slider Thumb" descr="&lt;SmartSettings&gt;&lt;SmartResize anchorLeft=&quot;None&quot; anchorTop=&quot;Relative&quot; anchorRight=&quot;None&quot; anchorBottom=&quot;Relative&quot; /&gt;&lt;/SmartSettings&gt;">
            <a:extLst>
              <a:ext uri="{FF2B5EF4-FFF2-40B4-BE49-F238E27FC236}">
                <a16:creationId xmlns:a16="http://schemas.microsoft.com/office/drawing/2014/main" id="{22559D22-8DF6-4E50-AF5E-82D3C96DC9B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25896" y="2672308"/>
            <a:ext cx="140510" cy="129510"/>
          </a:xfrm>
          <a:prstGeom prst="ellipse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C288F4A-0C82-4E96-8A40-772E48C72AA6}"/>
              </a:ext>
            </a:extLst>
          </p:cNvPr>
          <p:cNvSpPr txBox="1"/>
          <p:nvPr/>
        </p:nvSpPr>
        <p:spPr>
          <a:xfrm>
            <a:off x="699071" y="2916233"/>
            <a:ext cx="2876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#. 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투어 당일 오전 세 곳의 미팅장소에서 미팅이 진행됩니다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 err="1"/>
              <a:t>연합행사이므로</a:t>
            </a:r>
            <a:r>
              <a:rPr lang="ko-KR" altLang="en-US" sz="800" dirty="0"/>
              <a:t> 기다려드릴 수 없습니다</a:t>
            </a:r>
            <a:r>
              <a:rPr lang="en-US" altLang="ko-KR" sz="8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개별연락 없이 출발하니 반드시 출발 시간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10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분 전까지 선택하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417381" y="5697256"/>
            <a:ext cx="3240016" cy="324032"/>
            <a:chOff x="417381" y="5697256"/>
            <a:chExt cx="3240016" cy="324032"/>
          </a:xfrm>
        </p:grpSpPr>
        <p:sp>
          <p:nvSpPr>
            <p:cNvPr id="41" name="직사각형 40"/>
            <p:cNvSpPr/>
            <p:nvPr/>
          </p:nvSpPr>
          <p:spPr>
            <a:xfrm>
              <a:off x="417381" y="5697256"/>
              <a:ext cx="1584000" cy="32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장바구니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2073397" y="5697288"/>
              <a:ext cx="1584000" cy="324000"/>
            </a:xfrm>
            <a:prstGeom prst="rect">
              <a:avLst/>
            </a:prstGeom>
            <a:solidFill>
              <a:srgbClr val="BB056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rgbClr val="FFFFF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예약하기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89" name="직사각형 88"/>
          <p:cNvSpPr/>
          <p:nvPr/>
        </p:nvSpPr>
        <p:spPr>
          <a:xfrm>
            <a:off x="4079776" y="6039688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F6D9009C-D5F5-4E5F-8952-B025F1C91002}"/>
              </a:ext>
            </a:extLst>
          </p:cNvPr>
          <p:cNvCxnSpPr/>
          <p:nvPr/>
        </p:nvCxnSpPr>
        <p:spPr>
          <a:xfrm flipH="1">
            <a:off x="4340529" y="763570"/>
            <a:ext cx="10666" cy="4123399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/>
          <p:cNvGrpSpPr/>
          <p:nvPr/>
        </p:nvGrpSpPr>
        <p:grpSpPr>
          <a:xfrm>
            <a:off x="4084713" y="832891"/>
            <a:ext cx="3262306" cy="369332"/>
            <a:chOff x="5765651" y="92854"/>
            <a:chExt cx="3262306" cy="369332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B43366D0-8473-49BE-9274-4B07593495CE}"/>
                </a:ext>
              </a:extLst>
            </p:cNvPr>
            <p:cNvSpPr/>
            <p:nvPr/>
          </p:nvSpPr>
          <p:spPr>
            <a:xfrm>
              <a:off x="5765651" y="95499"/>
              <a:ext cx="3223428" cy="29862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6874D09C-7041-43B7-BC67-116962D193B6}"/>
                </a:ext>
              </a:extLst>
            </p:cNvPr>
            <p:cNvSpPr/>
            <p:nvPr/>
          </p:nvSpPr>
          <p:spPr>
            <a:xfrm>
              <a:off x="5765652" y="95803"/>
              <a:ext cx="655116" cy="2986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  <a:latin typeface="나눔고딕" panose="020B0600000101010101" charset="-127"/>
                  <a:ea typeface="나눔고딕" panose="020B0600000101010101" charset="-127"/>
                </a:rPr>
                <a:t>기타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74515AA-4605-4C49-B861-7312594DB590}"/>
                </a:ext>
              </a:extLst>
            </p:cNvPr>
            <p:cNvSpPr txBox="1"/>
            <p:nvPr/>
          </p:nvSpPr>
          <p:spPr>
            <a:xfrm rot="10800000">
              <a:off x="8612459" y="9285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</a:rPr>
                <a:t>▽</a:t>
              </a:r>
            </a:p>
          </p:txBody>
        </p:sp>
      </p:grp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F53B442-98CD-4FA9-B1C2-62E610B2A7CA}"/>
              </a:ext>
            </a:extLst>
          </p:cNvPr>
          <p:cNvSpPr/>
          <p:nvPr/>
        </p:nvSpPr>
        <p:spPr>
          <a:xfrm>
            <a:off x="4772298" y="870204"/>
            <a:ext cx="289201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 </a:t>
            </a:r>
            <a:r>
              <a:rPr lang="ko-KR" altLang="en-US" sz="8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방문지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DB6BCA9E-B1D2-47F5-AE02-FAC72BED9F59}"/>
              </a:ext>
            </a:extLst>
          </p:cNvPr>
          <p:cNvSpPr/>
          <p:nvPr/>
        </p:nvSpPr>
        <p:spPr>
          <a:xfrm>
            <a:off x="4162650" y="1265738"/>
            <a:ext cx="3079763" cy="15256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C288F4A-0C82-4E96-8A40-772E48C72AA6}"/>
              </a:ext>
            </a:extLst>
          </p:cNvPr>
          <p:cNvSpPr txBox="1"/>
          <p:nvPr/>
        </p:nvSpPr>
        <p:spPr>
          <a:xfrm>
            <a:off x="4188300" y="2270232"/>
            <a:ext cx="28763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※ 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현재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청수사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본당 지붕 교체 공사가 진행 중으로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본당 외벽 전체에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가림막이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둘러져 있어 관람이 어려울 수 있습니다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98" name="Placeholder">
            <a:extLst>
              <a:ext uri="{FF2B5EF4-FFF2-40B4-BE49-F238E27FC236}">
                <a16:creationId xmlns:a16="http://schemas.microsoft.com/office/drawing/2014/main" id="{5EBB9E3B-B398-492C-A189-F18D494A5837}"/>
              </a:ext>
            </a:extLst>
          </p:cNvPr>
          <p:cNvGrpSpPr>
            <a:grpSpLocks/>
          </p:cNvGrpSpPr>
          <p:nvPr/>
        </p:nvGrpSpPr>
        <p:grpSpPr bwMode="auto">
          <a:xfrm>
            <a:off x="4217293" y="1381406"/>
            <a:ext cx="930451" cy="603309"/>
            <a:chOff x="508000" y="1397000"/>
            <a:chExt cx="1008112" cy="1008112"/>
          </a:xfrm>
          <a:solidFill>
            <a:srgbClr val="FFFFFF"/>
          </a:solidFill>
        </p:grpSpPr>
        <p:sp>
          <p:nvSpPr>
            <p:cNvPr id="99" name="Border">
              <a:extLst>
                <a:ext uri="{FF2B5EF4-FFF2-40B4-BE49-F238E27FC236}">
                  <a16:creationId xmlns:a16="http://schemas.microsoft.com/office/drawing/2014/main" id="{D1473B43-AE15-4367-B29E-1D6ED8C29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0" name="Line 2">
              <a:extLst>
                <a:ext uri="{FF2B5EF4-FFF2-40B4-BE49-F238E27FC236}">
                  <a16:creationId xmlns:a16="http://schemas.microsoft.com/office/drawing/2014/main" id="{A4C76CC7-BFDF-4BE4-B3F1-46C147BB9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1" name="Line 1">
              <a:extLst>
                <a:ext uri="{FF2B5EF4-FFF2-40B4-BE49-F238E27FC236}">
                  <a16:creationId xmlns:a16="http://schemas.microsoft.com/office/drawing/2014/main" id="{169E437F-051A-4216-9C65-11531D6BB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02" name="Placeholder">
            <a:extLst>
              <a:ext uri="{FF2B5EF4-FFF2-40B4-BE49-F238E27FC236}">
                <a16:creationId xmlns:a16="http://schemas.microsoft.com/office/drawing/2014/main" id="{A58B456E-E33E-47EB-B6C1-9617CC058B10}"/>
              </a:ext>
            </a:extLst>
          </p:cNvPr>
          <p:cNvGrpSpPr>
            <a:grpSpLocks/>
          </p:cNvGrpSpPr>
          <p:nvPr/>
        </p:nvGrpSpPr>
        <p:grpSpPr bwMode="auto">
          <a:xfrm>
            <a:off x="5230382" y="1385531"/>
            <a:ext cx="930451" cy="603309"/>
            <a:chOff x="508000" y="1397000"/>
            <a:chExt cx="1008112" cy="1008112"/>
          </a:xfrm>
          <a:solidFill>
            <a:srgbClr val="FFFFFF"/>
          </a:solidFill>
        </p:grpSpPr>
        <p:sp>
          <p:nvSpPr>
            <p:cNvPr id="103" name="Border">
              <a:extLst>
                <a:ext uri="{FF2B5EF4-FFF2-40B4-BE49-F238E27FC236}">
                  <a16:creationId xmlns:a16="http://schemas.microsoft.com/office/drawing/2014/main" id="{D20B0188-66E9-4D87-A971-5DC0E9144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4" name="Line 2">
              <a:extLst>
                <a:ext uri="{FF2B5EF4-FFF2-40B4-BE49-F238E27FC236}">
                  <a16:creationId xmlns:a16="http://schemas.microsoft.com/office/drawing/2014/main" id="{4A73A44B-5CB8-476F-A45A-AEB2FE475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5" name="Line 1">
              <a:extLst>
                <a:ext uri="{FF2B5EF4-FFF2-40B4-BE49-F238E27FC236}">
                  <a16:creationId xmlns:a16="http://schemas.microsoft.com/office/drawing/2014/main" id="{87DEA073-0385-4F24-A307-131C0C7CC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06" name="Placeholder">
            <a:extLst>
              <a:ext uri="{FF2B5EF4-FFF2-40B4-BE49-F238E27FC236}">
                <a16:creationId xmlns:a16="http://schemas.microsoft.com/office/drawing/2014/main" id="{DFD8BAA8-3B9C-4A66-8075-5BF07551AA22}"/>
              </a:ext>
            </a:extLst>
          </p:cNvPr>
          <p:cNvGrpSpPr>
            <a:grpSpLocks/>
          </p:cNvGrpSpPr>
          <p:nvPr/>
        </p:nvGrpSpPr>
        <p:grpSpPr bwMode="auto">
          <a:xfrm>
            <a:off x="6244919" y="1385531"/>
            <a:ext cx="930451" cy="603309"/>
            <a:chOff x="508000" y="1397000"/>
            <a:chExt cx="1008112" cy="1008112"/>
          </a:xfrm>
          <a:solidFill>
            <a:srgbClr val="FFFFFF"/>
          </a:solidFill>
        </p:grpSpPr>
        <p:sp>
          <p:nvSpPr>
            <p:cNvPr id="107" name="Border">
              <a:extLst>
                <a:ext uri="{FF2B5EF4-FFF2-40B4-BE49-F238E27FC236}">
                  <a16:creationId xmlns:a16="http://schemas.microsoft.com/office/drawing/2014/main" id="{2F02686A-8563-4620-9E9A-B11442FC0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8" name="Line 2">
              <a:extLst>
                <a:ext uri="{FF2B5EF4-FFF2-40B4-BE49-F238E27FC236}">
                  <a16:creationId xmlns:a16="http://schemas.microsoft.com/office/drawing/2014/main" id="{314FBD14-B28D-448F-995D-B4FE61E68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9" name="Line 1">
              <a:extLst>
                <a:ext uri="{FF2B5EF4-FFF2-40B4-BE49-F238E27FC236}">
                  <a16:creationId xmlns:a16="http://schemas.microsoft.com/office/drawing/2014/main" id="{EFB0870A-11C9-469E-9A98-90CB82882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AC322EDD-D5EF-4D7B-9A01-4EF9530770AA}"/>
              </a:ext>
            </a:extLst>
          </p:cNvPr>
          <p:cNvSpPr txBox="1"/>
          <p:nvPr/>
        </p:nvSpPr>
        <p:spPr>
          <a:xfrm>
            <a:off x="4151784" y="2052354"/>
            <a:ext cx="32359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latin typeface="나눔고딕" panose="020B0600000101010101" charset="-127"/>
                <a:ea typeface="나눔고딕" panose="020B0600000101010101" charset="-127"/>
              </a:rPr>
              <a:t>청수사</a:t>
            </a:r>
            <a:endParaRPr lang="en-US" altLang="ko-KR" sz="1000" b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25" name="Slider Thumb" descr="&lt;SmartSettings&gt;&lt;SmartResize anchorLeft=&quot;None&quot; anchorTop=&quot;Relative&quot; anchorRight=&quot;None&quot; anchorBottom=&quot;Relative&quot; /&gt;&lt;/SmartSettings&gt;">
            <a:extLst>
              <a:ext uri="{FF2B5EF4-FFF2-40B4-BE49-F238E27FC236}">
                <a16:creationId xmlns:a16="http://schemas.microsoft.com/office/drawing/2014/main" id="{22559D22-8DF6-4E50-AF5E-82D3C96DC9B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280938" y="1211258"/>
            <a:ext cx="140510" cy="129510"/>
          </a:xfrm>
          <a:prstGeom prst="ellipse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grpSp>
        <p:nvGrpSpPr>
          <p:cNvPr id="127" name="그룹 126"/>
          <p:cNvGrpSpPr/>
          <p:nvPr/>
        </p:nvGrpSpPr>
        <p:grpSpPr>
          <a:xfrm>
            <a:off x="4162650" y="2926058"/>
            <a:ext cx="3235974" cy="1581427"/>
            <a:chOff x="4151784" y="1211258"/>
            <a:chExt cx="3235974" cy="1581427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DB6BCA9E-B1D2-47F5-AE02-FAC72BED9F59}"/>
                </a:ext>
              </a:extLst>
            </p:cNvPr>
            <p:cNvSpPr/>
            <p:nvPr/>
          </p:nvSpPr>
          <p:spPr>
            <a:xfrm>
              <a:off x="4162650" y="1265739"/>
              <a:ext cx="3079763" cy="152694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C288F4A-0C82-4E96-8A40-772E48C72AA6}"/>
                </a:ext>
              </a:extLst>
            </p:cNvPr>
            <p:cNvSpPr txBox="1"/>
            <p:nvPr/>
          </p:nvSpPr>
          <p:spPr>
            <a:xfrm>
              <a:off x="4188300" y="2270232"/>
              <a:ext cx="28763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>
                  <a:latin typeface="나눔고딕" panose="020B0600000101010101" charset="-127"/>
                  <a:ea typeface="나눔고딕" panose="020B0600000101010101" charset="-127"/>
                </a:rPr>
                <a:t>도게츠교는</a:t>
              </a:r>
              <a:r>
                <a:rPr lang="ko-KR" altLang="en-US" sz="800" dirty="0">
                  <a:latin typeface="나눔고딕" panose="020B0600000101010101" charset="-127"/>
                  <a:ea typeface="나눔고딕" panose="020B0600000101010101" charset="-127"/>
                </a:rPr>
                <a:t> 우리나라 한자 발음으로 </a:t>
              </a:r>
              <a:r>
                <a:rPr lang="en-US" altLang="ko-KR" sz="800" dirty="0">
                  <a:latin typeface="나눔고딕" panose="020B0600000101010101" charset="-127"/>
                  <a:ea typeface="나눔고딕" panose="020B0600000101010101" charset="-127"/>
                </a:rPr>
                <a:t>'</a:t>
              </a:r>
              <a:r>
                <a:rPr lang="ko-KR" altLang="en-US" sz="800" dirty="0" err="1">
                  <a:latin typeface="나눔고딕" panose="020B0600000101010101" charset="-127"/>
                  <a:ea typeface="나눔고딕" panose="020B0600000101010101" charset="-127"/>
                </a:rPr>
                <a:t>도월교</a:t>
              </a:r>
              <a:r>
                <a:rPr lang="en-US" altLang="ko-KR" sz="800" dirty="0">
                  <a:latin typeface="나눔고딕" panose="020B0600000101010101" charset="-127"/>
                  <a:ea typeface="나눔고딕" panose="020B0600000101010101" charset="-127"/>
                </a:rPr>
                <a:t>'</a:t>
              </a:r>
              <a:r>
                <a:rPr lang="ko-KR" altLang="en-US" sz="800" dirty="0">
                  <a:latin typeface="나눔고딕" panose="020B0600000101010101" charset="-127"/>
                  <a:ea typeface="나눔고딕" panose="020B0600000101010101" charset="-127"/>
                </a:rPr>
                <a:t>라고도 하며</a:t>
              </a:r>
              <a:r>
                <a:rPr lang="en-US" altLang="ko-KR" sz="800" dirty="0">
                  <a:latin typeface="나눔고딕" panose="020B0600000101010101" charset="-127"/>
                  <a:ea typeface="나눔고딕" panose="020B0600000101010101" charset="-127"/>
                </a:rPr>
                <a:t>, </a:t>
              </a:r>
              <a:r>
                <a:rPr lang="ko-KR" altLang="en-US" sz="800" dirty="0">
                  <a:latin typeface="나눔고딕" panose="020B0600000101010101" charset="-127"/>
                  <a:ea typeface="나눔고딕" panose="020B0600000101010101" charset="-127"/>
                </a:rPr>
                <a:t>밤에 달이 떠 있는 풍경을 보면 마치 달이 다리를 건너는 것 같이 </a:t>
              </a:r>
              <a:r>
                <a:rPr lang="en-US" altLang="ko-KR" sz="800" dirty="0">
                  <a:latin typeface="나눔고딕" panose="020B0600000101010101" charset="-127"/>
                  <a:ea typeface="나눔고딕" panose="020B0600000101010101" charset="-127"/>
                </a:rPr>
                <a:t>…</a:t>
              </a:r>
              <a:endParaRPr lang="ko-KR" altLang="en-US" sz="800" dirty="0"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grpSp>
          <p:nvGrpSpPr>
            <p:cNvPr id="130" name="Placeholder">
              <a:extLst>
                <a:ext uri="{FF2B5EF4-FFF2-40B4-BE49-F238E27FC236}">
                  <a16:creationId xmlns:a16="http://schemas.microsoft.com/office/drawing/2014/main" id="{5EBB9E3B-B398-492C-A189-F18D494A58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7293" y="1381406"/>
              <a:ext cx="930451" cy="603309"/>
              <a:chOff x="508000" y="1397000"/>
              <a:chExt cx="1008112" cy="1008112"/>
            </a:xfrm>
            <a:solidFill>
              <a:srgbClr val="FFFFFF"/>
            </a:solidFill>
          </p:grpSpPr>
          <p:sp>
            <p:nvSpPr>
              <p:cNvPr id="141" name="Border">
                <a:extLst>
                  <a:ext uri="{FF2B5EF4-FFF2-40B4-BE49-F238E27FC236}">
                    <a16:creationId xmlns:a16="http://schemas.microsoft.com/office/drawing/2014/main" id="{D1473B43-AE15-4367-B29E-1D6ED8C29A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42" name="Line 2">
                <a:extLst>
                  <a:ext uri="{FF2B5EF4-FFF2-40B4-BE49-F238E27FC236}">
                    <a16:creationId xmlns:a16="http://schemas.microsoft.com/office/drawing/2014/main" id="{A4C76CC7-BFDF-4BE4-B3F1-46C147BB9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43" name="Line 1">
                <a:extLst>
                  <a:ext uri="{FF2B5EF4-FFF2-40B4-BE49-F238E27FC236}">
                    <a16:creationId xmlns:a16="http://schemas.microsoft.com/office/drawing/2014/main" id="{169E437F-051A-4216-9C65-11531D6BB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31" name="Placeholder">
              <a:extLst>
                <a:ext uri="{FF2B5EF4-FFF2-40B4-BE49-F238E27FC236}">
                  <a16:creationId xmlns:a16="http://schemas.microsoft.com/office/drawing/2014/main" id="{A58B456E-E33E-47EB-B6C1-9617CC058B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0382" y="1385531"/>
              <a:ext cx="930451" cy="603309"/>
              <a:chOff x="508000" y="1397000"/>
              <a:chExt cx="1008112" cy="1008112"/>
            </a:xfrm>
            <a:solidFill>
              <a:srgbClr val="FFFFFF"/>
            </a:solidFill>
          </p:grpSpPr>
          <p:sp>
            <p:nvSpPr>
              <p:cNvPr id="138" name="Border">
                <a:extLst>
                  <a:ext uri="{FF2B5EF4-FFF2-40B4-BE49-F238E27FC236}">
                    <a16:creationId xmlns:a16="http://schemas.microsoft.com/office/drawing/2014/main" id="{D20B0188-66E9-4D87-A971-5DC0E9144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39" name="Line 2">
                <a:extLst>
                  <a:ext uri="{FF2B5EF4-FFF2-40B4-BE49-F238E27FC236}">
                    <a16:creationId xmlns:a16="http://schemas.microsoft.com/office/drawing/2014/main" id="{4A73A44B-5CB8-476F-A45A-AEB2FE475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40" name="Line 1">
                <a:extLst>
                  <a:ext uri="{FF2B5EF4-FFF2-40B4-BE49-F238E27FC236}">
                    <a16:creationId xmlns:a16="http://schemas.microsoft.com/office/drawing/2014/main" id="{87DEA073-0385-4F24-A307-131C0C7CC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32" name="Placeholder">
              <a:extLst>
                <a:ext uri="{FF2B5EF4-FFF2-40B4-BE49-F238E27FC236}">
                  <a16:creationId xmlns:a16="http://schemas.microsoft.com/office/drawing/2014/main" id="{DFD8BAA8-3B9C-4A66-8075-5BF07551AA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4919" y="1385531"/>
              <a:ext cx="930451" cy="603309"/>
              <a:chOff x="508000" y="1397000"/>
              <a:chExt cx="1008112" cy="1008112"/>
            </a:xfrm>
            <a:solidFill>
              <a:srgbClr val="FFFFFF"/>
            </a:solidFill>
          </p:grpSpPr>
          <p:sp>
            <p:nvSpPr>
              <p:cNvPr id="135" name="Border">
                <a:extLst>
                  <a:ext uri="{FF2B5EF4-FFF2-40B4-BE49-F238E27FC236}">
                    <a16:creationId xmlns:a16="http://schemas.microsoft.com/office/drawing/2014/main" id="{2F02686A-8563-4620-9E9A-B11442FC0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36" name="Line 2">
                <a:extLst>
                  <a:ext uri="{FF2B5EF4-FFF2-40B4-BE49-F238E27FC236}">
                    <a16:creationId xmlns:a16="http://schemas.microsoft.com/office/drawing/2014/main" id="{314FBD14-B28D-448F-995D-B4FE61E68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37" name="Line 1">
                <a:extLst>
                  <a:ext uri="{FF2B5EF4-FFF2-40B4-BE49-F238E27FC236}">
                    <a16:creationId xmlns:a16="http://schemas.microsoft.com/office/drawing/2014/main" id="{EFB0870A-11C9-469E-9A98-90CB82882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grpFill/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C322EDD-D5EF-4D7B-9A01-4EF9530770AA}"/>
                </a:ext>
              </a:extLst>
            </p:cNvPr>
            <p:cNvSpPr txBox="1"/>
            <p:nvPr/>
          </p:nvSpPr>
          <p:spPr>
            <a:xfrm>
              <a:off x="4151784" y="2052354"/>
              <a:ext cx="32359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b="1" dirty="0" err="1">
                  <a:latin typeface="나눔고딕" panose="020B0600000101010101" charset="-127"/>
                  <a:ea typeface="나눔고딕" panose="020B0600000101010101" charset="-127"/>
                </a:rPr>
                <a:t>도게츠교</a:t>
              </a:r>
              <a:endParaRPr lang="en-US" altLang="ko-KR" sz="1000" b="1" dirty="0"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34" name="Slider Thumb" descr="&lt;SmartSettings&gt;&lt;SmartResize anchorLeft=&quot;None&quot; anchorTop=&quot;Relative&quot; anchorRight=&quot;None&quot; anchorBottom=&quot;Relative&quot; /&gt;&lt;/SmartSettings&gt;">
              <a:extLst>
                <a:ext uri="{FF2B5EF4-FFF2-40B4-BE49-F238E27FC236}">
                  <a16:creationId xmlns:a16="http://schemas.microsoft.com/office/drawing/2014/main" id="{22559D22-8DF6-4E50-AF5E-82D3C96DC9B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280938" y="1211258"/>
              <a:ext cx="140510" cy="12951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53837ED7-6F80-41F7-B1C7-C837B4C4504B}"/>
              </a:ext>
            </a:extLst>
          </p:cNvPr>
          <p:cNvCxnSpPr/>
          <p:nvPr/>
        </p:nvCxnSpPr>
        <p:spPr>
          <a:xfrm>
            <a:off x="4084714" y="4876143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그룹 145"/>
          <p:cNvGrpSpPr/>
          <p:nvPr/>
        </p:nvGrpSpPr>
        <p:grpSpPr>
          <a:xfrm>
            <a:off x="4084713" y="4977176"/>
            <a:ext cx="3240016" cy="324032"/>
            <a:chOff x="417381" y="5697256"/>
            <a:chExt cx="3240016" cy="324032"/>
          </a:xfrm>
        </p:grpSpPr>
        <p:sp>
          <p:nvSpPr>
            <p:cNvPr id="147" name="직사각형 146"/>
            <p:cNvSpPr/>
            <p:nvPr/>
          </p:nvSpPr>
          <p:spPr>
            <a:xfrm>
              <a:off x="417381" y="5697256"/>
              <a:ext cx="1584000" cy="32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장바구니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8" name="직사각형 147"/>
            <p:cNvSpPr/>
            <p:nvPr/>
          </p:nvSpPr>
          <p:spPr>
            <a:xfrm>
              <a:off x="2073397" y="5697288"/>
              <a:ext cx="1584000" cy="324000"/>
            </a:xfrm>
            <a:prstGeom prst="rect">
              <a:avLst/>
            </a:prstGeom>
            <a:solidFill>
              <a:srgbClr val="BB056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rgbClr val="FFFFF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예약하기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49" name="직사각형 148"/>
          <p:cNvSpPr/>
          <p:nvPr/>
        </p:nvSpPr>
        <p:spPr>
          <a:xfrm>
            <a:off x="4087931" y="5445224"/>
            <a:ext cx="32292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Banner Area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1" name="표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064053"/>
              </p:ext>
            </p:extLst>
          </p:nvPr>
        </p:nvGraphicFramePr>
        <p:xfrm>
          <a:off x="9552384" y="8546"/>
          <a:ext cx="2635809" cy="4087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CHP-MO-FND-9994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상품상세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투어 타입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일정표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상세페이지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FND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상품상세 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투어타입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일정표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)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1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티켓타입과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달리 별도의 일정 영역을 등록 된 상품 목록 출력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- 2a)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미팅일시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장소 관련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어드민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입력 값 출력</a:t>
                      </a:r>
                    </a:p>
                    <a:p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- 2b)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디폴트 펼쳐진 상태 버튼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선택시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최소화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- 2c)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투어일정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어드민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하나인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?)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에서 입력된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일정정보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노출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-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2d)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여행지정보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어드민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카드매니저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)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에서 입력된  정보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9728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하단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4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가지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탭영역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기본정보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필수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확인사항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상세정보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후기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 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컨텐츠 마지막 영역 까지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플로팅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이후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플로팅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해제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46529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하단 스크롤 이후 해제된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플로팅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버튼 영역 하단 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배너 노출 링크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altLang="ko-KR" sz="800" dirty="0">
                          <a:hlinkClick r:id="rId9"/>
                        </a:rPr>
                        <a:t>http://m.hanatour.com/competitiv/index.hnt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  <a:endParaRPr lang="ko-KR" altLang="en-US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74579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기존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AS-IS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와 정책과 동일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기존 입력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어드민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확인 필요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일정 입력 케이스 상품담당자가 텍스트로 기재한 내용으로 케이스는 별도로 정의하지 않음</a:t>
                      </a:r>
                    </a:p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출력 값 유동적이기에 에디터 형태 적용 예상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기존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일정관련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정의서 참고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279672"/>
                  </a:ext>
                </a:extLst>
              </a:tr>
            </a:tbl>
          </a:graphicData>
        </a:graphic>
      </p:graphicFrame>
      <p:sp>
        <p:nvSpPr>
          <p:cNvPr id="94" name="타원 93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2323569" y="74665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391003" y="180333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1b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904697" y="5016110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957516" y="5632722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21577" y="1297271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1a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00538" y="2361411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1c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987642" y="1227043"/>
            <a:ext cx="3512595" cy="3471977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892303" y="1147804"/>
            <a:ext cx="216000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1d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C288F4A-0C82-4E96-8A40-772E48C72AA6}"/>
              </a:ext>
            </a:extLst>
          </p:cNvPr>
          <p:cNvSpPr txBox="1"/>
          <p:nvPr/>
        </p:nvSpPr>
        <p:spPr>
          <a:xfrm>
            <a:off x="743169" y="3492297"/>
            <a:ext cx="2876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#.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미팅장소</a:t>
            </a:r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1.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우메다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(08:30)</a:t>
            </a:r>
          </a:p>
          <a:p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-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우메다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800" dirty="0" err="1">
                <a:latin typeface="나눔고딕" panose="020B0600000101010101" charset="-127"/>
                <a:ea typeface="나눔고딕" panose="020B0600000101010101" charset="-127"/>
              </a:rPr>
              <a:t>Hearton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 Hotel </a:t>
            </a:r>
            <a:r>
              <a:rPr lang="ko-KR" altLang="en-US" sz="800" dirty="0" err="1">
                <a:latin typeface="나눔고딕" panose="020B0600000101010101" charset="-127"/>
                <a:ea typeface="나눔고딕" panose="020B0600000101010101" charset="-127"/>
              </a:rPr>
              <a:t>니시우메다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800" dirty="0">
                <a:latin typeface="나눔고딕" panose="020B0600000101010101" charset="-127"/>
                <a:ea typeface="나눔고딕" panose="020B0600000101010101" charset="-127"/>
              </a:rPr>
              <a:t>층 로비</a:t>
            </a:r>
            <a:endParaRPr lang="en-US" altLang="ko-KR" sz="800" dirty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dirty="0"/>
              <a:t>* </a:t>
            </a:r>
            <a:r>
              <a:rPr lang="en-US" altLang="ko-KR" sz="800" dirty="0"/>
              <a:t>JR </a:t>
            </a:r>
            <a:r>
              <a:rPr lang="ko-KR" altLang="en-US" sz="800" dirty="0"/>
              <a:t>오사카 역 </a:t>
            </a:r>
            <a:r>
              <a:rPr lang="ko-KR" altLang="en-US" sz="800" dirty="0" err="1"/>
              <a:t>사쿠라바시</a:t>
            </a:r>
            <a:r>
              <a:rPr lang="ko-KR" altLang="en-US" sz="800" dirty="0"/>
              <a:t> 출구에서 도보 </a:t>
            </a:r>
            <a:r>
              <a:rPr lang="en-US" altLang="ko-KR" sz="800" dirty="0"/>
              <a:t>3</a:t>
            </a:r>
            <a:r>
              <a:rPr lang="ko-KR" altLang="en-US" sz="800" dirty="0"/>
              <a:t>분</a:t>
            </a:r>
            <a:endParaRPr lang="ko-KR" altLang="en-US" sz="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144" name="Placeholder"/>
          <p:cNvGrpSpPr>
            <a:grpSpLocks/>
          </p:cNvGrpSpPr>
          <p:nvPr/>
        </p:nvGrpSpPr>
        <p:grpSpPr bwMode="auto">
          <a:xfrm>
            <a:off x="796578" y="4221088"/>
            <a:ext cx="2662807" cy="930549"/>
            <a:chOff x="508000" y="1397000"/>
            <a:chExt cx="1008112" cy="1008112"/>
          </a:xfrm>
          <a:solidFill>
            <a:srgbClr val="FFFFFF"/>
          </a:solidFill>
        </p:grpSpPr>
        <p:sp>
          <p:nvSpPr>
            <p:cNvPr id="150" name="Border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1" name="Line 2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0 w 1008112"/>
                <a:gd name="connsiteY0" fmla="*/ 1008112 h 1008112"/>
                <a:gd name="connsiteX1" fmla="*/ 1008112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0" y="1008112"/>
                  </a:moveTo>
                  <a:lnTo>
                    <a:pt x="1008112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2" name="Line 1"/>
            <p:cNvSpPr>
              <a:spLocks/>
            </p:cNvSpPr>
            <p:nvPr/>
          </p:nvSpPr>
          <p:spPr bwMode="auto">
            <a:xfrm>
              <a:off x="508000" y="1397000"/>
              <a:ext cx="1008112" cy="1008112"/>
            </a:xfrm>
            <a:custGeom>
              <a:avLst/>
              <a:gdLst>
                <a:gd name="connsiteX0" fmla="*/ 1008112 w 1008112"/>
                <a:gd name="connsiteY0" fmla="*/ 1008112 h 1008112"/>
                <a:gd name="connsiteX1" fmla="*/ 0 w 1008112"/>
                <a:gd name="connsiteY1" fmla="*/ 0 h 10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8112" h="1008112">
                  <a:moveTo>
                    <a:pt x="1008112" y="1008112"/>
                  </a:moveTo>
                  <a:lnTo>
                    <a:pt x="0" y="0"/>
                  </a:lnTo>
                </a:path>
              </a:pathLst>
            </a:cu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3396602F-F891-4DE1-AEAF-1B064FEFEACF}"/>
              </a:ext>
            </a:extLst>
          </p:cNvPr>
          <p:cNvGrpSpPr/>
          <p:nvPr/>
        </p:nvGrpSpPr>
        <p:grpSpPr>
          <a:xfrm>
            <a:off x="537577" y="5232577"/>
            <a:ext cx="499361" cy="197605"/>
            <a:chOff x="4167923" y="1503203"/>
            <a:chExt cx="499361" cy="197605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8F544B-0846-4F89-98E3-FC6E299D659E}"/>
                </a:ext>
              </a:extLst>
            </p:cNvPr>
            <p:cNvSpPr txBox="1"/>
            <p:nvPr/>
          </p:nvSpPr>
          <p:spPr>
            <a:xfrm>
              <a:off x="4418818" y="1527979"/>
              <a:ext cx="248466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10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교토</a:t>
              </a:r>
            </a:p>
          </p:txBody>
        </p: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32D1747B-91B7-4ADA-80C3-F9FD296B6C51}"/>
                </a:ext>
              </a:extLst>
            </p:cNvPr>
            <p:cNvGrpSpPr/>
            <p:nvPr/>
          </p:nvGrpSpPr>
          <p:grpSpPr>
            <a:xfrm>
              <a:off x="4167923" y="1503203"/>
              <a:ext cx="184555" cy="197605"/>
              <a:chOff x="494616" y="3948296"/>
              <a:chExt cx="184555" cy="197605"/>
            </a:xfrm>
          </p:grpSpPr>
          <p:sp>
            <p:nvSpPr>
              <p:cNvPr id="156" name="Slider Thumb" descr="&lt;SmartSettings&gt;&lt;SmartResize anchorLeft=&quot;None&quot; anchorTop=&quot;Relative&quot; anchorRight=&quot;None&quot; anchorBottom=&quot;Relative&quot; /&gt;&lt;/SmartSettings&gt;">
                <a:extLst>
                  <a:ext uri="{FF2B5EF4-FFF2-40B4-BE49-F238E27FC236}">
                    <a16:creationId xmlns:a16="http://schemas.microsoft.com/office/drawing/2014/main" id="{FE12F758-05B4-4BAC-86D1-37D7CFF4F6E2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494616" y="3948296"/>
                <a:ext cx="184555" cy="197605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00" dirty="0">
                  <a:solidFill>
                    <a:srgbClr val="5F5F5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Segoe UI" panose="020B0502040204020203" pitchFamily="34" charset="0"/>
                </a:endParaRPr>
              </a:p>
            </p:txBody>
          </p:sp>
          <p:pic>
            <p:nvPicPr>
              <p:cNvPr id="157" name="그림 156">
                <a:extLst>
                  <a:ext uri="{FF2B5EF4-FFF2-40B4-BE49-F238E27FC236}">
                    <a16:creationId xmlns:a16="http://schemas.microsoft.com/office/drawing/2014/main" id="{1C922D8B-A8F9-4509-9A8F-51BA70780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308" y="3985725"/>
                <a:ext cx="140508" cy="140508"/>
              </a:xfrm>
              <a:prstGeom prst="rect">
                <a:avLst/>
              </a:prstGeom>
            </p:spPr>
          </p:pic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579A25AA-9C77-479C-B40F-0ECB92DFCCBC}"/>
              </a:ext>
            </a:extLst>
          </p:cNvPr>
          <p:cNvSpPr txBox="1"/>
          <p:nvPr/>
        </p:nvSpPr>
        <p:spPr>
          <a:xfrm>
            <a:off x="769254" y="5486775"/>
            <a:ext cx="244727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10:00~11:20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9" name="Slider Thumb" descr="&lt;SmartSettings&gt;&lt;SmartResize anchorLeft=&quot;None&quot; anchorTop=&quot;Relative&quot; anchorRight=&quot;None&quot; anchorBottom=&quot;Relative&quot; /&gt;&lt;/SmartSettings&gt;">
            <a:extLst>
              <a:ext uri="{FF2B5EF4-FFF2-40B4-BE49-F238E27FC236}">
                <a16:creationId xmlns:a16="http://schemas.microsoft.com/office/drawing/2014/main" id="{22559D22-8DF6-4E50-AF5E-82D3C96DC9B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1655" y="5494395"/>
            <a:ext cx="140510" cy="129510"/>
          </a:xfrm>
          <a:prstGeom prst="ellipse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600" dirty="0">
              <a:solidFill>
                <a:srgbClr val="5F5F5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488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07728" y="6039688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15883" y="5445288"/>
            <a:ext cx="32292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Banner Area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DE16943-93A6-4567-AB9B-5FDCCB5623AC}"/>
              </a:ext>
            </a:extLst>
          </p:cNvPr>
          <p:cNvCxnSpPr/>
          <p:nvPr/>
        </p:nvCxnSpPr>
        <p:spPr>
          <a:xfrm>
            <a:off x="426561" y="888726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687087"/>
              </p:ext>
            </p:extLst>
          </p:nvPr>
        </p:nvGraphicFramePr>
        <p:xfrm>
          <a:off x="417037" y="908720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80413062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후기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2835083" y="1169984"/>
            <a:ext cx="81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424294" y="908720"/>
            <a:ext cx="323274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/>
        </p:nvGrpSpPr>
        <p:grpSpPr>
          <a:xfrm>
            <a:off x="1309264" y="1288507"/>
            <a:ext cx="1796922" cy="338554"/>
            <a:chOff x="1287347" y="1378329"/>
            <a:chExt cx="1796922" cy="338554"/>
          </a:xfrm>
        </p:grpSpPr>
        <p:sp>
          <p:nvSpPr>
            <p:cNvPr id="17" name="TextBox 16"/>
            <p:cNvSpPr txBox="1"/>
            <p:nvPr/>
          </p:nvSpPr>
          <p:spPr>
            <a:xfrm>
              <a:off x="2013433" y="1378329"/>
              <a:ext cx="1070836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6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8.0</a:t>
              </a:r>
              <a:r>
                <a:rPr lang="en-US" altLang="ko-KR" sz="11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 10</a:t>
              </a:r>
              <a:endPara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" name="포인트가 5개인 별 17"/>
            <p:cNvSpPr/>
            <p:nvPr/>
          </p:nvSpPr>
          <p:spPr>
            <a:xfrm>
              <a:off x="1287347" y="1484769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" name="포인트가 5개인 별 18"/>
            <p:cNvSpPr/>
            <p:nvPr/>
          </p:nvSpPr>
          <p:spPr>
            <a:xfrm>
              <a:off x="1424117" y="1488684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" name="포인트가 5개인 별 19"/>
            <p:cNvSpPr/>
            <p:nvPr/>
          </p:nvSpPr>
          <p:spPr>
            <a:xfrm>
              <a:off x="1560887" y="1484784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" name="포인트가 5개인 별 20"/>
            <p:cNvSpPr/>
            <p:nvPr/>
          </p:nvSpPr>
          <p:spPr>
            <a:xfrm>
              <a:off x="1719395" y="1484784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" name="포인트가 5개인 별 21"/>
            <p:cNvSpPr/>
            <p:nvPr/>
          </p:nvSpPr>
          <p:spPr>
            <a:xfrm>
              <a:off x="1863427" y="1488668"/>
              <a:ext cx="144000" cy="144000"/>
            </a:xfrm>
            <a:prstGeom prst="star5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5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1765590" y="1565223"/>
            <a:ext cx="682918" cy="214848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(11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명 참여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)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481344" y="1823882"/>
            <a:ext cx="3104380" cy="1701770"/>
            <a:chOff x="481344" y="2117641"/>
            <a:chExt cx="3104380" cy="1701770"/>
          </a:xfrm>
        </p:grpSpPr>
        <p:sp>
          <p:nvSpPr>
            <p:cNvPr id="27" name="직사각형 26"/>
            <p:cNvSpPr/>
            <p:nvPr/>
          </p:nvSpPr>
          <p:spPr>
            <a:xfrm>
              <a:off x="481688" y="2379411"/>
              <a:ext cx="3096000" cy="144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28" name="포인트가 5개인 별 27"/>
            <p:cNvSpPr/>
            <p:nvPr/>
          </p:nvSpPr>
          <p:spPr>
            <a:xfrm>
              <a:off x="561731" y="2453301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" name="포인트가 5개인 별 28"/>
            <p:cNvSpPr/>
            <p:nvPr/>
          </p:nvSpPr>
          <p:spPr>
            <a:xfrm>
              <a:off x="698501" y="2457216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포인트가 5개인 별 29"/>
            <p:cNvSpPr/>
            <p:nvPr/>
          </p:nvSpPr>
          <p:spPr>
            <a:xfrm>
              <a:off x="835271" y="2453316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" name="포인트가 5개인 별 30"/>
            <p:cNvSpPr/>
            <p:nvPr/>
          </p:nvSpPr>
          <p:spPr>
            <a:xfrm>
              <a:off x="993779" y="2453316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2" name="포인트가 5개인 별 31"/>
            <p:cNvSpPr/>
            <p:nvPr/>
          </p:nvSpPr>
          <p:spPr>
            <a:xfrm>
              <a:off x="1137811" y="2457200"/>
              <a:ext cx="144000" cy="144000"/>
            </a:xfrm>
            <a:prstGeom prst="star5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9724" y="2664513"/>
              <a:ext cx="3096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2019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년 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월 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일날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일가족 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명이서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다녀왔어요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!</a:t>
              </a:r>
              <a:b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저희 가족은 자유여행자체가 처음이라 워킹가이드를 신청했어요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~ 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가이드님이 호텔에서부터 데리러 오시더라고요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! 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그리고 안전하게 교토까지 지하철로 </a:t>
              </a:r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안내해주셨어요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81344" y="3537320"/>
              <a:ext cx="259228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김 </a:t>
              </a:r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* * </a:t>
              </a:r>
              <a:r>
                <a:rPr lang="ko-KR" altLang="en-US" sz="8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ㅣ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남성 </a:t>
              </a:r>
              <a:r>
                <a:rPr lang="ko-KR" altLang="en-US" sz="8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ㅣ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대 </a:t>
              </a:r>
              <a:r>
                <a:rPr lang="ko-KR" altLang="en-US" sz="8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ㅣ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출장 및 비즈니스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066786" y="2385192"/>
              <a:ext cx="15109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2018.02.01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553352" y="3299179"/>
              <a:ext cx="585311" cy="180000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18000" rIns="36000" bIns="18000" rtlCol="0" anchor="ctr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#</a:t>
              </a:r>
              <a:r>
                <a:rPr lang="ko-KR" altLang="en-US" sz="800" noProof="0" dirty="0">
                  <a:solidFill>
                    <a:schemeClr val="bg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깔끔해요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" name="모서리가 둥근 직사각형 36"/>
            <p:cNvSpPr/>
            <p:nvPr/>
          </p:nvSpPr>
          <p:spPr>
            <a:xfrm>
              <a:off x="1201424" y="3300632"/>
              <a:ext cx="894022" cy="180000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18000" rIns="36000" bIns="18000" rtlCol="0" anchor="ctr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#</a:t>
              </a:r>
              <a:r>
                <a:rPr lang="ko-KR" altLang="en-US" sz="800" noProof="0" dirty="0">
                  <a:solidFill>
                    <a:schemeClr val="bg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가성비가 좋아요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81344" y="2117641"/>
              <a:ext cx="309600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제목명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 rot="5400000">
              <a:off x="3244070" y="2117641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483160" y="3645024"/>
            <a:ext cx="3104380" cy="1701770"/>
            <a:chOff x="481344" y="2117641"/>
            <a:chExt cx="3104380" cy="1701770"/>
          </a:xfrm>
        </p:grpSpPr>
        <p:sp>
          <p:nvSpPr>
            <p:cNvPr id="60" name="직사각형 59"/>
            <p:cNvSpPr/>
            <p:nvPr/>
          </p:nvSpPr>
          <p:spPr>
            <a:xfrm>
              <a:off x="481688" y="2379411"/>
              <a:ext cx="3096000" cy="1440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61" name="포인트가 5개인 별 60"/>
            <p:cNvSpPr/>
            <p:nvPr/>
          </p:nvSpPr>
          <p:spPr>
            <a:xfrm>
              <a:off x="561731" y="2453301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포인트가 5개인 별 61"/>
            <p:cNvSpPr/>
            <p:nvPr/>
          </p:nvSpPr>
          <p:spPr>
            <a:xfrm>
              <a:off x="698501" y="2457216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포인트가 5개인 별 62"/>
            <p:cNvSpPr/>
            <p:nvPr/>
          </p:nvSpPr>
          <p:spPr>
            <a:xfrm>
              <a:off x="835271" y="2453316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4" name="포인트가 5개인 별 63"/>
            <p:cNvSpPr/>
            <p:nvPr/>
          </p:nvSpPr>
          <p:spPr>
            <a:xfrm>
              <a:off x="993779" y="2453316"/>
              <a:ext cx="144000" cy="144000"/>
            </a:xfrm>
            <a:prstGeom prst="star5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" name="포인트가 5개인 별 64"/>
            <p:cNvSpPr/>
            <p:nvPr/>
          </p:nvSpPr>
          <p:spPr>
            <a:xfrm>
              <a:off x="1137811" y="2457200"/>
              <a:ext cx="144000" cy="144000"/>
            </a:xfrm>
            <a:prstGeom prst="star5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89724" y="2664513"/>
              <a:ext cx="3096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2019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년 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월 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일날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일가족 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명이서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다녀왔어요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!</a:t>
              </a:r>
              <a:b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저희 가족은 자유여행자체가 처음이라 워킹가이드를 신청했어요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~ 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가이드님이 호텔에서부터 데리러 오시더라고요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! </a:t>
              </a:r>
              <a:r>
                <a:rPr lang="ko-KR" altLang="en-US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그리고 안전하게 교토까지 지하철로 </a:t>
              </a:r>
              <a:r>
                <a:rPr lang="ko-KR" altLang="en-US" sz="800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안내해주셨어요</a:t>
              </a:r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81344" y="3537320"/>
              <a:ext cx="259228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김 </a:t>
              </a:r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* * </a:t>
              </a:r>
              <a:r>
                <a:rPr lang="ko-KR" altLang="en-US" sz="8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ㅣ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남성 </a:t>
              </a:r>
              <a:r>
                <a:rPr lang="ko-KR" altLang="en-US" sz="8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ㅣ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대 </a:t>
              </a:r>
              <a:r>
                <a:rPr lang="ko-KR" altLang="en-US" sz="8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ㅣ</a:t>
              </a:r>
              <a:r>
                <a:rPr lang="ko-KR" altLang="en-US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출장 및 비즈니스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066786" y="2385192"/>
              <a:ext cx="15109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2018.02.01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9" name="모서리가 둥근 직사각형 68"/>
            <p:cNvSpPr/>
            <p:nvPr/>
          </p:nvSpPr>
          <p:spPr>
            <a:xfrm>
              <a:off x="553352" y="3299179"/>
              <a:ext cx="585311" cy="180000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18000" rIns="36000" bIns="18000" rtlCol="0" anchor="ctr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#</a:t>
              </a:r>
              <a:r>
                <a:rPr lang="ko-KR" altLang="en-US" sz="800" noProof="0" dirty="0">
                  <a:solidFill>
                    <a:schemeClr val="bg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깔끔해요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0" name="모서리가 둥근 직사각형 69"/>
            <p:cNvSpPr/>
            <p:nvPr/>
          </p:nvSpPr>
          <p:spPr>
            <a:xfrm>
              <a:off x="1201424" y="3300632"/>
              <a:ext cx="894022" cy="180000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18000" rIns="36000" bIns="18000" rtlCol="0" anchor="ctr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#</a:t>
              </a:r>
              <a:r>
                <a:rPr lang="ko-KR" altLang="en-US" sz="800" noProof="0" dirty="0">
                  <a:solidFill>
                    <a:schemeClr val="bg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가성비가 좋아요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481344" y="2117641"/>
              <a:ext cx="3096000" cy="25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제목명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 rot="5400000">
              <a:off x="3244070" y="2117641"/>
              <a:ext cx="2616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1" name="물결 90"/>
          <p:cNvSpPr/>
          <p:nvPr/>
        </p:nvSpPr>
        <p:spPr>
          <a:xfrm>
            <a:off x="479376" y="620325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  <p:sp>
        <p:nvSpPr>
          <p:cNvPr id="92" name="물결 91"/>
          <p:cNvSpPr/>
          <p:nvPr/>
        </p:nvSpPr>
        <p:spPr>
          <a:xfrm>
            <a:off x="4151784" y="628326"/>
            <a:ext cx="3096000" cy="144379"/>
          </a:xfrm>
          <a:prstGeom prst="wav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위에서 계속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4082083" y="6043456"/>
            <a:ext cx="3240000" cy="265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공통기능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4090238" y="5449056"/>
            <a:ext cx="3229200" cy="5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Banner Area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5DE16943-93A6-4567-AB9B-5FDCCB5623AC}"/>
              </a:ext>
            </a:extLst>
          </p:cNvPr>
          <p:cNvCxnSpPr/>
          <p:nvPr/>
        </p:nvCxnSpPr>
        <p:spPr>
          <a:xfrm>
            <a:off x="4100916" y="892494"/>
            <a:ext cx="32403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6" name="표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923168"/>
              </p:ext>
            </p:extLst>
          </p:nvPr>
        </p:nvGraphicFramePr>
        <p:xfrm>
          <a:off x="4091392" y="912488"/>
          <a:ext cx="3240000" cy="29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3280413062"/>
                    </a:ext>
                  </a:extLst>
                </a:gridCol>
              </a:tblGrid>
              <a:tr h="297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필수 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확인사항</a:t>
                      </a:r>
                      <a:endParaRPr lang="en-US" altLang="ko-KR" sz="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상세정보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후기</a:t>
                      </a:r>
                    </a:p>
                  </a:txBody>
                  <a:tcPr marL="84406" marR="844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" name="직사각형 96"/>
          <p:cNvSpPr/>
          <p:nvPr/>
        </p:nvSpPr>
        <p:spPr>
          <a:xfrm>
            <a:off x="6509438" y="1173752"/>
            <a:ext cx="810000" cy="36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4098649" y="912488"/>
            <a:ext cx="323274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그룹 98"/>
          <p:cNvGrpSpPr/>
          <p:nvPr/>
        </p:nvGrpSpPr>
        <p:grpSpPr>
          <a:xfrm>
            <a:off x="4983619" y="1292275"/>
            <a:ext cx="1796922" cy="338554"/>
            <a:chOff x="1287347" y="1378329"/>
            <a:chExt cx="1796922" cy="338554"/>
          </a:xfrm>
        </p:grpSpPr>
        <p:sp>
          <p:nvSpPr>
            <p:cNvPr id="100" name="TextBox 99"/>
            <p:cNvSpPr txBox="1"/>
            <p:nvPr/>
          </p:nvSpPr>
          <p:spPr>
            <a:xfrm>
              <a:off x="2013433" y="1378329"/>
              <a:ext cx="1070836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6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8.0</a:t>
              </a:r>
              <a:r>
                <a:rPr lang="en-US" altLang="ko-KR" sz="1100" b="1" dirty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 10</a:t>
              </a:r>
              <a:endPara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포인트가 5개인 별 100"/>
            <p:cNvSpPr/>
            <p:nvPr/>
          </p:nvSpPr>
          <p:spPr>
            <a:xfrm>
              <a:off x="1287347" y="1484769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포인트가 5개인 별 101"/>
            <p:cNvSpPr/>
            <p:nvPr/>
          </p:nvSpPr>
          <p:spPr>
            <a:xfrm>
              <a:off x="1424117" y="1488684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3" name="포인트가 5개인 별 102"/>
            <p:cNvSpPr/>
            <p:nvPr/>
          </p:nvSpPr>
          <p:spPr>
            <a:xfrm>
              <a:off x="1560887" y="1484784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4" name="포인트가 5개인 별 103"/>
            <p:cNvSpPr/>
            <p:nvPr/>
          </p:nvSpPr>
          <p:spPr>
            <a:xfrm>
              <a:off x="1719395" y="1484784"/>
              <a:ext cx="144000" cy="144000"/>
            </a:xfrm>
            <a:prstGeom prst="star5">
              <a:avLst/>
            </a:prstGeom>
            <a:solidFill>
              <a:srgbClr val="C00000"/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5" name="포인트가 5개인 별 104"/>
            <p:cNvSpPr/>
            <p:nvPr/>
          </p:nvSpPr>
          <p:spPr>
            <a:xfrm>
              <a:off x="1863427" y="1488668"/>
              <a:ext cx="144000" cy="144000"/>
            </a:xfrm>
            <a:prstGeom prst="star5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06" name="Tab Selected" descr="&lt;SmartSettings&gt;&lt;SmartResize anchorLeft=&quot;Absolute&quot; anchorTop=&quot;Absolute&quot; anchorRight=&quot;None&quot; anchorBottom=&quot;Absolute&quot; /&gt;&lt;/SmartSettings&gt;">
            <a:extLst>
              <a:ext uri="{FF2B5EF4-FFF2-40B4-BE49-F238E27FC236}">
                <a16:creationId xmlns:a16="http://schemas.microsoft.com/office/drawing/2014/main" id="{4DB3AC77-3A70-4DC9-BCE0-2F963590EC84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439945" y="1568991"/>
            <a:ext cx="682918" cy="214848"/>
          </a:xfrm>
          <a:custGeom>
            <a:avLst/>
            <a:gdLst>
              <a:gd name="T0" fmla="*/ 0 w 2218"/>
              <a:gd name="T1" fmla="*/ 670 h 670"/>
              <a:gd name="T2" fmla="*/ 0 w 2218"/>
              <a:gd name="T3" fmla="*/ 0 h 670"/>
              <a:gd name="T4" fmla="*/ 2218 w 2218"/>
              <a:gd name="T5" fmla="*/ 0 h 670"/>
              <a:gd name="T6" fmla="*/ 2218 w 2218"/>
              <a:gd name="T7" fmla="*/ 670 h 6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18" h="670">
                <a:moveTo>
                  <a:pt x="0" y="670"/>
                </a:moveTo>
                <a:lnTo>
                  <a:pt x="0" y="0"/>
                </a:lnTo>
                <a:lnTo>
                  <a:pt x="2218" y="0"/>
                </a:lnTo>
                <a:lnTo>
                  <a:pt x="2218" y="670"/>
                </a:lnTo>
              </a:path>
            </a:pathLst>
          </a:custGeom>
          <a:noFill/>
          <a:ln>
            <a:noFill/>
          </a:ln>
        </p:spPr>
        <p:txBody>
          <a:bodyPr wrap="square" lIns="0" tIns="40853" rIns="0" bIns="40853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(11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명 참여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)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4157572" y="2085652"/>
            <a:ext cx="3096000" cy="2376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36" name="포인트가 5개인 별 135"/>
          <p:cNvSpPr/>
          <p:nvPr/>
        </p:nvSpPr>
        <p:spPr>
          <a:xfrm>
            <a:off x="4237615" y="2159542"/>
            <a:ext cx="144000" cy="144000"/>
          </a:xfrm>
          <a:prstGeom prst="star5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7" name="포인트가 5개인 별 136"/>
          <p:cNvSpPr/>
          <p:nvPr/>
        </p:nvSpPr>
        <p:spPr>
          <a:xfrm>
            <a:off x="4374385" y="2163457"/>
            <a:ext cx="144000" cy="144000"/>
          </a:xfrm>
          <a:prstGeom prst="star5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8" name="포인트가 5개인 별 137"/>
          <p:cNvSpPr/>
          <p:nvPr/>
        </p:nvSpPr>
        <p:spPr>
          <a:xfrm>
            <a:off x="4511155" y="2159557"/>
            <a:ext cx="144000" cy="144000"/>
          </a:xfrm>
          <a:prstGeom prst="star5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9" name="포인트가 5개인 별 138"/>
          <p:cNvSpPr/>
          <p:nvPr/>
        </p:nvSpPr>
        <p:spPr>
          <a:xfrm>
            <a:off x="4669663" y="2159557"/>
            <a:ext cx="144000" cy="144000"/>
          </a:xfrm>
          <a:prstGeom prst="star5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0" name="포인트가 5개인 별 139"/>
          <p:cNvSpPr/>
          <p:nvPr/>
        </p:nvSpPr>
        <p:spPr>
          <a:xfrm>
            <a:off x="4813695" y="2163441"/>
            <a:ext cx="144000" cy="144000"/>
          </a:xfrm>
          <a:prstGeom prst="star5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4165608" y="3309628"/>
            <a:ext cx="3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2019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일날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일가족 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명이서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다녀왔어요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!</a:t>
            </a:r>
            <a:b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저희 가족은 자유여행자체가 처음이라 워킹가이드를 신청했어요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~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가이드님이 호텔에서부터 데리러 오시더라고요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! 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그리고 안전하게 교토까지 지하철로 </a:t>
            </a:r>
            <a:r>
              <a:rPr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안내해주셨어요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157228" y="4182435"/>
            <a:ext cx="25922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김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* * </a:t>
            </a:r>
            <a:r>
              <a:rPr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ㅣ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남성 </a:t>
            </a:r>
            <a:r>
              <a:rPr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ㅣ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 </a:t>
            </a:r>
            <a:r>
              <a:rPr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ㅣ</a:t>
            </a:r>
            <a:r>
              <a: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출장 및 비즈니스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742670" y="2091433"/>
            <a:ext cx="1510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2018.02.01</a:t>
            </a:r>
            <a:endParaRPr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4" name="모서리가 둥근 직사각형 143"/>
          <p:cNvSpPr/>
          <p:nvPr/>
        </p:nvSpPr>
        <p:spPr>
          <a:xfrm>
            <a:off x="4229236" y="3944294"/>
            <a:ext cx="585311" cy="18000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18000" rIns="36000" bIns="18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ko-KR" altLang="en-US" sz="800" noProof="0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깔끔해요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877308" y="3945747"/>
            <a:ext cx="894022" cy="18000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18000" rIns="36000" bIns="18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ko-KR" altLang="en-US" sz="800" noProof="0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가성비가 좋아요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4157228" y="1823882"/>
            <a:ext cx="3096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제목명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47" name="TextBox 146"/>
          <p:cNvSpPr txBox="1"/>
          <p:nvPr/>
        </p:nvSpPr>
        <p:spPr>
          <a:xfrm rot="5400000">
            <a:off x="6919954" y="1823882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8" name="직사각형 147"/>
          <p:cNvSpPr/>
          <p:nvPr/>
        </p:nvSpPr>
        <p:spPr>
          <a:xfrm>
            <a:off x="4165608" y="2478360"/>
            <a:ext cx="3087620" cy="6507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kumimoji="0" lang="ko-KR" altLang="en-US" sz="1000" b="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9" name="타원 148"/>
          <p:cNvSpPr/>
          <p:nvPr/>
        </p:nvSpPr>
        <p:spPr>
          <a:xfrm>
            <a:off x="5560708" y="3192042"/>
            <a:ext cx="72000" cy="72000"/>
          </a:xfrm>
          <a:prstGeom prst="ellipse">
            <a:avLst/>
          </a:prstGeom>
          <a:solidFill>
            <a:srgbClr val="BB0560"/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0" name="타원 149"/>
          <p:cNvSpPr/>
          <p:nvPr/>
        </p:nvSpPr>
        <p:spPr>
          <a:xfrm>
            <a:off x="5713108" y="3190539"/>
            <a:ext cx="72000" cy="72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1" name="타원 150"/>
          <p:cNvSpPr/>
          <p:nvPr/>
        </p:nvSpPr>
        <p:spPr>
          <a:xfrm>
            <a:off x="5865508" y="3189032"/>
            <a:ext cx="72000" cy="72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95245" y="193638"/>
            <a:ext cx="37868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100" dirty="0" err="1">
                <a:latin typeface="나눔고딕" panose="020B0600000101010101" charset="-127"/>
                <a:ea typeface="나눔고딕" panose="020B0600000101010101" charset="-127"/>
              </a:rPr>
              <a:t>후기탭</a:t>
            </a:r>
            <a:r>
              <a:rPr lang="ko-KR" altLang="en-US" sz="11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100" dirty="0" err="1">
                <a:latin typeface="나눔고딕" panose="020B0600000101010101" charset="-127"/>
                <a:ea typeface="나눔고딕" panose="020B0600000101010101" charset="-127"/>
              </a:rPr>
              <a:t>선택시</a:t>
            </a:r>
            <a:r>
              <a:rPr lang="en-US" altLang="ko-KR" sz="11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1100" dirty="0">
                <a:latin typeface="나눔고딕" panose="020B0600000101010101" charset="-127"/>
                <a:ea typeface="나눔고딕" panose="020B0600000101010101" charset="-127"/>
              </a:rPr>
              <a:t> 이미지가 없는 스타일</a:t>
            </a:r>
            <a:r>
              <a:rPr lang="en-US" altLang="ko-KR" sz="1100" dirty="0">
                <a:latin typeface="나눔고딕" panose="020B0600000101010101" charset="-127"/>
                <a:ea typeface="나눔고딕" panose="020B0600000101010101" charset="-127"/>
              </a:rPr>
              <a:t>-</a:t>
            </a:r>
            <a:r>
              <a:rPr lang="ko-KR" altLang="en-US" sz="1100" dirty="0" err="1">
                <a:latin typeface="나눔고딕" panose="020B0600000101010101" charset="-127"/>
                <a:ea typeface="나눔고딕" panose="020B0600000101010101" charset="-127"/>
              </a:rPr>
              <a:t>티켓타입과</a:t>
            </a:r>
            <a:r>
              <a:rPr lang="ko-KR" altLang="en-US" sz="1100" dirty="0">
                <a:latin typeface="나눔고딕" panose="020B0600000101010101" charset="-127"/>
                <a:ea typeface="나눔고딕" panose="020B0600000101010101" charset="-127"/>
              </a:rPr>
              <a:t> 동일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985874" y="199441"/>
            <a:ext cx="36550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100" dirty="0" err="1">
                <a:latin typeface="나눔고딕" panose="020B0600000101010101" charset="-127"/>
                <a:ea typeface="나눔고딕" panose="020B0600000101010101" charset="-127"/>
              </a:rPr>
              <a:t>후기탭</a:t>
            </a:r>
            <a:r>
              <a:rPr lang="ko-KR" altLang="en-US" sz="11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100" dirty="0" err="1">
                <a:latin typeface="나눔고딕" panose="020B0600000101010101" charset="-127"/>
                <a:ea typeface="나눔고딕" panose="020B0600000101010101" charset="-127"/>
              </a:rPr>
              <a:t>선택시</a:t>
            </a:r>
            <a:r>
              <a:rPr lang="en-US" altLang="ko-KR" sz="1100" dirty="0">
                <a:latin typeface="나눔고딕" panose="020B0600000101010101" charset="-127"/>
                <a:ea typeface="나눔고딕" panose="020B0600000101010101" charset="-127"/>
              </a:rPr>
              <a:t>) </a:t>
            </a:r>
            <a:r>
              <a:rPr lang="ko-KR" altLang="en-US" sz="1100" dirty="0">
                <a:latin typeface="나눔고딕" panose="020B0600000101010101" charset="-127"/>
                <a:ea typeface="나눔고딕" panose="020B0600000101010101" charset="-127"/>
              </a:rPr>
              <a:t>이미지가 있는 스타일</a:t>
            </a:r>
            <a:r>
              <a:rPr lang="en-US" altLang="ko-KR" sz="1100" dirty="0">
                <a:latin typeface="나눔고딕" panose="020B0600000101010101" charset="-127"/>
                <a:ea typeface="나눔고딕" panose="020B0600000101010101" charset="-127"/>
              </a:rPr>
              <a:t>-</a:t>
            </a:r>
            <a:r>
              <a:rPr lang="ko-KR" altLang="en-US" sz="1100" dirty="0" err="1">
                <a:latin typeface="나눔고딕" panose="020B0600000101010101" charset="-127"/>
                <a:ea typeface="나눔고딕" panose="020B0600000101010101" charset="-127"/>
              </a:rPr>
              <a:t>티켓타입과</a:t>
            </a:r>
            <a:r>
              <a:rPr lang="ko-KR" altLang="en-US" sz="1100" dirty="0">
                <a:latin typeface="나눔고딕" panose="020B0600000101010101" charset="-127"/>
                <a:ea typeface="나눔고딕" panose="020B0600000101010101" charset="-127"/>
              </a:rPr>
              <a:t> 동일</a:t>
            </a:r>
          </a:p>
          <a:p>
            <a:endParaRPr lang="ko-KR" altLang="en-US" sz="11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974814"/>
              </p:ext>
            </p:extLst>
          </p:nvPr>
        </p:nvGraphicFramePr>
        <p:xfrm>
          <a:off x="9552384" y="8546"/>
          <a:ext cx="2635809" cy="3192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41">
                  <a:extLst>
                    <a:ext uri="{9D8B030D-6E8A-4147-A177-3AD203B41FA5}">
                      <a16:colId xmlns:a16="http://schemas.microsoft.com/office/drawing/2014/main" val="205866665"/>
                    </a:ext>
                  </a:extLst>
                </a:gridCol>
                <a:gridCol w="1812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CHP-MO-FND-9994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화면명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FND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상품상세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–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티켓 타입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화면유형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후기탭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요구사항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별도로 없음</a:t>
                      </a: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70222"/>
                  </a:ext>
                </a:extLst>
              </a:tr>
              <a:tr h="19367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장명환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 gridSpan="3">
                  <a:txBody>
                    <a:bodyPr/>
                    <a:lstStyle/>
                    <a:p>
                      <a:pPr marL="0" marR="0" lvl="0" indent="0" algn="ctr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Description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166479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개요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Tahoma" pitchFamily="34" charset="0"/>
                      </a:endParaRPr>
                    </a:p>
                  </a:txBody>
                  <a:tcPr marL="43279" marR="43279" marT="38075" marB="38075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FND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상품상세 </a:t>
                      </a: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티켓타입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페이지 정의</a:t>
                      </a: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7936" marR="47936" marT="35885" marB="3588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78491"/>
                  </a:ext>
                </a:extLst>
              </a:tr>
              <a:tr h="1936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후기 평점 전체 기준 평균값으로 노출 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후기 값이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없을경우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- 3a)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별정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개 모두 채워 놓음</a:t>
                      </a: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- 3b) “0”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점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표기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ahoma" pitchFamily="34" charset="0"/>
                      </a:endParaRPr>
                    </a:p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- 3c)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0”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명 참여 표기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6214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 4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후기 영역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기본적값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열린상태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리뷰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토글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버튼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클릭시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영역 최소화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97288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이미지가 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개 이상일 경우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페이징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영역 노출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254206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해제된 </a:t>
                      </a: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플로팅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버튼 영역 하단 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배너 노출 링크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altLang="ko-KR" sz="800" dirty="0">
                          <a:hlinkClick r:id="rId4"/>
                        </a:rPr>
                        <a:t>http://m.hanatour.com/competitiv/index.hnt</a:t>
                      </a:r>
                      <a:r>
                        <a:rPr lang="en-US" altLang="ko-KR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  <a:endParaRPr lang="ko-KR" altLang="en-US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4941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Tahoma" pitchFamily="34" charset="0"/>
                        </a:rPr>
                        <a:t>ETC</a:t>
                      </a:r>
                    </a:p>
                  </a:txBody>
                  <a:tcPr marL="43279" marR="43279" marT="38075" marB="38075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나눔고딕" panose="020B0600000101010101" charset="-127"/>
                          <a:ea typeface="나눔고딕" panose="020B0600000101010101" charset="-127"/>
                        </a:rPr>
                        <a:t>티켓타입과</a:t>
                      </a:r>
                      <a:r>
                        <a:rPr lang="ko-KR" altLang="en-US" sz="800" dirty="0">
                          <a:latin typeface="나눔고딕" panose="020B0600000101010101" charset="-127"/>
                          <a:ea typeface="나눔고딕" panose="020B0600000101010101" charset="-127"/>
                        </a:rPr>
                        <a:t> 동일 형태</a:t>
                      </a:r>
                      <a:endParaRPr lang="en-US" altLang="ko-KR" sz="800" dirty="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47985" marR="47985" marT="36013" marB="36013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575606"/>
                  </a:ext>
                </a:extLst>
              </a:tr>
            </a:tbl>
          </a:graphicData>
        </a:graphic>
      </p:graphicFrame>
      <p:sp>
        <p:nvSpPr>
          <p:cNvPr id="82" name="타원 81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139786" y="772705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1629232" y="1166887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3a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2232157" y="1173647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3b 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1566035" y="1567233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3c 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3259841" y="1666635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5612811" y="2351121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079ABC7C-7645-4624-8FA7-A76B4DAFDA86}"/>
              </a:ext>
            </a:extLst>
          </p:cNvPr>
          <p:cNvSpPr/>
          <p:nvPr/>
        </p:nvSpPr>
        <p:spPr>
          <a:xfrm>
            <a:off x="5648811" y="5346794"/>
            <a:ext cx="200594" cy="21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407712" y="5049184"/>
            <a:ext cx="3240016" cy="324032"/>
            <a:chOff x="417381" y="5697256"/>
            <a:chExt cx="3240016" cy="324032"/>
          </a:xfrm>
        </p:grpSpPr>
        <p:sp>
          <p:nvSpPr>
            <p:cNvPr id="90" name="직사각형 89"/>
            <p:cNvSpPr/>
            <p:nvPr/>
          </p:nvSpPr>
          <p:spPr>
            <a:xfrm>
              <a:off x="417381" y="5697256"/>
              <a:ext cx="1584000" cy="32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장바구니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2073397" y="5697288"/>
              <a:ext cx="1584000" cy="324000"/>
            </a:xfrm>
            <a:prstGeom prst="rect">
              <a:avLst/>
            </a:prstGeom>
            <a:solidFill>
              <a:srgbClr val="BB056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rgbClr val="FFFFF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예약하기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4093100" y="5043553"/>
            <a:ext cx="3240016" cy="324032"/>
            <a:chOff x="417381" y="5697256"/>
            <a:chExt cx="3240016" cy="324032"/>
          </a:xfrm>
        </p:grpSpPr>
        <p:sp>
          <p:nvSpPr>
            <p:cNvPr id="110" name="직사각형 109"/>
            <p:cNvSpPr/>
            <p:nvPr/>
          </p:nvSpPr>
          <p:spPr>
            <a:xfrm>
              <a:off x="417381" y="5697256"/>
              <a:ext cx="1584000" cy="32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장바구니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2073397" y="5697288"/>
              <a:ext cx="1584000" cy="324000"/>
            </a:xfrm>
            <a:prstGeom prst="rect">
              <a:avLst/>
            </a:prstGeom>
            <a:solidFill>
              <a:srgbClr val="BB0560"/>
            </a:solidFill>
            <a:ln w="3175">
              <a:noFill/>
            </a:ln>
            <a:effectLst/>
          </p:spPr>
          <p:style>
            <a:lnRef idx="1">
              <a:schemeClr val="accen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solidFill>
                    <a:srgbClr val="FFFFF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예약하기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9199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3zhnab9P9mWiZjOTWirIJD2BR4PQljCjaJh/3BDUJw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3zhnab9P9mWiZjOTWirIJD2BR4PQljCjaJh/3BDUJw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3zhnab9P9mWiZjOTWirIJD2BR4PQljCjaJh/3BDUJw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3zhnab9P9mWiZjOTWirIJD2BR4PQljCjaJh/3BDUJw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3zhnab9P9mWiZjOTWirIJD2BR4PQljCjaJh/3BDUJw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3zhnab9P9mWiZjOTWirIJD2BR4PQljCjaJh/3BDUJw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qrgBSaGW9H5XhBk6FvsoHeHKR7KZlzlqN8OQDH8Ex1U="/>
</p:tagLst>
</file>

<file path=ppt/theme/theme1.xml><?xml version="1.0" encoding="utf-8"?>
<a:theme xmlns:a="http://schemas.openxmlformats.org/drawingml/2006/main" name="1_WEB용 레이아웃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23415</TotalTime>
  <Words>3860</Words>
  <Application>Microsoft Office PowerPoint</Application>
  <PresentationFormat>와이드스크린</PresentationFormat>
  <Paragraphs>1127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맑은 고딕</vt:lpstr>
      <vt:lpstr>나눔고딕</vt:lpstr>
      <vt:lpstr>굴림</vt:lpstr>
      <vt:lpstr>1_WEB용 레이아웃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INPIX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임지수</dc:creator>
  <cp:lastModifiedBy>User</cp:lastModifiedBy>
  <cp:revision>1023</cp:revision>
  <dcterms:created xsi:type="dcterms:W3CDTF">2011-05-17T16:00:19Z</dcterms:created>
  <dcterms:modified xsi:type="dcterms:W3CDTF">2019-09-24T04:00:18Z</dcterms:modified>
</cp:coreProperties>
</file>